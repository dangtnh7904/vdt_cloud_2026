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413" y="3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9636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phạm vi báo cáo gồm nền tảng nghiên cứu, thử nghiệm đã thực hiện, quy trình nâng toàn cluster, PA1 trong pha OSD và thiết kế H0 để kiểm chứng dữ liệu tại các thời điểm cụ thể.</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Giải thích kết quả hiện tại mới tạo nền tảng cho quy trình nâng cấp. Một OSD đã nâng chưa đại diện cho toàn cluster. Các tính năng H0 và bộ chọn scope canary cần được phát triển, kiểm thử và nghiệm thu riêng.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Trình bày nhu cầu xây dựng quy trình nâng có kiểm chứng cho hệ thống lớn và phiên bản đang sử dụng. Dung lượng backup khoảng 100 TB đã trao đổi chỉ bao phủ một phần dữ liệu, nên phải chọn dữ liệu ưu tiên và kiểm thử restore.</a:t>
            </a:r>
          </a:p>
          <a:p>
            <a:endParaRPr/>
          </a:p>
          <a:p>
            <a:r>
              <a:t>Mục tiêu tiến độ khoảng sáu tháng cần được đánh giá từ tốc độ migration và tài nguyên thực đo. PA1 có thể nghiên cứu thực hiện theo nhóm OSD, nhưng phải kiểm tra an toàn của cả nhóm và ngân sách tài nguyên.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Phân biệt patch/major là loại thay đổi phiên bản, còn rolling/chia đợt là cách tổ chức thực hiện.</a:t>
            </a:r>
          </a:p>
          <a:p>
            <a:endParaRPr/>
          </a:p>
          <a:p>
            <a:r>
              <a:t>Mỗi chặng bao gồm các daemon thuộc inventory và các kiểm tra riêng của release. Không mô tả việc đưa riêng một OSD xuyên nhiều major khi cluster chưa hoàn tất chặng trước.</a:t>
            </a:r>
          </a:p>
          <a:p>
            <a:endParaRPr/>
          </a:p>
          <a:p>
            <a:r>
              <a:t>Kiểm tra trước các yêu cầu về image, backend lưu trữ, client và feature flags. Việc bật điều kiện tương thích mới phải theo đúng thời điểm của từng release.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Ghi thứ tự đầy đủ:</a:t>
            </a:r>
          </a:p>
          <a:p>
            <a:r>
              <a:t>mgr, mon, crash, osd, mds, rgw, rbd-mirror, cephfs-mirror, iscsi, nfs.</a:t>
            </a:r>
          </a:p>
          <a:p>
            <a:endParaRPr/>
          </a:p>
          <a:p>
            <a:r>
              <a:t>Giải thích đây là thứ tự cephadm thực thi. Với bản cũ chưa hỗ trợ staggered, tài liệu hướng dẫn nâng standby MGR, failover và hoàn tất nhóm MGR trước.</a:t>
            </a:r>
          </a:p>
          <a:p>
            <a:endParaRPr/>
          </a:p>
          <a:p>
            <a:r>
              <a:t>Monitoring stack có thể được refresh sau MGR trong staggered upgrade. Tham số limit giới hạn số daemon trong lượt nâng, không biểu thị mức song song.</a:t>
            </a:r>
          </a:p>
          <a:p>
            <a:endParaRPr/>
          </a:p>
          <a:p>
            <a:r>
              <a:t>Nguồn trong notes:</a:t>
            </a:r>
          </a:p>
          <a:p>
            <a:r>
              <a:t>https://docs.ceph.com/en/pacific/cephadm/upgrade/</a:t>
            </a:r>
          </a:p>
          <a:p>
            <a:endParaRPr/>
          </a:p>
          <a:p>
            <a:r>
              <a:t>Tài liệu Ceph Pacific: https://docs.ceph.com/en/pacific/cephadm/upgrade/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Giải thích thay đổi mapping làm Ceph di chuyển dữ liệu. Không khẳng định đường copy luôn đi trực tiếp từ X sang S.</a:t>
            </a:r>
          </a:p>
          <a:p>
            <a:endParaRPr/>
          </a:p>
          <a:p>
            <a:r>
              <a:t>H0-R dùng tham chiếu cho dữ liệu cố định. Đọc qua client có thể lấy bản tốt từ OSD khác, vì vậy phải có bằng chứng đọc local trên X để kết luận về bản sao tại X.</a:t>
            </a:r>
          </a:p>
          <a:p>
            <a:endParaRPr/>
          </a:p>
          <a:p>
            <a:r>
              <a:t>Deep-scrub thuộc cơ chế native và thực hiện theo PG. Phần H0 bổ sung là tham chiếu độc lập cùng điều kiện cho phép tiếp tục thử nghiệm.</a:t>
            </a:r>
          </a:p>
          <a:p>
            <a:endParaRPr/>
          </a:p>
          <a:p>
            <a:r>
              <a:t>Controller có thể giữ workload canary chưa chạy. Nếu muốn chặn mọi writer trên PG thì cần cơ chế admission trong OSD. primary-affinity không tự bảo đảm tuyệt đối vai trò primary.</a:t>
            </a:r>
          </a:p>
          <a:p>
            <a:endParaRPr/>
          </a:p>
          <a:p>
            <a:r>
              <a:t>Nếu X lỗi trong lúc dữ liệu còn được phục vụ trên S và peer, giữ placement đó để xử lý X. Sau khi trả dữ liệu về X, S không mặc nhiên còn là bản dữ liệu cập nhật để phục hồi.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BlueStore tạo checksum cho dữ liệu mà nó nhận để lưu. Trong mô hình lỗi giả định, ABC có thể biến thành AXC trước điểm tạo checksum, khiến AXC vẫn khớp checksum local. H0 đối chiếu với Hclient ban đầu để kiểm tra trường hợp này.</a:t>
            </a:r>
          </a:p>
          <a:p>
            <a:endParaRPr/>
          </a:p>
          <a:p>
            <a:r>
              <a:t>Điểm B phải nằm sau phần xử lý cần kiểm thử. Kiểm ngay lúc nhận request chưa bao phủ lỗi xuất hiện ở các bước sau.</a:t>
            </a:r>
          </a:p>
          <a:p>
            <a:endParaRPr/>
          </a:p>
          <a:p>
            <a:r>
              <a:t>Hclient phải gắn với đúng object, request và vùng dữ liệu. Không cho primary tự thay tham chiếu bằng hash của dữ liệu đã xử lý.</a:t>
            </a:r>
          </a:p>
          <a:p>
            <a:endParaRPr/>
          </a:p>
          <a:p>
            <a:r>
              <a:t>MVP dùng thao tác ghi toàn bộ object RADOS mới. RGW/RBD cần ánh xạ payload, object và range trước khi mở rộng.</a:t>
            </a:r>
          </a:p>
          <a:p>
            <a:endParaRPr/>
          </a:p>
          <a:p>
            <a:r>
              <a:t>op_commit biểu thị commit tại primary. Cần xét thông báo commit từ replica và kết quả phản hồi riêng. commit_sent chỉ cho biết đã gửi phản hồi.</a:t>
            </a:r>
          </a:p>
          <a:p>
            <a:endParaRPr/>
          </a:p>
          <a:p>
            <a:r>
              <a:t>Nguồn trong notes:</a:t>
            </a:r>
          </a:p>
          <a:p>
            <a:r>
              <a:t>https://docs.ceph.com/en/quincy/rados/configuration/bluestore-config-ref/</a:t>
            </a:r>
          </a:p>
          <a:p>
            <a:r>
              <a:t>https://docs.ceph.com/en/pacific/rados/troubleshooting/troubleshooting-osd/</a:t>
            </a:r>
          </a:p>
          <a:p>
            <a:endParaRPr/>
          </a:p>
          <a:p>
            <a:r>
              <a:t>Tài liệu Ceph: https://docs.ceph.com/en/quincy/rados/configuration/bluestore-config-ref/ ; https://docs.ceph.com/en/pacific/rados/troubleshooting/troubleshooting-osd/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mức có tính cộng dồn. Mức 2 giữ kiểm tra primary của mức 1. Mức 3 giữ kiểm tra buffer và bổ sung đọc lại.</a:t>
            </a:r>
          </a:p>
          <a:p>
            <a:endParaRPr/>
          </a:p>
          <a:p>
            <a:r>
              <a:t>Một OSD canary có thể nằm trong pool replica 3. Số OSD nâng cấp không đồng nghĩa số bản sao dữ liệu. Pool size 1 không kiểm chứng được nhánh replica.</a:t>
            </a:r>
          </a:p>
          <a:p>
            <a:endParaRPr/>
          </a:p>
          <a:p>
            <a:r>
              <a:t>Mức 3 cần chứng minh đọc đúng bản local, đúng version/range và xác định ảnh hưởng của cache. Một GET thông thường chưa đủ để tuyên bố đã kiểm tra dữ liệu trên thiết bị lưu trữ.</a:t>
            </a:r>
          </a:p>
          <a:p>
            <a:endParaRPr/>
          </a:p>
          <a:p>
            <a:r>
              <a:t>H0-W không bảo đảm dữ liệu sẽ không hỏng sau khi hoàn tất kiểm tra.</a:t>
            </a:r>
          </a:p>
          <a:p>
            <a:endParaRPr/>
          </a:p>
          <a:p>
            <a:r>
              <a:t>Không trả success không đồng nghĩa chưa ghi dữ liệu. Đặc biệt mức 3 kiểm tra sau commit, nên thiết kế cần xử lý retry, failover và trạng thái request để tránh báo thành công cho một thao tác chưa hoàn tất kiểm chứng.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Bảng replica chỉ áp dụng cho pool test riêng, không tự giảm size của pool production.</a:t>
            </a:r>
          </a:p>
          <a:p>
            <a:endParaRPr/>
          </a:p>
          <a:p>
            <a:r>
              <a:t>Với pool test size 1, bài thử không có dư thừa dữ liệu và không chứng minh khả năng phục vụ khi OSD đó dừng.</a:t>
            </a:r>
          </a:p>
          <a:p>
            <a:endParaRPr/>
          </a:p>
          <a:p>
            <a:r>
              <a:t>Khi chọn bốn hoặc năm OSD nhưng size ba, mỗi object chỉ có ba bản sao. Phải phân bố đủ PG/object và kiểm tra mapping để biết các OSD đã chọn có thực sự tham gia hay không.</a:t>
            </a:r>
          </a:p>
          <a:p>
            <a:endParaRPr/>
          </a:p>
          <a:p>
            <a:r>
              <a:t>CRUSH rule và failure domain có thể khiến placement không hợp lệ dù đủ số OSD. Web phải kiểm tra điều này.</a:t>
            </a:r>
          </a:p>
          <a:p>
            <a:endParaRPr/>
          </a:p>
          <a:p>
            <a:r>
              <a:t>Phân biệt kiểm thử trong một pool riêng với kiểm thử một OSD mới nâng đang tham gia pool replica ba hiện có. Số OSD nâng cấp và số bản sao là hai lựa chọn riêng.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lượt so sánh phải giữ workload, corpus, topology và cấu hình native tương đương. Với lượt có H0, ghi rõ mức 1, 2 hay 3.</a:t>
            </a:r>
          </a:p>
          <a:p>
            <a:endParaRPr/>
          </a:p>
          <a:p>
            <a:r>
              <a:t>Fault injection phải nêu vị trí và thời điểm. Một lần overwrite hợp lệ làm dữ liệu khác baseline chưa chứng minh BlueStore bỏ lọt lỗi vật lý.</a:t>
            </a:r>
          </a:p>
          <a:p>
            <a:endParaRPr/>
          </a:p>
          <a:p>
            <a:r>
              <a:t>Duy trì native checksum và scrub trong các lượt. Ghi nhận cả lỗi native phát hiện và phần H0 bổ sung, không mặc định native sẽ bỏ sót mọi kịch bản.</a:t>
            </a:r>
          </a:p>
          <a:p>
            <a:endParaRPr/>
          </a:p>
          <a:p>
            <a:r>
              <a:t>Nếu X không khởi động và dữ liệu vẫn được phục vụ trên S/peer, có thể giữ placement đó. Nếu cần khôi phục dữ liệu thì phải có nguồn tốt đúng phiên bản hoặc backup.</a:t>
            </a:r>
          </a:p>
          <a:p>
            <a:endParaRPr/>
          </a:p>
          <a:p>
            <a:r>
              <a:t>Dừng nâng, giữ dịch vụ, restore dữ liệu và downgrade là các hành động khác nhau. Chỉ đặt ngưỡng nghiệm thu trước run, không điền số kết quả giả.</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Ưu tiên hoàn thiện quy trình native và PA1 có thể thực hiện lại. Phát triển H0 theo từng mức giúp xác định chính xác lợi ích và độ phức tạp tăng thêm.</a:t>
            </a:r>
          </a:p>
          <a:p>
            <a:endParaRPr/>
          </a:p>
          <a:p>
            <a:r>
              <a:t>MVP giới hạn ở corpus và thao tác RADOS dễ kiểm chứng. Tích hợp RGW/RBD đầy đủ thực hiện sau khi làm rõ quan hệ giữa payload ứng dụng và dữ liệu RADOS.</a:t>
            </a:r>
          </a:p>
          <a:p>
            <a:endParaRPr/>
          </a:p>
          <a:p>
            <a:r>
              <a:t>Chỉ mở rộng nhiều OSD đồng thời sau khi đã đo tài nguyên và kiểm tra an toàn của cả nhóm. Tham số limit không thay thế bộ điều phối nâng song song.</a:t>
            </a:r>
          </a:p>
          <a:p>
            <a:endParaRPr/>
          </a:p>
          <a:p>
            <a:r>
              <a:t>Đầu ra bàn giao gồm quy trình nâng, tiêu chí dừng, phương án phục hồi và bộ bằng chứng từng run. Quyết định áp dụng H0 dựa trên số đo, chưa mặc định H0 là điều kiện bắt buộc để Ceph nâng cấp an toàn.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FS Magistral Book"/>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FS Magistral Book"/>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FS Magistral Book"/>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FS Magistral Book"/>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FS Magistral Book"/>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FS Magistral Book"/>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FS Magistral Book"/>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FS Magistral Book"/>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FS Magistral Book"/>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EE0033"/>
          </a:solidFill>
          <a:ln>
            <a:noFill/>
          </a:ln>
        </p:spPr>
        <p:txBody>
          <a:bodyPr/>
          <a:lstStyle/>
          <a:p>
            <a:endParaRPr lang="en-US"/>
          </a:p>
        </p:txBody>
      </p:sp>
      <p:sp>
        <p:nvSpPr>
          <p:cNvPr id="3" name="Rectangle 3"/>
          <p:cNvSpPr/>
          <p:nvPr/>
        </p:nvSpPr>
        <p:spPr>
          <a:xfrm>
            <a:off x="171450" y="0"/>
            <a:ext cx="57150" cy="6858000"/>
          </a:xfrm>
          <a:prstGeom prst="rect">
            <a:avLst/>
          </a:prstGeom>
          <a:solidFill>
            <a:srgbClr val="E6E6E6"/>
          </a:solidFill>
          <a:ln>
            <a:noFill/>
          </a:ln>
        </p:spPr>
        <p:txBody>
          <a:bodyPr/>
          <a:lstStyle/>
          <a:p>
            <a:endParaRPr lang="en-US"/>
          </a:p>
        </p:txBody>
      </p:sp>
      <p:sp>
        <p:nvSpPr>
          <p:cNvPr id="4" name="Rectangle 4"/>
          <p:cNvSpPr/>
          <p:nvPr/>
        </p:nvSpPr>
        <p:spPr>
          <a:xfrm>
            <a:off x="0" y="0"/>
            <a:ext cx="12192000" cy="47625"/>
          </a:xfrm>
          <a:prstGeom prst="rect">
            <a:avLst/>
          </a:prstGeom>
          <a:solidFill>
            <a:srgbClr val="EE0033"/>
          </a:solidFill>
          <a:ln>
            <a:noFill/>
          </a:ln>
        </p:spPr>
        <p:txBody>
          <a:bodyPr/>
          <a:lstStyle/>
          <a:p>
            <a:endParaRPr lang="en-US"/>
          </a:p>
        </p:txBody>
      </p:sp>
      <p:pic>
        <p:nvPicPr>
          <p:cNvPr id="5" name="Image 5"/>
          <p:cNvPicPr>
            <a:picLocks noChangeAspect="1"/>
          </p:cNvPicPr>
          <p:nvPr/>
        </p:nvPicPr>
        <p:blipFill>
          <a:blip r:embed="rId3"/>
          <a:stretch>
            <a:fillRect/>
          </a:stretch>
        </p:blipFill>
        <p:spPr>
          <a:xfrm>
            <a:off x="10363200" y="337185"/>
            <a:ext cx="1219200" cy="259080"/>
          </a:xfrm>
          <a:prstGeom prst="rect">
            <a:avLst/>
          </a:prstGeom>
        </p:spPr>
      </p:pic>
      <p:grpSp>
        <p:nvGrpSpPr>
          <p:cNvPr id="11" name="Group 11"/>
          <p:cNvGrpSpPr/>
          <p:nvPr/>
        </p:nvGrpSpPr>
        <p:grpSpPr>
          <a:xfrm>
            <a:off x="868680" y="1489710"/>
            <a:ext cx="7284720" cy="2301240"/>
            <a:chOff x="868680" y="1489710"/>
            <a:chExt cx="7284720" cy="2301240"/>
          </a:xfrm>
        </p:grpSpPr>
        <p:sp>
          <p:nvSpPr>
            <p:cNvPr id="6" name="TextBox 6"/>
            <p:cNvSpPr txBox="1"/>
            <p:nvPr/>
          </p:nvSpPr>
          <p:spPr>
            <a:xfrm>
              <a:off x="899160" y="1489710"/>
              <a:ext cx="2413578" cy="243840"/>
            </a:xfrm>
            <a:prstGeom prst="rect">
              <a:avLst/>
            </a:prstGeom>
            <a:noFill/>
            <a:ln>
              <a:noFill/>
            </a:ln>
          </p:spPr>
          <p:txBody>
            <a:bodyPr wrap="none" lIns="0" tIns="0" rIns="0" bIns="0" anchor="t" anchorCtr="0">
              <a:spAutoFit/>
            </a:bodyPr>
            <a:lstStyle/>
            <a:p>
              <a:pPr algn="l"/>
              <a:r>
                <a:rPr lang="zh-CN" sz="1200" dirty="0">
                  <a:solidFill>
                    <a:srgbClr val="EE0033"/>
                  </a:solidFill>
                  <a:latin typeface="FS Magistral Bold"/>
                  <a:ea typeface="FS Magistral Bold"/>
                  <a:cs typeface="FS Magistral Bold"/>
                </a:rPr>
                <a:t>BÁO CÁO TIẾN ĐỘ NGHIÊN CỨU</a:t>
              </a:r>
            </a:p>
          </p:txBody>
        </p:sp>
        <p:sp>
          <p:nvSpPr>
            <p:cNvPr id="7" name="TextBox 7"/>
            <p:cNvSpPr txBox="1"/>
            <p:nvPr/>
          </p:nvSpPr>
          <p:spPr>
            <a:xfrm>
              <a:off x="868680" y="1897380"/>
              <a:ext cx="5722544" cy="731520"/>
            </a:xfrm>
            <a:prstGeom prst="rect">
              <a:avLst/>
            </a:prstGeom>
            <a:noFill/>
            <a:ln>
              <a:noFill/>
            </a:ln>
          </p:spPr>
          <p:txBody>
            <a:bodyPr wrap="none" lIns="0" tIns="0" rIns="0" bIns="0" anchor="t" anchorCtr="0">
              <a:spAutoFit/>
            </a:bodyPr>
            <a:lstStyle/>
            <a:p>
              <a:pPr algn="l"/>
              <a:r>
                <a:rPr lang="zh-CN" sz="3600" dirty="0">
                  <a:solidFill>
                    <a:srgbClr val="000000"/>
                  </a:solidFill>
                  <a:latin typeface="FS Magistral Bold"/>
                  <a:ea typeface="FS Magistral Bold"/>
                  <a:cs typeface="FS Magistral Bold"/>
                </a:rPr>
                <a:t>NGHIÊN CỨU QUY TRÌNH</a:t>
              </a:r>
            </a:p>
          </p:txBody>
        </p:sp>
        <p:sp>
          <p:nvSpPr>
            <p:cNvPr id="8" name="TextBox 8"/>
            <p:cNvSpPr txBox="1"/>
            <p:nvPr/>
          </p:nvSpPr>
          <p:spPr>
            <a:xfrm>
              <a:off x="868680" y="2468880"/>
              <a:ext cx="3762699" cy="731520"/>
            </a:xfrm>
            <a:prstGeom prst="rect">
              <a:avLst/>
            </a:prstGeom>
            <a:noFill/>
            <a:ln>
              <a:noFill/>
            </a:ln>
          </p:spPr>
          <p:txBody>
            <a:bodyPr wrap="none" lIns="0" tIns="0" rIns="0" bIns="0" anchor="t" anchorCtr="0">
              <a:spAutoFit/>
            </a:bodyPr>
            <a:lstStyle/>
            <a:p>
              <a:pPr algn="l"/>
              <a:r>
                <a:rPr lang="zh-CN" sz="3600" dirty="0">
                  <a:solidFill>
                    <a:srgbClr val="000000"/>
                  </a:solidFill>
                  <a:latin typeface="FS Magistral Bold"/>
                  <a:ea typeface="FS Magistral Bold"/>
                  <a:cs typeface="FS Magistral Bold"/>
                </a:rPr>
                <a:t>NÂNG CẤP CEPH</a:t>
              </a:r>
            </a:p>
          </p:txBody>
        </p:sp>
        <p:sp>
          <p:nvSpPr>
            <p:cNvPr id="9" name="Rectangle 9"/>
            <p:cNvSpPr/>
            <p:nvPr/>
          </p:nvSpPr>
          <p:spPr>
            <a:xfrm>
              <a:off x="914400" y="3143250"/>
              <a:ext cx="7239000" cy="28575"/>
            </a:xfrm>
            <a:prstGeom prst="rect">
              <a:avLst/>
            </a:prstGeom>
            <a:solidFill>
              <a:srgbClr val="EE0033"/>
            </a:solidFill>
            <a:ln>
              <a:noFill/>
            </a:ln>
          </p:spPr>
          <p:txBody>
            <a:bodyPr/>
            <a:lstStyle/>
            <a:p>
              <a:endParaRPr lang="en-US"/>
            </a:p>
          </p:txBody>
        </p:sp>
        <p:sp>
          <p:nvSpPr>
            <p:cNvPr id="10" name="TextBox 10"/>
            <p:cNvSpPr txBox="1"/>
            <p:nvPr/>
          </p:nvSpPr>
          <p:spPr>
            <a:xfrm>
              <a:off x="891540" y="3425190"/>
              <a:ext cx="6355080" cy="365760"/>
            </a:xfrm>
            <a:prstGeom prst="rect">
              <a:avLst/>
            </a:prstGeom>
            <a:noFill/>
            <a:ln>
              <a:noFill/>
            </a:ln>
          </p:spPr>
          <p:txBody>
            <a:bodyPr wrap="none" lIns="0" tIns="0" rIns="0" bIns="0" anchor="t" anchorCtr="0">
              <a:spAutoFit/>
            </a:bodyPr>
            <a:lstStyle/>
            <a:p>
              <a:pPr algn="l"/>
              <a:r>
                <a:rPr lang="zh-CN" sz="1800" dirty="0">
                  <a:solidFill>
                    <a:srgbClr val="44494D"/>
                  </a:solidFill>
                  <a:latin typeface="FS Magistral Medium"/>
                  <a:ea typeface="FS Magistral Medium"/>
                  <a:cs typeface="FS Magistral Medium"/>
                </a:rPr>
                <a:t>Báo cáo tiến độ và hướng phát triển PA1 kết hợp H0</a:t>
              </a:r>
            </a:p>
          </p:txBody>
        </p:sp>
      </p:grpSp>
      <p:grpSp>
        <p:nvGrpSpPr>
          <p:cNvPr id="16" name="Group 16"/>
          <p:cNvGrpSpPr/>
          <p:nvPr/>
        </p:nvGrpSpPr>
        <p:grpSpPr>
          <a:xfrm>
            <a:off x="897255" y="4616768"/>
            <a:ext cx="2725626" cy="1188720"/>
            <a:chOff x="897255" y="4616768"/>
            <a:chExt cx="2725626" cy="1188720"/>
          </a:xfrm>
        </p:grpSpPr>
        <p:sp>
          <p:nvSpPr>
            <p:cNvPr id="12" name="TextBox 12"/>
            <p:cNvSpPr txBox="1"/>
            <p:nvPr/>
          </p:nvSpPr>
          <p:spPr>
            <a:xfrm>
              <a:off x="897255" y="4616768"/>
              <a:ext cx="2725626"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Người thực hiện: [Họ và tên]</a:t>
              </a:r>
            </a:p>
          </p:txBody>
        </p:sp>
        <p:sp>
          <p:nvSpPr>
            <p:cNvPr id="13" name="TextBox 13"/>
            <p:cNvSpPr txBox="1"/>
            <p:nvPr/>
          </p:nvSpPr>
          <p:spPr>
            <a:xfrm>
              <a:off x="897255" y="4921568"/>
              <a:ext cx="220313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Đơn vị/nhóm: [Đơn vị]</a:t>
              </a:r>
            </a:p>
          </p:txBody>
        </p:sp>
        <p:sp>
          <p:nvSpPr>
            <p:cNvPr id="14" name="TextBox 14"/>
            <p:cNvSpPr txBox="1"/>
            <p:nvPr/>
          </p:nvSpPr>
          <p:spPr>
            <a:xfrm>
              <a:off x="897255" y="5226368"/>
              <a:ext cx="2587609"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Người hướng dẫn: [Mentor]</a:t>
              </a:r>
            </a:p>
          </p:txBody>
        </p:sp>
        <p:sp>
          <p:nvSpPr>
            <p:cNvPr id="15" name="TextBox 15"/>
            <p:cNvSpPr txBox="1"/>
            <p:nvPr/>
          </p:nvSpPr>
          <p:spPr>
            <a:xfrm>
              <a:off x="897255" y="5531168"/>
              <a:ext cx="244959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Thời gian: [Ngày báo cáo]</a:t>
              </a:r>
            </a:p>
          </p:txBody>
        </p:sp>
      </p:grpSp>
      <p:grpSp>
        <p:nvGrpSpPr>
          <p:cNvPr id="22" name="Group 22"/>
          <p:cNvGrpSpPr/>
          <p:nvPr/>
        </p:nvGrpSpPr>
        <p:grpSpPr>
          <a:xfrm>
            <a:off x="0" y="6419850"/>
            <a:ext cx="12192000" cy="438150"/>
            <a:chOff x="0" y="6419850"/>
            <a:chExt cx="12192000" cy="438150"/>
          </a:xfrm>
        </p:grpSpPr>
        <p:sp>
          <p:nvSpPr>
            <p:cNvPr id="17" name="Rectangle 17"/>
            <p:cNvSpPr/>
            <p:nvPr/>
          </p:nvSpPr>
          <p:spPr>
            <a:xfrm>
              <a:off x="0" y="6419850"/>
              <a:ext cx="12192000" cy="438150"/>
            </a:xfrm>
            <a:prstGeom prst="rect">
              <a:avLst/>
            </a:prstGeom>
            <a:solidFill>
              <a:srgbClr val="F2F2F2"/>
            </a:solidFill>
            <a:ln>
              <a:noFill/>
            </a:ln>
          </p:spPr>
          <p:txBody>
            <a:bodyPr/>
            <a:lstStyle/>
            <a:p>
              <a:endParaRPr lang="en-US"/>
            </a:p>
          </p:txBody>
        </p:sp>
        <p:sp>
          <p:nvSpPr>
            <p:cNvPr id="18" name="Rectangle 18"/>
            <p:cNvSpPr/>
            <p:nvPr/>
          </p:nvSpPr>
          <p:spPr>
            <a:xfrm>
              <a:off x="0" y="6419850"/>
              <a:ext cx="76200" cy="438150"/>
            </a:xfrm>
            <a:prstGeom prst="rect">
              <a:avLst/>
            </a:prstGeom>
            <a:solidFill>
              <a:srgbClr val="EE0033"/>
            </a:solidFill>
            <a:ln>
              <a:noFill/>
            </a:ln>
          </p:spPr>
          <p:txBody>
            <a:bodyPr/>
            <a:lstStyle/>
            <a:p>
              <a:endParaRPr lang="en-US"/>
            </a:p>
          </p:txBody>
        </p:sp>
        <p:sp>
          <p:nvSpPr>
            <p:cNvPr id="19" name="TextBox 19"/>
            <p:cNvSpPr txBox="1"/>
            <p:nvPr/>
          </p:nvSpPr>
          <p:spPr>
            <a:xfrm>
              <a:off x="597218" y="6590824"/>
              <a:ext cx="1648111"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VIETTEL · NÂNG CẤP CEPH</a:t>
              </a:r>
            </a:p>
          </p:txBody>
        </p:sp>
        <p:sp>
          <p:nvSpPr>
            <p:cNvPr id="20" name="Rectangle 20"/>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21" name="TextBox 21"/>
            <p:cNvSpPr txBox="1"/>
            <p:nvPr/>
          </p:nvSpPr>
          <p:spPr>
            <a:xfrm>
              <a:off x="11089298" y="6582728"/>
              <a:ext cx="300404"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1/13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linds(horizontal)">
                                      <p:cBhvr>
                                        <p:cTn id="11"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7109041"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Kết quả tháng đầu và mục tiêu tiếp theo</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grpSp>
        <p:nvGrpSpPr>
          <p:cNvPr id="26" name="Group 26"/>
          <p:cNvGrpSpPr/>
          <p:nvPr/>
        </p:nvGrpSpPr>
        <p:grpSpPr>
          <a:xfrm>
            <a:off x="685800" y="1295400"/>
            <a:ext cx="10820400" cy="2924175"/>
            <a:chOff x="685800" y="1295400"/>
            <a:chExt cx="10820400" cy="2924175"/>
          </a:xfrm>
        </p:grpSpPr>
        <p:sp>
          <p:nvSpPr>
            <p:cNvPr id="8" name="Rectangle 8"/>
            <p:cNvSpPr/>
            <p:nvPr/>
          </p:nvSpPr>
          <p:spPr>
            <a:xfrm>
              <a:off x="685800" y="1295400"/>
              <a:ext cx="5257800" cy="476250"/>
            </a:xfrm>
            <a:prstGeom prst="rect">
              <a:avLst/>
            </a:prstGeom>
            <a:solidFill>
              <a:srgbClr val="F2F2F2"/>
            </a:solidFill>
            <a:ln>
              <a:noFill/>
            </a:ln>
          </p:spPr>
          <p:txBody>
            <a:bodyPr/>
            <a:lstStyle/>
            <a:p>
              <a:endParaRPr lang="en-US"/>
            </a:p>
          </p:txBody>
        </p:sp>
        <p:sp>
          <p:nvSpPr>
            <p:cNvPr id="9" name="Rectangle 9"/>
            <p:cNvSpPr/>
            <p:nvPr/>
          </p:nvSpPr>
          <p:spPr>
            <a:xfrm>
              <a:off x="6096000" y="1295400"/>
              <a:ext cx="5410200" cy="476250"/>
            </a:xfrm>
            <a:prstGeom prst="rect">
              <a:avLst/>
            </a:prstGeom>
            <a:solidFill>
              <a:srgbClr val="F2F2F2"/>
            </a:solidFill>
            <a:ln>
              <a:noFill/>
            </a:ln>
          </p:spPr>
          <p:txBody>
            <a:bodyPr/>
            <a:lstStyle/>
            <a:p>
              <a:endParaRPr lang="en-US"/>
            </a:p>
          </p:txBody>
        </p:sp>
        <p:sp>
          <p:nvSpPr>
            <p:cNvPr id="10" name="Rectangle 10"/>
            <p:cNvSpPr/>
            <p:nvPr/>
          </p:nvSpPr>
          <p:spPr>
            <a:xfrm>
              <a:off x="685800" y="1295400"/>
              <a:ext cx="66675" cy="476250"/>
            </a:xfrm>
            <a:prstGeom prst="rect">
              <a:avLst/>
            </a:prstGeom>
            <a:solidFill>
              <a:srgbClr val="28A197"/>
            </a:solidFill>
            <a:ln>
              <a:noFill/>
            </a:ln>
          </p:spPr>
          <p:txBody>
            <a:bodyPr/>
            <a:lstStyle/>
            <a:p>
              <a:endParaRPr lang="en-US"/>
            </a:p>
          </p:txBody>
        </p:sp>
        <p:sp>
          <p:nvSpPr>
            <p:cNvPr id="11" name="Rectangle 11"/>
            <p:cNvSpPr/>
            <p:nvPr/>
          </p:nvSpPr>
          <p:spPr>
            <a:xfrm>
              <a:off x="6096000" y="1295400"/>
              <a:ext cx="66675" cy="476250"/>
            </a:xfrm>
            <a:prstGeom prst="rect">
              <a:avLst/>
            </a:prstGeom>
            <a:solidFill>
              <a:srgbClr val="EE0033"/>
            </a:solidFill>
            <a:ln>
              <a:noFill/>
            </a:ln>
          </p:spPr>
          <p:txBody>
            <a:bodyPr/>
            <a:lstStyle/>
            <a:p>
              <a:endParaRPr lang="en-US"/>
            </a:p>
          </p:txBody>
        </p:sp>
        <p:sp>
          <p:nvSpPr>
            <p:cNvPr id="12" name="TextBox 12"/>
            <p:cNvSpPr txBox="1"/>
            <p:nvPr/>
          </p:nvSpPr>
          <p:spPr>
            <a:xfrm>
              <a:off x="893445" y="1431608"/>
              <a:ext cx="1522145" cy="335280"/>
            </a:xfrm>
            <a:prstGeom prst="rect">
              <a:avLst/>
            </a:prstGeom>
            <a:noFill/>
            <a:ln>
              <a:noFill/>
            </a:ln>
          </p:spPr>
          <p:txBody>
            <a:bodyPr wrap="none" lIns="0" tIns="0" rIns="0" bIns="0" anchor="t" anchorCtr="0">
              <a:spAutoFit/>
            </a:bodyPr>
            <a:lstStyle/>
            <a:p>
              <a:pPr algn="l"/>
              <a:r>
                <a:rPr lang="zh-CN" sz="1650" dirty="0">
                  <a:solidFill>
                    <a:srgbClr val="000000"/>
                  </a:solidFill>
                  <a:latin typeface="FS Magistral Bold"/>
                  <a:ea typeface="FS Magistral Bold"/>
                  <a:cs typeface="FS Magistral Bold"/>
                </a:rPr>
                <a:t>Đã thực hiện</a:t>
              </a:r>
            </a:p>
          </p:txBody>
        </p:sp>
        <p:sp>
          <p:nvSpPr>
            <p:cNvPr id="13" name="TextBox 13"/>
            <p:cNvSpPr txBox="1"/>
            <p:nvPr/>
          </p:nvSpPr>
          <p:spPr>
            <a:xfrm>
              <a:off x="6303645" y="1431608"/>
              <a:ext cx="2078815" cy="335280"/>
            </a:xfrm>
            <a:prstGeom prst="rect">
              <a:avLst/>
            </a:prstGeom>
            <a:noFill/>
            <a:ln>
              <a:noFill/>
            </a:ln>
          </p:spPr>
          <p:txBody>
            <a:bodyPr wrap="none" lIns="0" tIns="0" rIns="0" bIns="0" anchor="t" anchorCtr="0">
              <a:spAutoFit/>
            </a:bodyPr>
            <a:lstStyle/>
            <a:p>
              <a:pPr algn="l"/>
              <a:r>
                <a:rPr lang="zh-CN" sz="1650" dirty="0">
                  <a:solidFill>
                    <a:srgbClr val="000000"/>
                  </a:solidFill>
                  <a:latin typeface="FS Magistral Bold"/>
                  <a:ea typeface="FS Magistral Bold"/>
                  <a:cs typeface="FS Magistral Bold"/>
                </a:rPr>
                <a:t>Hướng phát triển</a:t>
              </a:r>
            </a:p>
          </p:txBody>
        </p:sp>
        <p:sp>
          <p:nvSpPr>
            <p:cNvPr id="14" name="TextBox 14"/>
            <p:cNvSpPr txBox="1"/>
            <p:nvPr/>
          </p:nvSpPr>
          <p:spPr>
            <a:xfrm>
              <a:off x="897255" y="1968818"/>
              <a:ext cx="4717018"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Kiến trúc Ceph, placement, replication, cephadm</a:t>
              </a:r>
            </a:p>
          </p:txBody>
        </p:sp>
        <p:sp>
          <p:nvSpPr>
            <p:cNvPr id="15" name="TextBox 15"/>
            <p:cNvSpPr txBox="1"/>
            <p:nvPr/>
          </p:nvSpPr>
          <p:spPr>
            <a:xfrm>
              <a:off x="6307455" y="1968818"/>
              <a:ext cx="3997357"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Quy trình nâng toàn cluster theo daemon</a:t>
              </a:r>
            </a:p>
          </p:txBody>
        </p:sp>
        <p:sp>
          <p:nvSpPr>
            <p:cNvPr id="16" name="Line 16"/>
            <p:cNvSpPr/>
            <p:nvPr/>
          </p:nvSpPr>
          <p:spPr>
            <a:xfrm>
              <a:off x="685800" y="232410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17" name="TextBox 17"/>
            <p:cNvSpPr txBox="1"/>
            <p:nvPr/>
          </p:nvSpPr>
          <p:spPr>
            <a:xfrm>
              <a:off x="897255" y="2597468"/>
              <a:ext cx="299180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Lab, baseline và thử nghiệm PA1</a:t>
              </a:r>
            </a:p>
          </p:txBody>
        </p:sp>
        <p:sp>
          <p:nvSpPr>
            <p:cNvPr id="18" name="TextBox 18"/>
            <p:cNvSpPr txBox="1"/>
            <p:nvPr/>
          </p:nvSpPr>
          <p:spPr>
            <a:xfrm>
              <a:off x="6307455" y="2597468"/>
              <a:ext cx="2212991"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PA1 trong pha nâng OSD</a:t>
              </a:r>
            </a:p>
          </p:txBody>
        </p:sp>
        <p:sp>
          <p:nvSpPr>
            <p:cNvPr id="19" name="Line 19"/>
            <p:cNvSpPr/>
            <p:nvPr/>
          </p:nvSpPr>
          <p:spPr>
            <a:xfrm>
              <a:off x="685800" y="295275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0" name="TextBox 20"/>
            <p:cNvSpPr txBox="1"/>
            <p:nvPr/>
          </p:nvSpPr>
          <p:spPr>
            <a:xfrm>
              <a:off x="897255" y="3226118"/>
              <a:ext cx="3267837"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Nâng thử một OSD; checksum test</a:t>
              </a:r>
            </a:p>
          </p:txBody>
        </p:sp>
        <p:sp>
          <p:nvSpPr>
            <p:cNvPr id="21" name="TextBox 21"/>
            <p:cNvSpPr txBox="1"/>
            <p:nvPr/>
          </p:nvSpPr>
          <p:spPr>
            <a:xfrm>
              <a:off x="6307455" y="3226118"/>
              <a:ext cx="1976390"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H0-R và ba mức H0-W</a:t>
              </a:r>
            </a:p>
          </p:txBody>
        </p:sp>
        <p:sp>
          <p:nvSpPr>
            <p:cNvPr id="22" name="Line 22"/>
            <p:cNvSpPr/>
            <p:nvPr/>
          </p:nvSpPr>
          <p:spPr>
            <a:xfrm>
              <a:off x="685800" y="358140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3" name="TextBox 23"/>
            <p:cNvSpPr txBox="1"/>
            <p:nvPr/>
          </p:nvSpPr>
          <p:spPr>
            <a:xfrm>
              <a:off x="897255" y="3854768"/>
              <a:ext cx="250874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Nền web kiểm thử RBD/RGW</a:t>
              </a:r>
            </a:p>
          </p:txBody>
        </p:sp>
        <p:sp>
          <p:nvSpPr>
            <p:cNvPr id="24" name="TextBox 24"/>
            <p:cNvSpPr txBox="1"/>
            <p:nvPr/>
          </p:nvSpPr>
          <p:spPr>
            <a:xfrm>
              <a:off x="6307455" y="3854768"/>
              <a:ext cx="341571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Chọn OSD/PG canary và đo hiệu năng</a:t>
              </a:r>
            </a:p>
          </p:txBody>
        </p:sp>
        <p:sp>
          <p:nvSpPr>
            <p:cNvPr id="25" name="Line 25"/>
            <p:cNvSpPr/>
            <p:nvPr/>
          </p:nvSpPr>
          <p:spPr>
            <a:xfrm>
              <a:off x="685800" y="421005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grpSp>
      <p:grpSp>
        <p:nvGrpSpPr>
          <p:cNvPr id="31" name="Group 31"/>
          <p:cNvGrpSpPr/>
          <p:nvPr/>
        </p:nvGrpSpPr>
        <p:grpSpPr>
          <a:xfrm>
            <a:off x="685800" y="4800600"/>
            <a:ext cx="10820400" cy="914400"/>
            <a:chOff x="685800" y="4800600"/>
            <a:chExt cx="10820400" cy="914400"/>
          </a:xfrm>
        </p:grpSpPr>
        <p:sp>
          <p:nvSpPr>
            <p:cNvPr id="27" name="Rectangle 27"/>
            <p:cNvSpPr/>
            <p:nvPr/>
          </p:nvSpPr>
          <p:spPr>
            <a:xfrm>
              <a:off x="685800" y="4800600"/>
              <a:ext cx="10820400" cy="914400"/>
            </a:xfrm>
            <a:prstGeom prst="rect">
              <a:avLst/>
            </a:prstGeom>
            <a:solidFill>
              <a:srgbClr val="F2F2F2"/>
            </a:solidFill>
            <a:ln>
              <a:noFill/>
            </a:ln>
          </p:spPr>
          <p:txBody>
            <a:bodyPr/>
            <a:lstStyle/>
            <a:p>
              <a:endParaRPr lang="en-US"/>
            </a:p>
          </p:txBody>
        </p:sp>
        <p:sp>
          <p:nvSpPr>
            <p:cNvPr id="28" name="Rectangle 28"/>
            <p:cNvSpPr/>
            <p:nvPr/>
          </p:nvSpPr>
          <p:spPr>
            <a:xfrm>
              <a:off x="685800" y="4800600"/>
              <a:ext cx="66675" cy="914400"/>
            </a:xfrm>
            <a:prstGeom prst="rect">
              <a:avLst/>
            </a:prstGeom>
            <a:solidFill>
              <a:srgbClr val="F46A25"/>
            </a:solidFill>
            <a:ln>
              <a:noFill/>
            </a:ln>
          </p:spPr>
          <p:txBody>
            <a:bodyPr/>
            <a:lstStyle/>
            <a:p>
              <a:endParaRPr lang="en-US"/>
            </a:p>
          </p:txBody>
        </p:sp>
        <p:sp>
          <p:nvSpPr>
            <p:cNvPr id="29" name="TextBox 29"/>
            <p:cNvSpPr txBox="1"/>
            <p:nvPr/>
          </p:nvSpPr>
          <p:spPr>
            <a:xfrm>
              <a:off x="895350" y="4991100"/>
              <a:ext cx="2280880" cy="304800"/>
            </a:xfrm>
            <a:prstGeom prst="rect">
              <a:avLst/>
            </a:prstGeom>
            <a:noFill/>
            <a:ln>
              <a:noFill/>
            </a:ln>
          </p:spPr>
          <p:txBody>
            <a:bodyPr wrap="none" lIns="0" tIns="0" rIns="0" bIns="0" anchor="t" anchorCtr="0">
              <a:spAutoFit/>
            </a:bodyPr>
            <a:lstStyle/>
            <a:p>
              <a:pPr algn="l"/>
              <a:r>
                <a:rPr lang="zh-CN" sz="1500" dirty="0">
                  <a:solidFill>
                    <a:srgbClr val="000000"/>
                  </a:solidFill>
                  <a:latin typeface="FS Magistral Bold"/>
                  <a:ea typeface="FS Magistral Bold"/>
                  <a:cs typeface="FS Magistral Bold"/>
                </a:rPr>
                <a:t>Ranh giới bằng chứng</a:t>
              </a:r>
            </a:p>
          </p:txBody>
        </p:sp>
        <p:sp>
          <p:nvSpPr>
            <p:cNvPr id="30" name="TextBox 30"/>
            <p:cNvSpPr txBox="1"/>
            <p:nvPr/>
          </p:nvSpPr>
          <p:spPr>
            <a:xfrm>
              <a:off x="897255" y="5321618"/>
              <a:ext cx="6895719"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H0 đang thiết kế. Checksum hiện có chỉ chứng minh phạm vi mẫu đã chạy.</a:t>
              </a:r>
            </a:p>
          </p:txBody>
        </p:sp>
      </p:grpSp>
      <p:grpSp>
        <p:nvGrpSpPr>
          <p:cNvPr id="38" name="Group 38"/>
          <p:cNvGrpSpPr/>
          <p:nvPr/>
        </p:nvGrpSpPr>
        <p:grpSpPr>
          <a:xfrm>
            <a:off x="0" y="6419850"/>
            <a:ext cx="12192000" cy="438150"/>
            <a:chOff x="0" y="6419850"/>
            <a:chExt cx="12192000" cy="438150"/>
          </a:xfrm>
        </p:grpSpPr>
        <p:sp>
          <p:nvSpPr>
            <p:cNvPr id="32" name="Rectangle 32"/>
            <p:cNvSpPr/>
            <p:nvPr/>
          </p:nvSpPr>
          <p:spPr>
            <a:xfrm>
              <a:off x="0" y="6419850"/>
              <a:ext cx="12192000" cy="438150"/>
            </a:xfrm>
            <a:prstGeom prst="rect">
              <a:avLst/>
            </a:prstGeom>
            <a:solidFill>
              <a:srgbClr val="F2F2F2"/>
            </a:solidFill>
            <a:ln>
              <a:noFill/>
            </a:ln>
          </p:spPr>
          <p:txBody>
            <a:bodyPr/>
            <a:lstStyle/>
            <a:p>
              <a:endParaRPr lang="en-US"/>
            </a:p>
          </p:txBody>
        </p:sp>
        <p:sp>
          <p:nvSpPr>
            <p:cNvPr id="33" name="Rectangle 33"/>
            <p:cNvSpPr/>
            <p:nvPr/>
          </p:nvSpPr>
          <p:spPr>
            <a:xfrm>
              <a:off x="0" y="6419850"/>
              <a:ext cx="76200" cy="438150"/>
            </a:xfrm>
            <a:prstGeom prst="rect">
              <a:avLst/>
            </a:prstGeom>
            <a:solidFill>
              <a:srgbClr val="EE0033"/>
            </a:solidFill>
            <a:ln>
              <a:noFill/>
            </a:ln>
          </p:spPr>
          <p:txBody>
            <a:bodyPr/>
            <a:lstStyle/>
            <a:p>
              <a:endParaRPr lang="en-US"/>
            </a:p>
          </p:txBody>
        </p:sp>
        <p:sp>
          <p:nvSpPr>
            <p:cNvPr id="34" name="TextBox 34"/>
            <p:cNvSpPr txBox="1"/>
            <p:nvPr/>
          </p:nvSpPr>
          <p:spPr>
            <a:xfrm>
              <a:off x="597218" y="6590824"/>
              <a:ext cx="1249394"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TIẾN ĐỘ VÀ PHẠM VI</a:t>
              </a:r>
            </a:p>
          </p:txBody>
        </p:sp>
        <p:sp>
          <p:nvSpPr>
            <p:cNvPr id="35" name="TextBox 35"/>
            <p:cNvSpPr txBox="1"/>
            <p:nvPr/>
          </p:nvSpPr>
          <p:spPr>
            <a:xfrm>
              <a:off x="4960715" y="6598920"/>
              <a:ext cx="2270569"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Nguồn: pptx.md; báo cáo tháng đầu</a:t>
              </a:r>
            </a:p>
          </p:txBody>
        </p:sp>
        <p:sp>
          <p:nvSpPr>
            <p:cNvPr id="36" name="Rectangle 36"/>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37" name="TextBox 37"/>
            <p:cNvSpPr txBox="1"/>
            <p:nvPr/>
          </p:nvSpPr>
          <p:spPr>
            <a:xfrm>
              <a:off x="11069170" y="6582728"/>
              <a:ext cx="340659"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2/13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checkerboard(across)">
                                      <p:cBhvr>
                                        <p:cTn id="11" dur="400"/>
                                        <p:tgtEl>
                                          <p:spTgt spid="26"/>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dissolve">
                                      <p:cBhvr>
                                        <p:cTn id="15"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6722593"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Bài toán nâng cấp và yêu cầu vận hành</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grpSp>
        <p:nvGrpSpPr>
          <p:cNvPr id="10" name="Group 10"/>
          <p:cNvGrpSpPr/>
          <p:nvPr/>
        </p:nvGrpSpPr>
        <p:grpSpPr>
          <a:xfrm>
            <a:off x="666750" y="1209675"/>
            <a:ext cx="7088481" cy="519113"/>
            <a:chOff x="666750" y="1209675"/>
            <a:chExt cx="7088481" cy="519113"/>
          </a:xfrm>
        </p:grpSpPr>
        <p:sp>
          <p:nvSpPr>
            <p:cNvPr id="8" name="TextBox 8"/>
            <p:cNvSpPr txBox="1"/>
            <p:nvPr/>
          </p:nvSpPr>
          <p:spPr>
            <a:xfrm>
              <a:off x="666750" y="1209675"/>
              <a:ext cx="7088481" cy="304800"/>
            </a:xfrm>
            <a:prstGeom prst="rect">
              <a:avLst/>
            </a:prstGeom>
            <a:noFill/>
            <a:ln>
              <a:noFill/>
            </a:ln>
          </p:spPr>
          <p:txBody>
            <a:bodyPr wrap="none" lIns="0" tIns="0" rIns="0" bIns="0" anchor="t" anchorCtr="0">
              <a:spAutoFit/>
            </a:bodyPr>
            <a:lstStyle/>
            <a:p>
              <a:pPr algn="l"/>
              <a:r>
                <a:rPr lang="zh-CN" sz="1500" dirty="0">
                  <a:solidFill>
                    <a:srgbClr val="000000"/>
                  </a:solidFill>
                  <a:latin typeface="FS Magistral Bold"/>
                  <a:ea typeface="FS Magistral Bold"/>
                  <a:cs typeface="FS Magistral Bold"/>
                </a:rPr>
                <a:t>Quy mô production đã trao đổi: ~1.600 OSD · 24 PB · RGW và RBD</a:t>
              </a:r>
            </a:p>
          </p:txBody>
        </p:sp>
        <p:sp>
          <p:nvSpPr>
            <p:cNvPr id="9" name="TextBox 9"/>
            <p:cNvSpPr txBox="1"/>
            <p:nvPr/>
          </p:nvSpPr>
          <p:spPr>
            <a:xfrm>
              <a:off x="672465" y="1515428"/>
              <a:ext cx="4688586" cy="213360"/>
            </a:xfrm>
            <a:prstGeom prst="rect">
              <a:avLst/>
            </a:prstGeom>
            <a:noFill/>
            <a:ln>
              <a:noFill/>
            </a:ln>
          </p:spPr>
          <p:txBody>
            <a:bodyPr wrap="none" lIns="0" tIns="0" rIns="0" bIns="0" anchor="t" anchorCtr="0">
              <a:spAutoFit/>
            </a:bodyPr>
            <a:lstStyle/>
            <a:p>
              <a:pPr algn="l"/>
              <a:r>
                <a:rPr lang="zh-CN" sz="1050" dirty="0">
                  <a:solidFill>
                    <a:srgbClr val="F46A25"/>
                  </a:solidFill>
                  <a:latin typeface="FS Magistral Book"/>
                  <a:ea typeface="FS Magistral Book"/>
                  <a:cs typeface="FS Magistral Book"/>
                </a:rPr>
                <a:t>Đầu vào lập kế hoạch, cần xác nhận lại bằng inventory hiện hành</a:t>
              </a:r>
            </a:p>
          </p:txBody>
        </p:sp>
      </p:grpSp>
      <p:grpSp>
        <p:nvGrpSpPr>
          <p:cNvPr id="32" name="Group 32"/>
          <p:cNvGrpSpPr/>
          <p:nvPr/>
        </p:nvGrpSpPr>
        <p:grpSpPr>
          <a:xfrm>
            <a:off x="685800" y="1866900"/>
            <a:ext cx="10820400" cy="3514725"/>
            <a:chOff x="685800" y="1866900"/>
            <a:chExt cx="10820400" cy="3514725"/>
          </a:xfrm>
        </p:grpSpPr>
        <p:sp>
          <p:nvSpPr>
            <p:cNvPr id="11" name="Rectangle 11"/>
            <p:cNvSpPr/>
            <p:nvPr/>
          </p:nvSpPr>
          <p:spPr>
            <a:xfrm>
              <a:off x="685800" y="1866900"/>
              <a:ext cx="10820400" cy="419100"/>
            </a:xfrm>
            <a:prstGeom prst="rect">
              <a:avLst/>
            </a:prstGeom>
            <a:solidFill>
              <a:srgbClr val="F2F2F2"/>
            </a:solidFill>
            <a:ln>
              <a:noFill/>
            </a:ln>
          </p:spPr>
          <p:txBody>
            <a:bodyPr/>
            <a:lstStyle/>
            <a:p>
              <a:endParaRPr lang="en-US"/>
            </a:p>
          </p:txBody>
        </p:sp>
        <p:sp>
          <p:nvSpPr>
            <p:cNvPr id="12" name="TextBox 12"/>
            <p:cNvSpPr txBox="1"/>
            <p:nvPr/>
          </p:nvSpPr>
          <p:spPr>
            <a:xfrm>
              <a:off x="859155" y="1997392"/>
              <a:ext cx="77958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Yêu cầu</a:t>
              </a:r>
            </a:p>
          </p:txBody>
        </p:sp>
        <p:sp>
          <p:nvSpPr>
            <p:cNvPr id="13" name="TextBox 13"/>
            <p:cNvSpPr txBox="1"/>
            <p:nvPr/>
          </p:nvSpPr>
          <p:spPr>
            <a:xfrm>
              <a:off x="4078605" y="1997392"/>
              <a:ext cx="1359256"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Cách đánh giá</a:t>
              </a:r>
            </a:p>
          </p:txBody>
        </p:sp>
        <p:sp>
          <p:nvSpPr>
            <p:cNvPr id="14" name="TextBox 14"/>
            <p:cNvSpPr txBox="1"/>
            <p:nvPr/>
          </p:nvSpPr>
          <p:spPr>
            <a:xfrm>
              <a:off x="859155" y="2464118"/>
              <a:ext cx="1522905"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Medium"/>
                  <a:ea typeface="FS Magistral Medium"/>
                  <a:cs typeface="FS Magistral Medium"/>
                </a:rPr>
                <a:t>Toàn vẹn dữ liệu</a:t>
              </a:r>
            </a:p>
          </p:txBody>
        </p:sp>
        <p:sp>
          <p:nvSpPr>
            <p:cNvPr id="15" name="TextBox 15"/>
            <p:cNvSpPr txBox="1"/>
            <p:nvPr/>
          </p:nvSpPr>
          <p:spPr>
            <a:xfrm>
              <a:off x="4078605" y="2464118"/>
              <a:ext cx="4657868"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Kiểm native, tham chiếu độc lập, phạm vi đã kiểm</a:t>
              </a:r>
            </a:p>
          </p:txBody>
        </p:sp>
        <p:sp>
          <p:nvSpPr>
            <p:cNvPr id="16" name="Line 16"/>
            <p:cNvSpPr/>
            <p:nvPr/>
          </p:nvSpPr>
          <p:spPr>
            <a:xfrm>
              <a:off x="685800" y="280035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17" name="TextBox 17"/>
            <p:cNvSpPr txBox="1"/>
            <p:nvPr/>
          </p:nvSpPr>
          <p:spPr>
            <a:xfrm>
              <a:off x="859155" y="2978468"/>
              <a:ext cx="1621488"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Medium"/>
                  <a:ea typeface="FS Magistral Medium"/>
                  <a:cs typeface="FS Magistral Medium"/>
                </a:rPr>
                <a:t>Khả năng phục vụ</a:t>
              </a:r>
            </a:p>
          </p:txBody>
        </p:sp>
        <p:sp>
          <p:nvSpPr>
            <p:cNvPr id="18" name="TextBox 18"/>
            <p:cNvSpPr txBox="1"/>
            <p:nvPr/>
          </p:nvSpPr>
          <p:spPr>
            <a:xfrm>
              <a:off x="4078605" y="2978468"/>
              <a:ext cx="3238262"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Quorum, PG, lỗi và timeout client</a:t>
              </a:r>
            </a:p>
          </p:txBody>
        </p:sp>
        <p:sp>
          <p:nvSpPr>
            <p:cNvPr id="19" name="Line 19"/>
            <p:cNvSpPr/>
            <p:nvPr/>
          </p:nvSpPr>
          <p:spPr>
            <a:xfrm>
              <a:off x="685800" y="331470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0" name="TextBox 20"/>
            <p:cNvSpPr txBox="1"/>
            <p:nvPr/>
          </p:nvSpPr>
          <p:spPr>
            <a:xfrm>
              <a:off x="859155" y="3492818"/>
              <a:ext cx="189752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Medium"/>
                  <a:ea typeface="FS Magistral Medium"/>
                  <a:cs typeface="FS Magistral Medium"/>
                </a:rPr>
                <a:t>Ảnh hưởng hiệu năng</a:t>
              </a:r>
            </a:p>
          </p:txBody>
        </p:sp>
        <p:sp>
          <p:nvSpPr>
            <p:cNvPr id="21" name="TextBox 21"/>
            <p:cNvSpPr txBox="1"/>
            <p:nvPr/>
          </p:nvSpPr>
          <p:spPr>
            <a:xfrm>
              <a:off x="4078605" y="3492818"/>
              <a:ext cx="4056507"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p95/p99, throughput, CPU, disk, network</a:t>
              </a:r>
            </a:p>
          </p:txBody>
        </p:sp>
        <p:sp>
          <p:nvSpPr>
            <p:cNvPr id="22" name="Line 22"/>
            <p:cNvSpPr/>
            <p:nvPr/>
          </p:nvSpPr>
          <p:spPr>
            <a:xfrm>
              <a:off x="685800" y="382905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3" name="TextBox 23"/>
            <p:cNvSpPr txBox="1"/>
            <p:nvPr/>
          </p:nvSpPr>
          <p:spPr>
            <a:xfrm>
              <a:off x="859155" y="4007168"/>
              <a:ext cx="1582055"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Medium"/>
                  <a:ea typeface="FS Magistral Medium"/>
                  <a:cs typeface="FS Magistral Medium"/>
                </a:rPr>
                <a:t>Di chuyển dữ liệu</a:t>
              </a:r>
            </a:p>
          </p:txBody>
        </p:sp>
        <p:sp>
          <p:nvSpPr>
            <p:cNvPr id="24" name="TextBox 24"/>
            <p:cNvSpPr txBox="1"/>
            <p:nvPr/>
          </p:nvSpPr>
          <p:spPr>
            <a:xfrm>
              <a:off x="4078605" y="4007168"/>
              <a:ext cx="4756452"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Giới hạn scope, dung lượng, đợt recovery/backfill</a:t>
              </a:r>
            </a:p>
          </p:txBody>
        </p:sp>
        <p:sp>
          <p:nvSpPr>
            <p:cNvPr id="25" name="Line 25"/>
            <p:cNvSpPr/>
            <p:nvPr/>
          </p:nvSpPr>
          <p:spPr>
            <a:xfrm>
              <a:off x="685800" y="434340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6" name="TextBox 26"/>
            <p:cNvSpPr txBox="1"/>
            <p:nvPr/>
          </p:nvSpPr>
          <p:spPr>
            <a:xfrm>
              <a:off x="859155" y="4521518"/>
              <a:ext cx="1424321"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Medium"/>
                  <a:ea typeface="FS Magistral Medium"/>
                  <a:cs typeface="FS Magistral Medium"/>
                </a:rPr>
                <a:t>Phục hồi khi lỗi</a:t>
              </a:r>
            </a:p>
          </p:txBody>
        </p:sp>
        <p:sp>
          <p:nvSpPr>
            <p:cNvPr id="27" name="TextBox 27"/>
            <p:cNvSpPr txBox="1"/>
            <p:nvPr/>
          </p:nvSpPr>
          <p:spPr>
            <a:xfrm>
              <a:off x="4078605" y="4521518"/>
              <a:ext cx="3938206"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Nguồn dữ liệu tốt, giữ dịch vụ và restore</a:t>
              </a:r>
            </a:p>
          </p:txBody>
        </p:sp>
        <p:sp>
          <p:nvSpPr>
            <p:cNvPr id="28" name="Line 28"/>
            <p:cNvSpPr/>
            <p:nvPr/>
          </p:nvSpPr>
          <p:spPr>
            <a:xfrm>
              <a:off x="685800" y="485775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9" name="TextBox 29"/>
            <p:cNvSpPr txBox="1"/>
            <p:nvPr/>
          </p:nvSpPr>
          <p:spPr>
            <a:xfrm>
              <a:off x="859155" y="5035868"/>
              <a:ext cx="1197578"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Medium"/>
                  <a:ea typeface="FS Magistral Medium"/>
                  <a:cs typeface="FS Magistral Medium"/>
                </a:rPr>
                <a:t>Thực hiện lại</a:t>
              </a:r>
            </a:p>
          </p:txBody>
        </p:sp>
        <p:sp>
          <p:nvSpPr>
            <p:cNvPr id="30" name="TextBox 30"/>
            <p:cNvSpPr txBox="1"/>
            <p:nvPr/>
          </p:nvSpPr>
          <p:spPr>
            <a:xfrm>
              <a:off x="4078605" y="5035868"/>
              <a:ext cx="4628293"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Cấu hình, phiên bản, mapping, log theo từng đợt</a:t>
              </a:r>
            </a:p>
          </p:txBody>
        </p:sp>
        <p:sp>
          <p:nvSpPr>
            <p:cNvPr id="31" name="Line 31"/>
            <p:cNvSpPr/>
            <p:nvPr/>
          </p:nvSpPr>
          <p:spPr>
            <a:xfrm>
              <a:off x="685800" y="537210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grpSp>
      <p:sp>
        <p:nvSpPr>
          <p:cNvPr id="33" name="TextBox 33"/>
          <p:cNvSpPr txBox="1"/>
          <p:nvPr/>
        </p:nvSpPr>
        <p:spPr>
          <a:xfrm>
            <a:off x="669608" y="5682139"/>
            <a:ext cx="6142524" cy="259080"/>
          </a:xfrm>
          <a:prstGeom prst="rect">
            <a:avLst/>
          </a:prstGeom>
          <a:noFill/>
          <a:ln>
            <a:noFill/>
          </a:ln>
        </p:spPr>
        <p:txBody>
          <a:bodyPr wrap="none" lIns="0" tIns="0" rIns="0" bIns="0" anchor="t" anchorCtr="0">
            <a:spAutoFit/>
          </a:bodyPr>
          <a:lstStyle/>
          <a:p>
            <a:pPr algn="l"/>
            <a:r>
              <a:rPr lang="zh-CN" sz="1275" dirty="0">
                <a:solidFill>
                  <a:srgbClr val="EE0033"/>
                </a:solidFill>
                <a:latin typeface="FS Magistral Bold"/>
                <a:ea typeface="FS Magistral Bold"/>
                <a:cs typeface="FS Magistral Bold"/>
              </a:rPr>
              <a:t>Mục tiêu: nâng có kiểm chứng, kiểm soát rủi ro theo từng chặng.</a:t>
            </a:r>
          </a:p>
        </p:txBody>
      </p:sp>
      <p:grpSp>
        <p:nvGrpSpPr>
          <p:cNvPr id="40" name="Group 40"/>
          <p:cNvGrpSpPr/>
          <p:nvPr/>
        </p:nvGrpSpPr>
        <p:grpSpPr>
          <a:xfrm>
            <a:off x="0" y="6419850"/>
            <a:ext cx="12192000" cy="438150"/>
            <a:chOff x="0" y="6419850"/>
            <a:chExt cx="12192000" cy="438150"/>
          </a:xfrm>
        </p:grpSpPr>
        <p:sp>
          <p:nvSpPr>
            <p:cNvPr id="34" name="Rectangle 34"/>
            <p:cNvSpPr/>
            <p:nvPr/>
          </p:nvSpPr>
          <p:spPr>
            <a:xfrm>
              <a:off x="0" y="6419850"/>
              <a:ext cx="12192000" cy="438150"/>
            </a:xfrm>
            <a:prstGeom prst="rect">
              <a:avLst/>
            </a:prstGeom>
            <a:solidFill>
              <a:srgbClr val="F2F2F2"/>
            </a:solidFill>
            <a:ln>
              <a:noFill/>
            </a:ln>
          </p:spPr>
          <p:txBody>
            <a:bodyPr/>
            <a:lstStyle/>
            <a:p>
              <a:endParaRPr lang="en-US"/>
            </a:p>
          </p:txBody>
        </p:sp>
        <p:sp>
          <p:nvSpPr>
            <p:cNvPr id="35" name="Rectangle 35"/>
            <p:cNvSpPr/>
            <p:nvPr/>
          </p:nvSpPr>
          <p:spPr>
            <a:xfrm>
              <a:off x="0" y="6419850"/>
              <a:ext cx="76200" cy="438150"/>
            </a:xfrm>
            <a:prstGeom prst="rect">
              <a:avLst/>
            </a:prstGeom>
            <a:solidFill>
              <a:srgbClr val="EE0033"/>
            </a:solidFill>
            <a:ln>
              <a:noFill/>
            </a:ln>
          </p:spPr>
          <p:txBody>
            <a:bodyPr/>
            <a:lstStyle/>
            <a:p>
              <a:endParaRPr lang="en-US"/>
            </a:p>
          </p:txBody>
        </p:sp>
        <p:sp>
          <p:nvSpPr>
            <p:cNvPr id="36" name="TextBox 36"/>
            <p:cNvSpPr txBox="1"/>
            <p:nvPr/>
          </p:nvSpPr>
          <p:spPr>
            <a:xfrm>
              <a:off x="597218" y="6590824"/>
              <a:ext cx="1171075"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YÊU CẦU VẬN HÀNH</a:t>
              </a:r>
            </a:p>
          </p:txBody>
        </p:sp>
        <p:sp>
          <p:nvSpPr>
            <p:cNvPr id="37" name="TextBox 37"/>
            <p:cNvSpPr txBox="1"/>
            <p:nvPr/>
          </p:nvSpPr>
          <p:spPr>
            <a:xfrm>
              <a:off x="4563094" y="6598920"/>
              <a:ext cx="3065812"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Nguồn: pptx.md; quy mô cần inventory xác nhận</a:t>
              </a:r>
            </a:p>
          </p:txBody>
        </p:sp>
        <p:sp>
          <p:nvSpPr>
            <p:cNvPr id="38" name="Rectangle 38"/>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39" name="TextBox 39"/>
            <p:cNvSpPr txBox="1"/>
            <p:nvPr/>
          </p:nvSpPr>
          <p:spPr>
            <a:xfrm>
              <a:off x="11069170" y="6582728"/>
              <a:ext cx="340659"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3/13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400"/>
                                        <p:tgtEl>
                                          <p:spTgt spid="10"/>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slide(fromLeft)">
                                      <p:cBhvr>
                                        <p:cTn id="15"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3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2"/>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6115317"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Hiện trạng lab và bằng chứng đã có</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grpSp>
        <p:nvGrpSpPr>
          <p:cNvPr id="21" name="Group 21"/>
          <p:cNvGrpSpPr/>
          <p:nvPr/>
        </p:nvGrpSpPr>
        <p:grpSpPr>
          <a:xfrm>
            <a:off x="685800" y="1276350"/>
            <a:ext cx="5095875" cy="3757612"/>
            <a:chOff x="685800" y="1276350"/>
            <a:chExt cx="5095875" cy="3757612"/>
          </a:xfrm>
        </p:grpSpPr>
        <p:sp>
          <p:nvSpPr>
            <p:cNvPr id="8" name="Rectangle 8"/>
            <p:cNvSpPr/>
            <p:nvPr/>
          </p:nvSpPr>
          <p:spPr>
            <a:xfrm>
              <a:off x="685800" y="1276350"/>
              <a:ext cx="5095875" cy="466725"/>
            </a:xfrm>
            <a:prstGeom prst="rect">
              <a:avLst/>
            </a:prstGeom>
            <a:solidFill>
              <a:srgbClr val="F2F2F2"/>
            </a:solidFill>
            <a:ln>
              <a:noFill/>
            </a:ln>
          </p:spPr>
          <p:txBody>
            <a:bodyPr/>
            <a:lstStyle/>
            <a:p>
              <a:endParaRPr lang="en-US"/>
            </a:p>
          </p:txBody>
        </p:sp>
        <p:sp>
          <p:nvSpPr>
            <p:cNvPr id="9" name="TextBox 9"/>
            <p:cNvSpPr txBox="1"/>
            <p:nvPr/>
          </p:nvSpPr>
          <p:spPr>
            <a:xfrm>
              <a:off x="857250" y="1419225"/>
              <a:ext cx="2660428" cy="304800"/>
            </a:xfrm>
            <a:prstGeom prst="rect">
              <a:avLst/>
            </a:prstGeom>
            <a:noFill/>
            <a:ln>
              <a:noFill/>
            </a:ln>
          </p:spPr>
          <p:txBody>
            <a:bodyPr wrap="none" lIns="0" tIns="0" rIns="0" bIns="0" anchor="t" anchorCtr="0">
              <a:spAutoFit/>
            </a:bodyPr>
            <a:lstStyle/>
            <a:p>
              <a:pPr algn="l"/>
              <a:r>
                <a:rPr lang="zh-CN" sz="1500" dirty="0">
                  <a:solidFill>
                    <a:srgbClr val="000000"/>
                  </a:solidFill>
                  <a:latin typeface="FS Magistral Bold"/>
                  <a:ea typeface="FS Magistral Bold"/>
                  <a:cs typeface="FS Magistral Bold"/>
                </a:rPr>
                <a:t>Hiện trạng được báo cáo</a:t>
              </a:r>
            </a:p>
          </p:txBody>
        </p:sp>
        <p:sp>
          <p:nvSpPr>
            <p:cNvPr id="10" name="TextBox 10"/>
            <p:cNvSpPr txBox="1"/>
            <p:nvPr/>
          </p:nvSpPr>
          <p:spPr>
            <a:xfrm>
              <a:off x="859155" y="1949768"/>
              <a:ext cx="2903077"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Môi trường: Ceph qua cephadm</a:t>
              </a:r>
            </a:p>
          </p:txBody>
        </p:sp>
        <p:sp>
          <p:nvSpPr>
            <p:cNvPr id="11" name="Line 11"/>
            <p:cNvSpPr/>
            <p:nvPr/>
          </p:nvSpPr>
          <p:spPr>
            <a:xfrm>
              <a:off x="685800" y="2305050"/>
              <a:ext cx="5095875" cy="9525"/>
            </a:xfrm>
            <a:custGeom>
              <a:avLst/>
              <a:gdLst/>
              <a:ahLst/>
              <a:cxnLst/>
              <a:rect l="l" t="t" r="r" b="b"/>
              <a:pathLst>
                <a:path w="5095875" h="9525">
                  <a:moveTo>
                    <a:pt x="0" y="0"/>
                  </a:moveTo>
                  <a:lnTo>
                    <a:pt x="5095875" y="0"/>
                  </a:lnTo>
                </a:path>
              </a:pathLst>
            </a:custGeom>
            <a:noFill/>
            <a:ln w="9525">
              <a:solidFill>
                <a:srgbClr val="E6E6E6"/>
              </a:solidFill>
            </a:ln>
          </p:spPr>
          <p:txBody>
            <a:bodyPr/>
            <a:lstStyle/>
            <a:p>
              <a:endParaRPr lang="en-US"/>
            </a:p>
          </p:txBody>
        </p:sp>
        <p:sp>
          <p:nvSpPr>
            <p:cNvPr id="12" name="TextBox 12"/>
            <p:cNvSpPr txBox="1"/>
            <p:nvPr/>
          </p:nvSpPr>
          <p:spPr>
            <a:xfrm>
              <a:off x="859155" y="2511742"/>
              <a:ext cx="287350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PA1: baseline, spare, mapping</a:t>
              </a:r>
            </a:p>
          </p:txBody>
        </p:sp>
        <p:sp>
          <p:nvSpPr>
            <p:cNvPr id="13" name="Line 13"/>
            <p:cNvSpPr/>
            <p:nvPr/>
          </p:nvSpPr>
          <p:spPr>
            <a:xfrm>
              <a:off x="685800" y="2867025"/>
              <a:ext cx="5095875" cy="9525"/>
            </a:xfrm>
            <a:custGeom>
              <a:avLst/>
              <a:gdLst/>
              <a:ahLst/>
              <a:cxnLst/>
              <a:rect l="l" t="t" r="r" b="b"/>
              <a:pathLst>
                <a:path w="5095875" h="9525">
                  <a:moveTo>
                    <a:pt x="0" y="0"/>
                  </a:moveTo>
                  <a:lnTo>
                    <a:pt x="5095875" y="0"/>
                  </a:lnTo>
                </a:path>
              </a:pathLst>
            </a:custGeom>
            <a:noFill/>
            <a:ln w="9525">
              <a:solidFill>
                <a:srgbClr val="E6E6E6"/>
              </a:solidFill>
            </a:ln>
          </p:spPr>
          <p:txBody>
            <a:bodyPr/>
            <a:lstStyle/>
            <a:p>
              <a:endParaRPr lang="en-US"/>
            </a:p>
          </p:txBody>
        </p:sp>
        <p:sp>
          <p:nvSpPr>
            <p:cNvPr id="14" name="TextBox 14"/>
            <p:cNvSpPr txBox="1"/>
            <p:nvPr/>
          </p:nvSpPr>
          <p:spPr>
            <a:xfrm>
              <a:off x="859155" y="3073718"/>
              <a:ext cx="2479167"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Một OSD: 16.2.5 → 16.2.15</a:t>
              </a:r>
            </a:p>
          </p:txBody>
        </p:sp>
        <p:sp>
          <p:nvSpPr>
            <p:cNvPr id="15" name="Line 15"/>
            <p:cNvSpPr/>
            <p:nvPr/>
          </p:nvSpPr>
          <p:spPr>
            <a:xfrm>
              <a:off x="685800" y="3429000"/>
              <a:ext cx="5095875" cy="9525"/>
            </a:xfrm>
            <a:custGeom>
              <a:avLst/>
              <a:gdLst/>
              <a:ahLst/>
              <a:cxnLst/>
              <a:rect l="l" t="t" r="r" b="b"/>
              <a:pathLst>
                <a:path w="5095875" h="9525">
                  <a:moveTo>
                    <a:pt x="0" y="0"/>
                  </a:moveTo>
                  <a:lnTo>
                    <a:pt x="5095875" y="0"/>
                  </a:lnTo>
                </a:path>
              </a:pathLst>
            </a:custGeom>
            <a:noFill/>
            <a:ln w="9525">
              <a:solidFill>
                <a:srgbClr val="E6E6E6"/>
              </a:solidFill>
            </a:ln>
          </p:spPr>
          <p:txBody>
            <a:bodyPr/>
            <a:lstStyle/>
            <a:p>
              <a:endParaRPr lang="en-US"/>
            </a:p>
          </p:txBody>
        </p:sp>
        <p:sp>
          <p:nvSpPr>
            <p:cNvPr id="16" name="TextBox 16"/>
            <p:cNvSpPr txBox="1"/>
            <p:nvPr/>
          </p:nvSpPr>
          <p:spPr>
            <a:xfrm>
              <a:off x="859155" y="3635692"/>
              <a:ext cx="2469309"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Checksum: 16/16 mẫu khớp</a:t>
              </a:r>
            </a:p>
          </p:txBody>
        </p:sp>
        <p:sp>
          <p:nvSpPr>
            <p:cNvPr id="17" name="Line 17"/>
            <p:cNvSpPr/>
            <p:nvPr/>
          </p:nvSpPr>
          <p:spPr>
            <a:xfrm>
              <a:off x="685800" y="3990975"/>
              <a:ext cx="5095875" cy="9525"/>
            </a:xfrm>
            <a:custGeom>
              <a:avLst/>
              <a:gdLst/>
              <a:ahLst/>
              <a:cxnLst/>
              <a:rect l="l" t="t" r="r" b="b"/>
              <a:pathLst>
                <a:path w="5095875" h="9525">
                  <a:moveTo>
                    <a:pt x="0" y="0"/>
                  </a:moveTo>
                  <a:lnTo>
                    <a:pt x="5095875" y="0"/>
                  </a:lnTo>
                </a:path>
              </a:pathLst>
            </a:custGeom>
            <a:noFill/>
            <a:ln w="9525">
              <a:solidFill>
                <a:srgbClr val="E6E6E6"/>
              </a:solidFill>
            </a:ln>
          </p:spPr>
          <p:txBody>
            <a:bodyPr/>
            <a:lstStyle/>
            <a:p>
              <a:endParaRPr lang="en-US"/>
            </a:p>
          </p:txBody>
        </p:sp>
        <p:sp>
          <p:nvSpPr>
            <p:cNvPr id="18" name="TextBox 18"/>
            <p:cNvSpPr txBox="1"/>
            <p:nvPr/>
          </p:nvSpPr>
          <p:spPr>
            <a:xfrm>
              <a:off x="859155" y="4197668"/>
              <a:ext cx="2597468"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Đã thử OSD trước MON/MGR</a:t>
              </a:r>
            </a:p>
          </p:txBody>
        </p:sp>
        <p:sp>
          <p:nvSpPr>
            <p:cNvPr id="19" name="Line 19"/>
            <p:cNvSpPr/>
            <p:nvPr/>
          </p:nvSpPr>
          <p:spPr>
            <a:xfrm>
              <a:off x="685800" y="4552950"/>
              <a:ext cx="5095875" cy="9525"/>
            </a:xfrm>
            <a:custGeom>
              <a:avLst/>
              <a:gdLst/>
              <a:ahLst/>
              <a:cxnLst/>
              <a:rect l="l" t="t" r="r" b="b"/>
              <a:pathLst>
                <a:path w="5095875" h="9525">
                  <a:moveTo>
                    <a:pt x="0" y="0"/>
                  </a:moveTo>
                  <a:lnTo>
                    <a:pt x="5095875" y="0"/>
                  </a:lnTo>
                </a:path>
              </a:pathLst>
            </a:custGeom>
            <a:noFill/>
            <a:ln w="9525">
              <a:solidFill>
                <a:srgbClr val="E6E6E6"/>
              </a:solidFill>
            </a:ln>
          </p:spPr>
          <p:txBody>
            <a:bodyPr/>
            <a:lstStyle/>
            <a:p>
              <a:endParaRPr lang="en-US"/>
            </a:p>
          </p:txBody>
        </p:sp>
        <p:sp>
          <p:nvSpPr>
            <p:cNvPr id="20" name="TextBox 20"/>
            <p:cNvSpPr txBox="1"/>
            <p:nvPr/>
          </p:nvSpPr>
          <p:spPr>
            <a:xfrm>
              <a:off x="859155" y="4759642"/>
              <a:ext cx="1938928" cy="274320"/>
            </a:xfrm>
            <a:prstGeom prst="rect">
              <a:avLst/>
            </a:prstGeom>
            <a:noFill/>
            <a:ln>
              <a:noFill/>
            </a:ln>
          </p:spPr>
          <p:txBody>
            <a:bodyPr wrap="none" lIns="0" tIns="0" rIns="0" bIns="0" anchor="t" anchorCtr="0">
              <a:spAutoFit/>
            </a:bodyPr>
            <a:lstStyle/>
            <a:p>
              <a:pPr algn="l"/>
              <a:r>
                <a:rPr lang="zh-CN" sz="1350" dirty="0">
                  <a:solidFill>
                    <a:srgbClr val="EE0033"/>
                  </a:solidFill>
                  <a:latin typeface="FS Magistral Bold"/>
                  <a:ea typeface="FS Magistral Bold"/>
                  <a:cs typeface="FS Magistral Bold"/>
                </a:rPr>
                <a:t>H0: chưa triển khai</a:t>
              </a:r>
            </a:p>
          </p:txBody>
        </p:sp>
      </p:grpSp>
      <p:sp>
        <p:nvSpPr>
          <p:cNvPr id="34" name="Rectangle 34"/>
          <p:cNvSpPr/>
          <p:nvPr/>
        </p:nvSpPr>
        <p:spPr>
          <a:xfrm>
            <a:off x="685800" y="5448300"/>
            <a:ext cx="10820400" cy="485775"/>
          </a:xfrm>
          <a:prstGeom prst="rect">
            <a:avLst/>
          </a:prstGeom>
          <a:solidFill>
            <a:srgbClr val="F2F2F2"/>
          </a:solidFill>
          <a:ln>
            <a:noFill/>
          </a:ln>
        </p:spPr>
        <p:txBody>
          <a:bodyPr/>
          <a:lstStyle/>
          <a:p>
            <a:endParaRPr lang="en-US"/>
          </a:p>
        </p:txBody>
      </p:sp>
      <p:sp>
        <p:nvSpPr>
          <p:cNvPr id="35" name="Rectangle 35"/>
          <p:cNvSpPr/>
          <p:nvPr/>
        </p:nvSpPr>
        <p:spPr>
          <a:xfrm>
            <a:off x="685800" y="5448300"/>
            <a:ext cx="66675" cy="485775"/>
          </a:xfrm>
          <a:prstGeom prst="rect">
            <a:avLst/>
          </a:prstGeom>
          <a:solidFill>
            <a:srgbClr val="F46A25"/>
          </a:solidFill>
          <a:ln>
            <a:noFill/>
          </a:ln>
        </p:spPr>
        <p:txBody>
          <a:bodyPr/>
          <a:lstStyle/>
          <a:p>
            <a:endParaRPr lang="en-US"/>
          </a:p>
        </p:txBody>
      </p:sp>
      <p:sp>
        <p:nvSpPr>
          <p:cNvPr id="36" name="TextBox 36"/>
          <p:cNvSpPr txBox="1"/>
          <p:nvPr/>
        </p:nvSpPr>
        <p:spPr>
          <a:xfrm>
            <a:off x="897255" y="5616892"/>
            <a:ext cx="724914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Kết quả chỉ thuộc phạm vi thử nghiệm một OSD; cần log gốc để đối chiếu.</a:t>
            </a:r>
          </a:p>
        </p:txBody>
      </p:sp>
      <p:grpSp>
        <p:nvGrpSpPr>
          <p:cNvPr id="43" name="Group 43"/>
          <p:cNvGrpSpPr/>
          <p:nvPr/>
        </p:nvGrpSpPr>
        <p:grpSpPr>
          <a:xfrm>
            <a:off x="0" y="6419850"/>
            <a:ext cx="12192000" cy="438150"/>
            <a:chOff x="0" y="6419850"/>
            <a:chExt cx="12192000" cy="438150"/>
          </a:xfrm>
        </p:grpSpPr>
        <p:sp>
          <p:nvSpPr>
            <p:cNvPr id="37" name="Rectangle 37"/>
            <p:cNvSpPr/>
            <p:nvPr/>
          </p:nvSpPr>
          <p:spPr>
            <a:xfrm>
              <a:off x="0" y="6419850"/>
              <a:ext cx="12192000" cy="438150"/>
            </a:xfrm>
            <a:prstGeom prst="rect">
              <a:avLst/>
            </a:prstGeom>
            <a:solidFill>
              <a:srgbClr val="F2F2F2"/>
            </a:solidFill>
            <a:ln>
              <a:noFill/>
            </a:ln>
          </p:spPr>
          <p:txBody>
            <a:bodyPr/>
            <a:lstStyle/>
            <a:p>
              <a:endParaRPr lang="en-US"/>
            </a:p>
          </p:txBody>
        </p:sp>
        <p:sp>
          <p:nvSpPr>
            <p:cNvPr id="38" name="Rectangle 38"/>
            <p:cNvSpPr/>
            <p:nvPr/>
          </p:nvSpPr>
          <p:spPr>
            <a:xfrm>
              <a:off x="0" y="6419850"/>
              <a:ext cx="76200" cy="438150"/>
            </a:xfrm>
            <a:prstGeom prst="rect">
              <a:avLst/>
            </a:prstGeom>
            <a:solidFill>
              <a:srgbClr val="EE0033"/>
            </a:solidFill>
            <a:ln>
              <a:noFill/>
            </a:ln>
          </p:spPr>
          <p:txBody>
            <a:bodyPr/>
            <a:lstStyle/>
            <a:p>
              <a:endParaRPr lang="en-US"/>
            </a:p>
          </p:txBody>
        </p:sp>
        <p:sp>
          <p:nvSpPr>
            <p:cNvPr id="39" name="TextBox 39"/>
            <p:cNvSpPr txBox="1"/>
            <p:nvPr/>
          </p:nvSpPr>
          <p:spPr>
            <a:xfrm>
              <a:off x="597218" y="6590824"/>
              <a:ext cx="1014436"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HIỆN TRẠNG LAB</a:t>
              </a:r>
            </a:p>
          </p:txBody>
        </p:sp>
        <p:sp>
          <p:nvSpPr>
            <p:cNvPr id="40" name="TextBox 40"/>
            <p:cNvSpPr txBox="1"/>
            <p:nvPr/>
          </p:nvSpPr>
          <p:spPr>
            <a:xfrm>
              <a:off x="4881848" y="6598920"/>
              <a:ext cx="2428303"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Nguồn: pptx.md; Báo cáo Ceph 12 slide</a:t>
              </a:r>
            </a:p>
          </p:txBody>
        </p:sp>
        <p:sp>
          <p:nvSpPr>
            <p:cNvPr id="41" name="Rectangle 41"/>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42" name="TextBox 42"/>
            <p:cNvSpPr txBox="1"/>
            <p:nvPr/>
          </p:nvSpPr>
          <p:spPr>
            <a:xfrm>
              <a:off x="11069170" y="6582728"/>
              <a:ext cx="340659"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4/13</a:t>
              </a:r>
            </a:p>
          </p:txBody>
        </p:sp>
      </p:grpSp>
      <p:pic>
        <p:nvPicPr>
          <p:cNvPr id="46" name="Picture 45">
            <a:extLst>
              <a:ext uri="{FF2B5EF4-FFF2-40B4-BE49-F238E27FC236}">
                <a16:creationId xmlns:a16="http://schemas.microsoft.com/office/drawing/2014/main" id="{1713D0F0-99B3-C632-97AF-6E7DD271FA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81675" y="1263649"/>
            <a:ext cx="5943600" cy="32988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randombar(horizontal)">
                                      <p:cBhvr>
                                        <p:cTn id="11"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2"/>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5305616"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Web kiểm thử RBD/RGW hiện có</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grpSp>
        <p:nvGrpSpPr>
          <p:cNvPr id="14" name="Group 14"/>
          <p:cNvGrpSpPr/>
          <p:nvPr/>
        </p:nvGrpSpPr>
        <p:grpSpPr>
          <a:xfrm>
            <a:off x="664845" y="1260158"/>
            <a:ext cx="5240655" cy="3459480"/>
            <a:chOff x="664845" y="1260158"/>
            <a:chExt cx="5240655" cy="3459480"/>
          </a:xfrm>
        </p:grpSpPr>
        <p:sp>
          <p:nvSpPr>
            <p:cNvPr id="8" name="TextBox 8"/>
            <p:cNvSpPr txBox="1"/>
            <p:nvPr/>
          </p:nvSpPr>
          <p:spPr>
            <a:xfrm>
              <a:off x="664845" y="1260158"/>
              <a:ext cx="510019" cy="335280"/>
            </a:xfrm>
            <a:prstGeom prst="rect">
              <a:avLst/>
            </a:prstGeom>
            <a:noFill/>
            <a:ln>
              <a:noFill/>
            </a:ln>
          </p:spPr>
          <p:txBody>
            <a:bodyPr wrap="none" lIns="0" tIns="0" rIns="0" bIns="0" anchor="t" anchorCtr="0">
              <a:spAutoFit/>
            </a:bodyPr>
            <a:lstStyle/>
            <a:p>
              <a:pPr algn="l"/>
              <a:r>
                <a:rPr lang="zh-CN" sz="1650" dirty="0">
                  <a:solidFill>
                    <a:srgbClr val="EE0033"/>
                  </a:solidFill>
                  <a:latin typeface="FS Magistral Bold"/>
                  <a:ea typeface="FS Magistral Bold"/>
                  <a:cs typeface="FS Magistral Bold"/>
                </a:rPr>
                <a:t>RGW</a:t>
              </a:r>
            </a:p>
          </p:txBody>
        </p:sp>
        <p:sp>
          <p:nvSpPr>
            <p:cNvPr id="9" name="Rectangle 9"/>
            <p:cNvSpPr/>
            <p:nvPr/>
          </p:nvSpPr>
          <p:spPr>
            <a:xfrm>
              <a:off x="685800" y="1657350"/>
              <a:ext cx="5219700" cy="2238375"/>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9525">
              <a:solidFill>
                <a:srgbClr val="999999"/>
              </a:solidFill>
              <a:custDash>
                <a:ds d="800000" sp="600000"/>
              </a:custDash>
            </a:ln>
          </p:spPr>
          <p:txBody>
            <a:bodyPr/>
            <a:lstStyle/>
            <a:p>
              <a:endParaRPr lang="en-US"/>
            </a:p>
          </p:txBody>
        </p:sp>
        <p:sp>
          <p:nvSpPr>
            <p:cNvPr id="12" name="TextBox 12"/>
            <p:cNvSpPr txBox="1"/>
            <p:nvPr/>
          </p:nvSpPr>
          <p:spPr>
            <a:xfrm>
              <a:off x="668655" y="4150042"/>
              <a:ext cx="323826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Workload · pause / resume / stop</a:t>
              </a:r>
            </a:p>
          </p:txBody>
        </p:sp>
        <p:sp>
          <p:nvSpPr>
            <p:cNvPr id="13" name="TextBox 13"/>
            <p:cNvSpPr txBox="1"/>
            <p:nvPr/>
          </p:nvSpPr>
          <p:spPr>
            <a:xfrm>
              <a:off x="668655" y="4445318"/>
              <a:ext cx="2922794"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Telemetry và kết quả từng run</a:t>
              </a:r>
            </a:p>
          </p:txBody>
        </p:sp>
      </p:grpSp>
      <p:grpSp>
        <p:nvGrpSpPr>
          <p:cNvPr id="21" name="Group 21"/>
          <p:cNvGrpSpPr/>
          <p:nvPr/>
        </p:nvGrpSpPr>
        <p:grpSpPr>
          <a:xfrm>
            <a:off x="6265545" y="1260158"/>
            <a:ext cx="5240655" cy="3459480"/>
            <a:chOff x="6265545" y="1260158"/>
            <a:chExt cx="5240655" cy="3459480"/>
          </a:xfrm>
        </p:grpSpPr>
        <p:sp>
          <p:nvSpPr>
            <p:cNvPr id="15" name="TextBox 15"/>
            <p:cNvSpPr txBox="1"/>
            <p:nvPr/>
          </p:nvSpPr>
          <p:spPr>
            <a:xfrm>
              <a:off x="6265545" y="1260158"/>
              <a:ext cx="459412" cy="335280"/>
            </a:xfrm>
            <a:prstGeom prst="rect">
              <a:avLst/>
            </a:prstGeom>
            <a:noFill/>
            <a:ln>
              <a:noFill/>
            </a:ln>
          </p:spPr>
          <p:txBody>
            <a:bodyPr wrap="none" lIns="0" tIns="0" rIns="0" bIns="0" anchor="t" anchorCtr="0">
              <a:spAutoFit/>
            </a:bodyPr>
            <a:lstStyle/>
            <a:p>
              <a:pPr algn="l"/>
              <a:r>
                <a:rPr lang="zh-CN" sz="1650" dirty="0">
                  <a:solidFill>
                    <a:srgbClr val="EE0033"/>
                  </a:solidFill>
                  <a:latin typeface="FS Magistral Bold"/>
                  <a:ea typeface="FS Magistral Bold"/>
                  <a:cs typeface="FS Magistral Bold"/>
                </a:rPr>
                <a:t>RBD</a:t>
              </a:r>
            </a:p>
          </p:txBody>
        </p:sp>
        <p:sp>
          <p:nvSpPr>
            <p:cNvPr id="16" name="Rectangle 16"/>
            <p:cNvSpPr/>
            <p:nvPr/>
          </p:nvSpPr>
          <p:spPr>
            <a:xfrm>
              <a:off x="6286500" y="1657350"/>
              <a:ext cx="5219700" cy="2238375"/>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9525">
              <a:solidFill>
                <a:srgbClr val="999999"/>
              </a:solidFill>
              <a:custDash>
                <a:ds d="800000" sp="600000"/>
              </a:custDash>
            </a:ln>
          </p:spPr>
          <p:txBody>
            <a:bodyPr/>
            <a:lstStyle/>
            <a:p>
              <a:endParaRPr lang="en-US"/>
            </a:p>
          </p:txBody>
        </p:sp>
        <p:sp>
          <p:nvSpPr>
            <p:cNvPr id="19" name="TextBox 19"/>
            <p:cNvSpPr txBox="1"/>
            <p:nvPr/>
          </p:nvSpPr>
          <p:spPr>
            <a:xfrm>
              <a:off x="6269355" y="4150042"/>
              <a:ext cx="4302966"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Vòng đời tài nguyên · file browser · terminal</a:t>
              </a:r>
            </a:p>
          </p:txBody>
        </p:sp>
        <p:sp>
          <p:nvSpPr>
            <p:cNvPr id="20" name="TextBox 20"/>
            <p:cNvSpPr txBox="1"/>
            <p:nvPr/>
          </p:nvSpPr>
          <p:spPr>
            <a:xfrm>
              <a:off x="6269355" y="4445318"/>
              <a:ext cx="280449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Baseline và verify dữ liệu file</a:t>
              </a:r>
            </a:p>
          </p:txBody>
        </p:sp>
      </p:grpSp>
      <p:grpSp>
        <p:nvGrpSpPr>
          <p:cNvPr id="33" name="Group 33"/>
          <p:cNvGrpSpPr/>
          <p:nvPr/>
        </p:nvGrpSpPr>
        <p:grpSpPr>
          <a:xfrm>
            <a:off x="0" y="6419850"/>
            <a:ext cx="12192000" cy="438150"/>
            <a:chOff x="0" y="6419850"/>
            <a:chExt cx="12192000" cy="438150"/>
          </a:xfrm>
        </p:grpSpPr>
        <p:sp>
          <p:nvSpPr>
            <p:cNvPr id="27" name="Rectangle 27"/>
            <p:cNvSpPr/>
            <p:nvPr/>
          </p:nvSpPr>
          <p:spPr>
            <a:xfrm>
              <a:off x="0" y="6419850"/>
              <a:ext cx="12192000" cy="438150"/>
            </a:xfrm>
            <a:prstGeom prst="rect">
              <a:avLst/>
            </a:prstGeom>
            <a:solidFill>
              <a:srgbClr val="F2F2F2"/>
            </a:solidFill>
            <a:ln>
              <a:noFill/>
            </a:ln>
          </p:spPr>
          <p:txBody>
            <a:bodyPr/>
            <a:lstStyle/>
            <a:p>
              <a:endParaRPr lang="en-US"/>
            </a:p>
          </p:txBody>
        </p:sp>
        <p:sp>
          <p:nvSpPr>
            <p:cNvPr id="28" name="Rectangle 28"/>
            <p:cNvSpPr/>
            <p:nvPr/>
          </p:nvSpPr>
          <p:spPr>
            <a:xfrm>
              <a:off x="0" y="6419850"/>
              <a:ext cx="76200" cy="438150"/>
            </a:xfrm>
            <a:prstGeom prst="rect">
              <a:avLst/>
            </a:prstGeom>
            <a:solidFill>
              <a:srgbClr val="EE0033"/>
            </a:solidFill>
            <a:ln>
              <a:noFill/>
            </a:ln>
          </p:spPr>
          <p:txBody>
            <a:bodyPr/>
            <a:lstStyle/>
            <a:p>
              <a:endParaRPr lang="en-US"/>
            </a:p>
          </p:txBody>
        </p:sp>
        <p:sp>
          <p:nvSpPr>
            <p:cNvPr id="29" name="TextBox 29"/>
            <p:cNvSpPr txBox="1"/>
            <p:nvPr/>
          </p:nvSpPr>
          <p:spPr>
            <a:xfrm>
              <a:off x="597218" y="6590824"/>
              <a:ext cx="914757"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WEB KIỂM THỬ</a:t>
              </a:r>
            </a:p>
          </p:txBody>
        </p:sp>
        <p:sp>
          <p:nvSpPr>
            <p:cNvPr id="30" name="TextBox 30"/>
            <p:cNvSpPr txBox="1"/>
            <p:nvPr/>
          </p:nvSpPr>
          <p:spPr>
            <a:xfrm>
              <a:off x="4750403" y="6598920"/>
              <a:ext cx="2691193"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Nguồn: bản validation 24/09; cần ảnh thật</a:t>
              </a:r>
            </a:p>
          </p:txBody>
        </p:sp>
        <p:sp>
          <p:nvSpPr>
            <p:cNvPr id="31" name="Rectangle 31"/>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32" name="TextBox 32"/>
            <p:cNvSpPr txBox="1"/>
            <p:nvPr/>
          </p:nvSpPr>
          <p:spPr>
            <a:xfrm>
              <a:off x="11069170" y="6582728"/>
              <a:ext cx="340659"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5/13</a:t>
              </a:r>
            </a:p>
          </p:txBody>
        </p:sp>
      </p:grpSp>
      <p:pic>
        <p:nvPicPr>
          <p:cNvPr id="35" name="Picture 34">
            <a:extLst>
              <a:ext uri="{FF2B5EF4-FFF2-40B4-BE49-F238E27FC236}">
                <a16:creationId xmlns:a16="http://schemas.microsoft.com/office/drawing/2014/main" id="{B402E6B6-4A05-74FA-3476-9412B6DCB2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1420" y="4814888"/>
            <a:ext cx="10129157" cy="145336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400"/>
                                        <p:tgtEl>
                                          <p:spTgt spid="14"/>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strips(downRight)">
                                      <p:cBhvr>
                                        <p:cTn id="1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7127443"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Lộ trình phiên bản và cách tổ chức nâng</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sp>
        <p:nvSpPr>
          <p:cNvPr id="8" name="TextBox 8"/>
          <p:cNvSpPr txBox="1"/>
          <p:nvPr/>
        </p:nvSpPr>
        <p:spPr>
          <a:xfrm>
            <a:off x="667702" y="1303496"/>
            <a:ext cx="7289221" cy="289560"/>
          </a:xfrm>
          <a:prstGeom prst="rect">
            <a:avLst/>
          </a:prstGeom>
          <a:noFill/>
          <a:ln>
            <a:noFill/>
          </a:ln>
        </p:spPr>
        <p:txBody>
          <a:bodyPr wrap="none" lIns="0" tIns="0" rIns="0" bIns="0" anchor="t" anchorCtr="0">
            <a:spAutoFit/>
          </a:bodyPr>
          <a:lstStyle/>
          <a:p>
            <a:pPr algn="l"/>
            <a:r>
              <a:rPr lang="zh-CN" sz="1425" dirty="0">
                <a:solidFill>
                  <a:srgbClr val="44494D"/>
                </a:solidFill>
                <a:latin typeface="FS Magistral Book"/>
                <a:ea typeface="FS Magistral Book"/>
                <a:cs typeface="FS Magistral Book"/>
              </a:rPr>
              <a:t>Ba chặng thực nghiệm trong lab; nghiệm thu toàn cluster sau mỗi chặng.</a:t>
            </a:r>
          </a:p>
        </p:txBody>
      </p:sp>
      <p:grpSp>
        <p:nvGrpSpPr>
          <p:cNvPr id="27" name="Group 27"/>
          <p:cNvGrpSpPr/>
          <p:nvPr/>
        </p:nvGrpSpPr>
        <p:grpSpPr>
          <a:xfrm>
            <a:off x="685800" y="1838325"/>
            <a:ext cx="10820400" cy="2152650"/>
            <a:chOff x="685800" y="1838325"/>
            <a:chExt cx="10820400" cy="2152650"/>
          </a:xfrm>
        </p:grpSpPr>
        <p:sp>
          <p:nvSpPr>
            <p:cNvPr id="9" name="Rectangle 9"/>
            <p:cNvSpPr/>
            <p:nvPr/>
          </p:nvSpPr>
          <p:spPr>
            <a:xfrm>
              <a:off x="685800" y="1838325"/>
              <a:ext cx="3390900" cy="2152650"/>
            </a:xfrm>
            <a:prstGeom prst="rect">
              <a:avLst/>
            </a:prstGeom>
            <a:solidFill>
              <a:srgbClr val="F2F2F2"/>
            </a:solidFill>
            <a:ln>
              <a:noFill/>
            </a:ln>
          </p:spPr>
          <p:txBody>
            <a:bodyPr/>
            <a:lstStyle/>
            <a:p>
              <a:endParaRPr lang="en-US"/>
            </a:p>
          </p:txBody>
        </p:sp>
        <p:sp>
          <p:nvSpPr>
            <p:cNvPr id="10" name="Rectangle 10"/>
            <p:cNvSpPr/>
            <p:nvPr/>
          </p:nvSpPr>
          <p:spPr>
            <a:xfrm>
              <a:off x="685800" y="1838325"/>
              <a:ext cx="3390900" cy="57150"/>
            </a:xfrm>
            <a:prstGeom prst="rect">
              <a:avLst/>
            </a:prstGeom>
            <a:solidFill>
              <a:srgbClr val="EE0033"/>
            </a:solidFill>
            <a:ln>
              <a:noFill/>
            </a:ln>
          </p:spPr>
          <p:txBody>
            <a:bodyPr/>
            <a:lstStyle/>
            <a:p>
              <a:endParaRPr lang="en-US"/>
            </a:p>
          </p:txBody>
        </p:sp>
        <p:sp>
          <p:nvSpPr>
            <p:cNvPr id="11" name="TextBox 11"/>
            <p:cNvSpPr txBox="1"/>
            <p:nvPr/>
          </p:nvSpPr>
          <p:spPr>
            <a:xfrm>
              <a:off x="872490" y="2082165"/>
              <a:ext cx="280349" cy="365760"/>
            </a:xfrm>
            <a:prstGeom prst="rect">
              <a:avLst/>
            </a:prstGeom>
            <a:noFill/>
            <a:ln>
              <a:noFill/>
            </a:ln>
          </p:spPr>
          <p:txBody>
            <a:bodyPr wrap="none" lIns="0" tIns="0" rIns="0" bIns="0" anchor="t" anchorCtr="0">
              <a:spAutoFit/>
            </a:bodyPr>
            <a:lstStyle/>
            <a:p>
              <a:pPr algn="l"/>
              <a:r>
                <a:rPr lang="zh-CN" sz="1800" dirty="0">
                  <a:solidFill>
                    <a:srgbClr val="EE0033"/>
                  </a:solidFill>
                  <a:latin typeface="FS Magistral Bold"/>
                  <a:ea typeface="FS Magistral Bold"/>
                  <a:cs typeface="FS Magistral Bold"/>
                </a:rPr>
                <a:t>U1</a:t>
              </a:r>
            </a:p>
          </p:txBody>
        </p:sp>
        <p:sp>
          <p:nvSpPr>
            <p:cNvPr id="12" name="TextBox 12"/>
            <p:cNvSpPr txBox="1"/>
            <p:nvPr/>
          </p:nvSpPr>
          <p:spPr>
            <a:xfrm>
              <a:off x="869632" y="2496026"/>
              <a:ext cx="2396003" cy="411480"/>
            </a:xfrm>
            <a:prstGeom prst="rect">
              <a:avLst/>
            </a:prstGeom>
            <a:noFill/>
            <a:ln>
              <a:noFill/>
            </a:ln>
          </p:spPr>
          <p:txBody>
            <a:bodyPr wrap="none" lIns="0" tIns="0" rIns="0" bIns="0" anchor="t" anchorCtr="0">
              <a:spAutoFit/>
            </a:bodyPr>
            <a:lstStyle/>
            <a:p>
              <a:pPr algn="l"/>
              <a:r>
                <a:rPr lang="zh-CN" sz="2025" dirty="0">
                  <a:solidFill>
                    <a:srgbClr val="000000"/>
                  </a:solidFill>
                  <a:latin typeface="FS Magistral Bold"/>
                  <a:ea typeface="FS Magistral Bold"/>
                  <a:cs typeface="FS Magistral Bold"/>
                </a:rPr>
                <a:t>16.2.5 → 16.2.15</a:t>
              </a:r>
            </a:p>
          </p:txBody>
        </p:sp>
        <p:sp>
          <p:nvSpPr>
            <p:cNvPr id="13" name="TextBox 13"/>
            <p:cNvSpPr txBox="1"/>
            <p:nvPr/>
          </p:nvSpPr>
          <p:spPr>
            <a:xfrm>
              <a:off x="878205" y="2997518"/>
              <a:ext cx="1956673"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Bản vá trong Pacific</a:t>
              </a:r>
            </a:p>
          </p:txBody>
        </p:sp>
        <p:sp>
          <p:nvSpPr>
            <p:cNvPr id="14" name="TextBox 14"/>
            <p:cNvSpPr txBox="1"/>
            <p:nvPr/>
          </p:nvSpPr>
          <p:spPr>
            <a:xfrm>
              <a:off x="880110" y="3489960"/>
              <a:ext cx="1923288"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Nghiệm thu U1 trước U2</a:t>
              </a:r>
            </a:p>
          </p:txBody>
        </p:sp>
        <p:sp>
          <p:nvSpPr>
            <p:cNvPr id="15" name="Rectangle 15"/>
            <p:cNvSpPr/>
            <p:nvPr/>
          </p:nvSpPr>
          <p:spPr>
            <a:xfrm>
              <a:off x="4400550" y="1838325"/>
              <a:ext cx="3390900" cy="2152650"/>
            </a:xfrm>
            <a:prstGeom prst="rect">
              <a:avLst/>
            </a:prstGeom>
            <a:solidFill>
              <a:srgbClr val="F2F2F2"/>
            </a:solidFill>
            <a:ln>
              <a:noFill/>
            </a:ln>
          </p:spPr>
          <p:txBody>
            <a:bodyPr/>
            <a:lstStyle/>
            <a:p>
              <a:endParaRPr lang="en-US"/>
            </a:p>
          </p:txBody>
        </p:sp>
        <p:sp>
          <p:nvSpPr>
            <p:cNvPr id="16" name="Rectangle 16"/>
            <p:cNvSpPr/>
            <p:nvPr/>
          </p:nvSpPr>
          <p:spPr>
            <a:xfrm>
              <a:off x="4400550" y="1838325"/>
              <a:ext cx="3390900" cy="57150"/>
            </a:xfrm>
            <a:prstGeom prst="rect">
              <a:avLst/>
            </a:prstGeom>
            <a:solidFill>
              <a:srgbClr val="EE0033"/>
            </a:solidFill>
            <a:ln>
              <a:noFill/>
            </a:ln>
          </p:spPr>
          <p:txBody>
            <a:bodyPr/>
            <a:lstStyle/>
            <a:p>
              <a:endParaRPr lang="en-US"/>
            </a:p>
          </p:txBody>
        </p:sp>
        <p:sp>
          <p:nvSpPr>
            <p:cNvPr id="17" name="TextBox 17"/>
            <p:cNvSpPr txBox="1"/>
            <p:nvPr/>
          </p:nvSpPr>
          <p:spPr>
            <a:xfrm>
              <a:off x="4587240" y="2082165"/>
              <a:ext cx="349358" cy="365760"/>
            </a:xfrm>
            <a:prstGeom prst="rect">
              <a:avLst/>
            </a:prstGeom>
            <a:noFill/>
            <a:ln>
              <a:noFill/>
            </a:ln>
          </p:spPr>
          <p:txBody>
            <a:bodyPr wrap="none" lIns="0" tIns="0" rIns="0" bIns="0" anchor="t" anchorCtr="0">
              <a:spAutoFit/>
            </a:bodyPr>
            <a:lstStyle/>
            <a:p>
              <a:pPr algn="l"/>
              <a:r>
                <a:rPr lang="zh-CN" sz="1800" dirty="0">
                  <a:solidFill>
                    <a:srgbClr val="EE0033"/>
                  </a:solidFill>
                  <a:latin typeface="FS Magistral Bold"/>
                  <a:ea typeface="FS Magistral Bold"/>
                  <a:cs typeface="FS Magistral Bold"/>
                </a:rPr>
                <a:t>U2</a:t>
              </a:r>
            </a:p>
          </p:txBody>
        </p:sp>
        <p:sp>
          <p:nvSpPr>
            <p:cNvPr id="18" name="TextBox 18"/>
            <p:cNvSpPr txBox="1"/>
            <p:nvPr/>
          </p:nvSpPr>
          <p:spPr>
            <a:xfrm>
              <a:off x="4584382" y="2496026"/>
              <a:ext cx="2396003" cy="411480"/>
            </a:xfrm>
            <a:prstGeom prst="rect">
              <a:avLst/>
            </a:prstGeom>
            <a:noFill/>
            <a:ln>
              <a:noFill/>
            </a:ln>
          </p:spPr>
          <p:txBody>
            <a:bodyPr wrap="none" lIns="0" tIns="0" rIns="0" bIns="0" anchor="t" anchorCtr="0">
              <a:spAutoFit/>
            </a:bodyPr>
            <a:lstStyle/>
            <a:p>
              <a:pPr algn="l"/>
              <a:r>
                <a:rPr lang="zh-CN" sz="2025" dirty="0">
                  <a:solidFill>
                    <a:srgbClr val="000000"/>
                  </a:solidFill>
                  <a:latin typeface="FS Magistral Bold"/>
                  <a:ea typeface="FS Magistral Bold"/>
                  <a:cs typeface="FS Magistral Bold"/>
                </a:rPr>
                <a:t>16.2.15 → 17.2.7</a:t>
              </a:r>
            </a:p>
          </p:txBody>
        </p:sp>
        <p:sp>
          <p:nvSpPr>
            <p:cNvPr id="19" name="TextBox 19"/>
            <p:cNvSpPr txBox="1"/>
            <p:nvPr/>
          </p:nvSpPr>
          <p:spPr>
            <a:xfrm>
              <a:off x="4592955" y="2997518"/>
              <a:ext cx="1887665"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Pacific sang Quincy</a:t>
              </a:r>
            </a:p>
          </p:txBody>
        </p:sp>
        <p:sp>
          <p:nvSpPr>
            <p:cNvPr id="20" name="TextBox 20"/>
            <p:cNvSpPr txBox="1"/>
            <p:nvPr/>
          </p:nvSpPr>
          <p:spPr>
            <a:xfrm>
              <a:off x="4594860" y="3489960"/>
              <a:ext cx="1967103"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Nghiệm thu U2 trước U3</a:t>
              </a:r>
            </a:p>
          </p:txBody>
        </p:sp>
        <p:sp>
          <p:nvSpPr>
            <p:cNvPr id="21" name="Rectangle 21"/>
            <p:cNvSpPr/>
            <p:nvPr/>
          </p:nvSpPr>
          <p:spPr>
            <a:xfrm>
              <a:off x="8115300" y="1838325"/>
              <a:ext cx="3390900" cy="2152650"/>
            </a:xfrm>
            <a:prstGeom prst="rect">
              <a:avLst/>
            </a:prstGeom>
            <a:solidFill>
              <a:srgbClr val="F2F2F2"/>
            </a:solidFill>
            <a:ln>
              <a:noFill/>
            </a:ln>
          </p:spPr>
          <p:txBody>
            <a:bodyPr/>
            <a:lstStyle/>
            <a:p>
              <a:endParaRPr lang="en-US"/>
            </a:p>
          </p:txBody>
        </p:sp>
        <p:sp>
          <p:nvSpPr>
            <p:cNvPr id="22" name="Rectangle 22"/>
            <p:cNvSpPr/>
            <p:nvPr/>
          </p:nvSpPr>
          <p:spPr>
            <a:xfrm>
              <a:off x="8115300" y="1838325"/>
              <a:ext cx="3390900" cy="57150"/>
            </a:xfrm>
            <a:prstGeom prst="rect">
              <a:avLst/>
            </a:prstGeom>
            <a:solidFill>
              <a:srgbClr val="EE0033"/>
            </a:solidFill>
            <a:ln>
              <a:noFill/>
            </a:ln>
          </p:spPr>
          <p:txBody>
            <a:bodyPr/>
            <a:lstStyle/>
            <a:p>
              <a:endParaRPr lang="en-US"/>
            </a:p>
          </p:txBody>
        </p:sp>
        <p:sp>
          <p:nvSpPr>
            <p:cNvPr id="23" name="TextBox 23"/>
            <p:cNvSpPr txBox="1"/>
            <p:nvPr/>
          </p:nvSpPr>
          <p:spPr>
            <a:xfrm>
              <a:off x="8301990" y="2082165"/>
              <a:ext cx="349358" cy="365760"/>
            </a:xfrm>
            <a:prstGeom prst="rect">
              <a:avLst/>
            </a:prstGeom>
            <a:noFill/>
            <a:ln>
              <a:noFill/>
            </a:ln>
          </p:spPr>
          <p:txBody>
            <a:bodyPr wrap="none" lIns="0" tIns="0" rIns="0" bIns="0" anchor="t" anchorCtr="0">
              <a:spAutoFit/>
            </a:bodyPr>
            <a:lstStyle/>
            <a:p>
              <a:pPr algn="l"/>
              <a:r>
                <a:rPr lang="zh-CN" sz="1800" dirty="0">
                  <a:solidFill>
                    <a:srgbClr val="EE0033"/>
                  </a:solidFill>
                  <a:latin typeface="FS Magistral Bold"/>
                  <a:ea typeface="FS Magistral Bold"/>
                  <a:cs typeface="FS Magistral Bold"/>
                </a:rPr>
                <a:t>U3</a:t>
              </a:r>
            </a:p>
          </p:txBody>
        </p:sp>
        <p:sp>
          <p:nvSpPr>
            <p:cNvPr id="24" name="TextBox 24"/>
            <p:cNvSpPr txBox="1"/>
            <p:nvPr/>
          </p:nvSpPr>
          <p:spPr>
            <a:xfrm>
              <a:off x="8299132" y="2496026"/>
              <a:ext cx="2302841" cy="411480"/>
            </a:xfrm>
            <a:prstGeom prst="rect">
              <a:avLst/>
            </a:prstGeom>
            <a:noFill/>
            <a:ln>
              <a:noFill/>
            </a:ln>
          </p:spPr>
          <p:txBody>
            <a:bodyPr wrap="none" lIns="0" tIns="0" rIns="0" bIns="0" anchor="t" anchorCtr="0">
              <a:spAutoFit/>
            </a:bodyPr>
            <a:lstStyle/>
            <a:p>
              <a:pPr algn="l"/>
              <a:r>
                <a:rPr lang="zh-CN" sz="2025" dirty="0">
                  <a:solidFill>
                    <a:srgbClr val="000000"/>
                  </a:solidFill>
                  <a:latin typeface="FS Magistral Bold"/>
                  <a:ea typeface="FS Magistral Bold"/>
                  <a:cs typeface="FS Magistral Bold"/>
                </a:rPr>
                <a:t>17.2.7 → 18.2.7</a:t>
              </a:r>
            </a:p>
          </p:txBody>
        </p:sp>
        <p:sp>
          <p:nvSpPr>
            <p:cNvPr id="25" name="TextBox 25"/>
            <p:cNvSpPr txBox="1"/>
            <p:nvPr/>
          </p:nvSpPr>
          <p:spPr>
            <a:xfrm>
              <a:off x="8307705" y="2997518"/>
              <a:ext cx="1660922"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Quincy sang Reef</a:t>
              </a:r>
            </a:p>
          </p:txBody>
        </p:sp>
        <p:sp>
          <p:nvSpPr>
            <p:cNvPr id="26" name="TextBox 26"/>
            <p:cNvSpPr txBox="1"/>
            <p:nvPr/>
          </p:nvSpPr>
          <p:spPr>
            <a:xfrm>
              <a:off x="8309610" y="3489960"/>
              <a:ext cx="2615565"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Đánh giá đích production riêng</a:t>
              </a:r>
            </a:p>
          </p:txBody>
        </p:sp>
      </p:grpSp>
      <p:grpSp>
        <p:nvGrpSpPr>
          <p:cNvPr id="33" name="Group 33"/>
          <p:cNvGrpSpPr/>
          <p:nvPr/>
        </p:nvGrpSpPr>
        <p:grpSpPr>
          <a:xfrm>
            <a:off x="666750" y="4391025"/>
            <a:ext cx="10839450" cy="1457325"/>
            <a:chOff x="666750" y="4391025"/>
            <a:chExt cx="10839450" cy="1457325"/>
          </a:xfrm>
        </p:grpSpPr>
        <p:sp>
          <p:nvSpPr>
            <p:cNvPr id="28" name="TextBox 28"/>
            <p:cNvSpPr txBox="1"/>
            <p:nvPr/>
          </p:nvSpPr>
          <p:spPr>
            <a:xfrm>
              <a:off x="666750" y="4391025"/>
              <a:ext cx="1441275" cy="304800"/>
            </a:xfrm>
            <a:prstGeom prst="rect">
              <a:avLst/>
            </a:prstGeom>
            <a:noFill/>
            <a:ln>
              <a:noFill/>
            </a:ln>
          </p:spPr>
          <p:txBody>
            <a:bodyPr wrap="none" lIns="0" tIns="0" rIns="0" bIns="0" anchor="t" anchorCtr="0">
              <a:spAutoFit/>
            </a:bodyPr>
            <a:lstStyle/>
            <a:p>
              <a:pPr algn="l"/>
              <a:r>
                <a:rPr lang="zh-CN" sz="1500" dirty="0">
                  <a:solidFill>
                    <a:srgbClr val="000000"/>
                  </a:solidFill>
                  <a:latin typeface="FS Magistral Bold"/>
                  <a:ea typeface="FS Magistral Bold"/>
                  <a:cs typeface="FS Magistral Bold"/>
                </a:rPr>
                <a:t>Cách tổ chức</a:t>
              </a:r>
            </a:p>
          </p:txBody>
        </p:sp>
        <p:sp>
          <p:nvSpPr>
            <p:cNvPr id="29" name="TextBox 29"/>
            <p:cNvSpPr txBox="1"/>
            <p:nvPr/>
          </p:nvSpPr>
          <p:spPr>
            <a:xfrm>
              <a:off x="668655" y="4740592"/>
              <a:ext cx="6609826" cy="274320"/>
            </a:xfrm>
            <a:prstGeom prst="rect">
              <a:avLst/>
            </a:prstGeom>
            <a:noFill/>
            <a:ln>
              <a:noFill/>
            </a:ln>
          </p:spPr>
          <p:txBody>
            <a:bodyPr wrap="none" lIns="0" tIns="0" rIns="0" bIns="0" anchor="t" anchorCtr="0">
              <a:spAutoFit/>
            </a:bodyPr>
            <a:lstStyle/>
            <a:p>
              <a:pPr algn="l"/>
              <a:r>
                <a:rPr lang="zh-CN" sz="1350" dirty="0">
                  <a:solidFill>
                    <a:srgbClr val="44494D"/>
                  </a:solidFill>
                  <a:latin typeface="FS Magistral Book"/>
                  <a:ea typeface="FS Magistral Book"/>
                  <a:cs typeface="FS Magistral Book"/>
                </a:rPr>
                <a:t>Rolling upgrade, chia đợt; pha OSD áp dụng PA1 và canary theo scope.</a:t>
              </a:r>
            </a:p>
          </p:txBody>
        </p:sp>
        <p:sp>
          <p:nvSpPr>
            <p:cNvPr id="30" name="Rectangle 30"/>
            <p:cNvSpPr/>
            <p:nvPr/>
          </p:nvSpPr>
          <p:spPr>
            <a:xfrm>
              <a:off x="685800" y="5257800"/>
              <a:ext cx="10820400" cy="590550"/>
            </a:xfrm>
            <a:prstGeom prst="rect">
              <a:avLst/>
            </a:prstGeom>
            <a:solidFill>
              <a:srgbClr val="F2F2F2"/>
            </a:solidFill>
            <a:ln>
              <a:noFill/>
            </a:ln>
          </p:spPr>
          <p:txBody>
            <a:bodyPr/>
            <a:lstStyle/>
            <a:p>
              <a:endParaRPr lang="en-US"/>
            </a:p>
          </p:txBody>
        </p:sp>
        <p:sp>
          <p:nvSpPr>
            <p:cNvPr id="31" name="Rectangle 31"/>
            <p:cNvSpPr/>
            <p:nvPr/>
          </p:nvSpPr>
          <p:spPr>
            <a:xfrm>
              <a:off x="685800" y="5257800"/>
              <a:ext cx="66675" cy="590550"/>
            </a:xfrm>
            <a:prstGeom prst="rect">
              <a:avLst/>
            </a:prstGeom>
            <a:solidFill>
              <a:srgbClr val="28A197"/>
            </a:solidFill>
            <a:ln>
              <a:noFill/>
            </a:ln>
          </p:spPr>
          <p:txBody>
            <a:bodyPr/>
            <a:lstStyle/>
            <a:p>
              <a:endParaRPr lang="en-US"/>
            </a:p>
          </p:txBody>
        </p:sp>
        <p:sp>
          <p:nvSpPr>
            <p:cNvPr id="32" name="TextBox 32"/>
            <p:cNvSpPr txBox="1"/>
            <p:nvPr/>
          </p:nvSpPr>
          <p:spPr>
            <a:xfrm>
              <a:off x="896302" y="5475446"/>
              <a:ext cx="7979663" cy="289560"/>
            </a:xfrm>
            <a:prstGeom prst="rect">
              <a:avLst/>
            </a:prstGeom>
            <a:noFill/>
            <a:ln>
              <a:noFill/>
            </a:ln>
          </p:spPr>
          <p:txBody>
            <a:bodyPr wrap="none" lIns="0" tIns="0" rIns="0" bIns="0" anchor="t" anchorCtr="0">
              <a:spAutoFit/>
            </a:bodyPr>
            <a:lstStyle/>
            <a:p>
              <a:pPr algn="l"/>
              <a:r>
                <a:rPr lang="zh-CN" sz="1425" dirty="0">
                  <a:solidFill>
                    <a:srgbClr val="000000"/>
                  </a:solidFill>
                  <a:latin typeface="FS Magistral Bold"/>
                  <a:ea typeface="FS Magistral Bold"/>
                  <a:cs typeface="FS Magistral Bold"/>
                </a:rPr>
                <a:t>Qua chặng: đúng phiên bản, dịch vụ hoạt động, dữ liệu và QoS đạt tiêu chí.</a:t>
              </a:r>
            </a:p>
          </p:txBody>
        </p:sp>
      </p:grpSp>
      <p:grpSp>
        <p:nvGrpSpPr>
          <p:cNvPr id="40" name="Group 40"/>
          <p:cNvGrpSpPr/>
          <p:nvPr/>
        </p:nvGrpSpPr>
        <p:grpSpPr>
          <a:xfrm>
            <a:off x="0" y="6419850"/>
            <a:ext cx="12192000" cy="438150"/>
            <a:chOff x="0" y="6419850"/>
            <a:chExt cx="12192000" cy="438150"/>
          </a:xfrm>
        </p:grpSpPr>
        <p:sp>
          <p:nvSpPr>
            <p:cNvPr id="34" name="Rectangle 34"/>
            <p:cNvSpPr/>
            <p:nvPr/>
          </p:nvSpPr>
          <p:spPr>
            <a:xfrm>
              <a:off x="0" y="6419850"/>
              <a:ext cx="12192000" cy="438150"/>
            </a:xfrm>
            <a:prstGeom prst="rect">
              <a:avLst/>
            </a:prstGeom>
            <a:solidFill>
              <a:srgbClr val="F2F2F2"/>
            </a:solidFill>
            <a:ln>
              <a:noFill/>
            </a:ln>
          </p:spPr>
          <p:txBody>
            <a:bodyPr/>
            <a:lstStyle/>
            <a:p>
              <a:endParaRPr lang="en-US"/>
            </a:p>
          </p:txBody>
        </p:sp>
        <p:sp>
          <p:nvSpPr>
            <p:cNvPr id="35" name="Rectangle 35"/>
            <p:cNvSpPr/>
            <p:nvPr/>
          </p:nvSpPr>
          <p:spPr>
            <a:xfrm>
              <a:off x="0" y="6419850"/>
              <a:ext cx="76200" cy="438150"/>
            </a:xfrm>
            <a:prstGeom prst="rect">
              <a:avLst/>
            </a:prstGeom>
            <a:solidFill>
              <a:srgbClr val="EE0033"/>
            </a:solidFill>
            <a:ln>
              <a:noFill/>
            </a:ln>
          </p:spPr>
          <p:txBody>
            <a:bodyPr/>
            <a:lstStyle/>
            <a:p>
              <a:endParaRPr lang="en-US"/>
            </a:p>
          </p:txBody>
        </p:sp>
        <p:sp>
          <p:nvSpPr>
            <p:cNvPr id="36" name="TextBox 36"/>
            <p:cNvSpPr txBox="1"/>
            <p:nvPr/>
          </p:nvSpPr>
          <p:spPr>
            <a:xfrm>
              <a:off x="597218" y="6590824"/>
              <a:ext cx="1292114"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LỘ TRÌNH PHIÊN BẢN</a:t>
              </a:r>
            </a:p>
          </p:txBody>
        </p:sp>
        <p:sp>
          <p:nvSpPr>
            <p:cNvPr id="37" name="TextBox 37"/>
            <p:cNvSpPr txBox="1"/>
            <p:nvPr/>
          </p:nvSpPr>
          <p:spPr>
            <a:xfrm>
              <a:off x="4697825" y="6598920"/>
              <a:ext cx="2796349"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Mốc lab; đích production cần đánh giá riêng</a:t>
              </a:r>
            </a:p>
          </p:txBody>
        </p:sp>
        <p:sp>
          <p:nvSpPr>
            <p:cNvPr id="38" name="Rectangle 38"/>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39" name="TextBox 39"/>
            <p:cNvSpPr txBox="1"/>
            <p:nvPr/>
          </p:nvSpPr>
          <p:spPr>
            <a:xfrm>
              <a:off x="11069170" y="6582728"/>
              <a:ext cx="340659"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6/13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heel(4)">
                                      <p:cBhvr>
                                        <p:cTn id="11" dur="400"/>
                                        <p:tgtEl>
                                          <p:spTgt spid="2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7"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6023305"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Thứ tự nâng daemon bằng cephadm</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grpSp>
        <p:nvGrpSpPr>
          <p:cNvPr id="30" name="Group 30"/>
          <p:cNvGrpSpPr/>
          <p:nvPr/>
        </p:nvGrpSpPr>
        <p:grpSpPr>
          <a:xfrm>
            <a:off x="685800" y="1266825"/>
            <a:ext cx="10820400" cy="3714750"/>
            <a:chOff x="685800" y="1266825"/>
            <a:chExt cx="10820400" cy="3714750"/>
          </a:xfrm>
        </p:grpSpPr>
        <p:sp>
          <p:nvSpPr>
            <p:cNvPr id="8" name="Rectangle 8"/>
            <p:cNvSpPr/>
            <p:nvPr/>
          </p:nvSpPr>
          <p:spPr>
            <a:xfrm>
              <a:off x="685800" y="1266825"/>
              <a:ext cx="10820400" cy="419100"/>
            </a:xfrm>
            <a:prstGeom prst="rect">
              <a:avLst/>
            </a:prstGeom>
            <a:solidFill>
              <a:srgbClr val="F2F2F2"/>
            </a:solidFill>
            <a:ln>
              <a:noFill/>
            </a:ln>
          </p:spPr>
          <p:txBody>
            <a:bodyPr/>
            <a:lstStyle/>
            <a:p>
              <a:endParaRPr lang="en-US"/>
            </a:p>
          </p:txBody>
        </p:sp>
        <p:sp>
          <p:nvSpPr>
            <p:cNvPr id="9" name="TextBox 9"/>
            <p:cNvSpPr txBox="1"/>
            <p:nvPr/>
          </p:nvSpPr>
          <p:spPr>
            <a:xfrm>
              <a:off x="859155" y="1406842"/>
              <a:ext cx="37588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Pha</a:t>
              </a:r>
            </a:p>
          </p:txBody>
        </p:sp>
        <p:sp>
          <p:nvSpPr>
            <p:cNvPr id="10" name="TextBox 10"/>
            <p:cNvSpPr txBox="1"/>
            <p:nvPr/>
          </p:nvSpPr>
          <p:spPr>
            <a:xfrm>
              <a:off x="3221355" y="1406842"/>
              <a:ext cx="141101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Gate vận hành</a:t>
              </a:r>
            </a:p>
          </p:txBody>
        </p:sp>
        <p:sp>
          <p:nvSpPr>
            <p:cNvPr id="11" name="TextBox 11"/>
            <p:cNvSpPr txBox="1"/>
            <p:nvPr/>
          </p:nvSpPr>
          <p:spPr>
            <a:xfrm>
              <a:off x="858202" y="1894046"/>
              <a:ext cx="1380138" cy="289560"/>
            </a:xfrm>
            <a:prstGeom prst="rect">
              <a:avLst/>
            </a:prstGeom>
            <a:noFill/>
            <a:ln>
              <a:noFill/>
            </a:ln>
          </p:spPr>
          <p:txBody>
            <a:bodyPr wrap="none" lIns="0" tIns="0" rIns="0" bIns="0" anchor="t" anchorCtr="0">
              <a:spAutoFit/>
            </a:bodyPr>
            <a:lstStyle/>
            <a:p>
              <a:pPr algn="l"/>
              <a:r>
                <a:rPr lang="zh-CN" sz="1425" dirty="0">
                  <a:solidFill>
                    <a:srgbClr val="EE0033"/>
                  </a:solidFill>
                  <a:latin typeface="FS Magistral Bold"/>
                  <a:ea typeface="FS Magistral Bold"/>
                  <a:cs typeface="FS Magistral Bold"/>
                </a:rPr>
                <a:t>0 · Preflight</a:t>
              </a:r>
            </a:p>
          </p:txBody>
        </p:sp>
        <p:sp>
          <p:nvSpPr>
            <p:cNvPr id="12" name="TextBox 12"/>
            <p:cNvSpPr txBox="1"/>
            <p:nvPr/>
          </p:nvSpPr>
          <p:spPr>
            <a:xfrm>
              <a:off x="3221355" y="1902142"/>
              <a:ext cx="3366421"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Inventory, health, baseline, image</a:t>
              </a:r>
            </a:p>
          </p:txBody>
        </p:sp>
        <p:sp>
          <p:nvSpPr>
            <p:cNvPr id="13" name="Line 13"/>
            <p:cNvSpPr/>
            <p:nvPr/>
          </p:nvSpPr>
          <p:spPr>
            <a:xfrm>
              <a:off x="685800" y="224790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14" name="TextBox 14"/>
            <p:cNvSpPr txBox="1"/>
            <p:nvPr/>
          </p:nvSpPr>
          <p:spPr>
            <a:xfrm>
              <a:off x="858202" y="2436971"/>
              <a:ext cx="757335" cy="289560"/>
            </a:xfrm>
            <a:prstGeom prst="rect">
              <a:avLst/>
            </a:prstGeom>
            <a:noFill/>
            <a:ln>
              <a:noFill/>
            </a:ln>
          </p:spPr>
          <p:txBody>
            <a:bodyPr wrap="none" lIns="0" tIns="0" rIns="0" bIns="0" anchor="t" anchorCtr="0">
              <a:spAutoFit/>
            </a:bodyPr>
            <a:lstStyle/>
            <a:p>
              <a:pPr algn="l"/>
              <a:r>
                <a:rPr lang="zh-CN" sz="1425" dirty="0">
                  <a:solidFill>
                    <a:srgbClr val="EE0033"/>
                  </a:solidFill>
                  <a:latin typeface="FS Magistral Bold"/>
                  <a:ea typeface="FS Magistral Bold"/>
                  <a:cs typeface="FS Magistral Bold"/>
                </a:rPr>
                <a:t>1 · MGR</a:t>
              </a:r>
            </a:p>
          </p:txBody>
        </p:sp>
        <p:sp>
          <p:nvSpPr>
            <p:cNvPr id="15" name="TextBox 15"/>
            <p:cNvSpPr txBox="1"/>
            <p:nvPr/>
          </p:nvSpPr>
          <p:spPr>
            <a:xfrm>
              <a:off x="3221355" y="2445068"/>
              <a:ext cx="3859339"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Standby, failover, bộ điều phối cephadm</a:t>
              </a:r>
            </a:p>
          </p:txBody>
        </p:sp>
        <p:sp>
          <p:nvSpPr>
            <p:cNvPr id="16" name="Line 16"/>
            <p:cNvSpPr/>
            <p:nvPr/>
          </p:nvSpPr>
          <p:spPr>
            <a:xfrm>
              <a:off x="685800" y="279082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17" name="TextBox 17"/>
            <p:cNvSpPr txBox="1"/>
            <p:nvPr/>
          </p:nvSpPr>
          <p:spPr>
            <a:xfrm>
              <a:off x="858202" y="2979896"/>
              <a:ext cx="855672" cy="289560"/>
            </a:xfrm>
            <a:prstGeom prst="rect">
              <a:avLst/>
            </a:prstGeom>
            <a:noFill/>
            <a:ln>
              <a:noFill/>
            </a:ln>
          </p:spPr>
          <p:txBody>
            <a:bodyPr wrap="none" lIns="0" tIns="0" rIns="0" bIns="0" anchor="t" anchorCtr="0">
              <a:spAutoFit/>
            </a:bodyPr>
            <a:lstStyle/>
            <a:p>
              <a:pPr algn="l"/>
              <a:r>
                <a:rPr lang="zh-CN" sz="1425" dirty="0">
                  <a:solidFill>
                    <a:srgbClr val="EE0033"/>
                  </a:solidFill>
                  <a:latin typeface="FS Magistral Bold"/>
                  <a:ea typeface="FS Magistral Bold"/>
                  <a:cs typeface="FS Magistral Bold"/>
                </a:rPr>
                <a:t>2 · MON</a:t>
              </a:r>
            </a:p>
          </p:txBody>
        </p:sp>
        <p:sp>
          <p:nvSpPr>
            <p:cNvPr id="18" name="TextBox 18"/>
            <p:cNvSpPr txBox="1"/>
            <p:nvPr/>
          </p:nvSpPr>
          <p:spPr>
            <a:xfrm>
              <a:off x="3221355" y="2987992"/>
              <a:ext cx="2607326"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Nâng lần lượt và giữ quorum</a:t>
              </a:r>
            </a:p>
          </p:txBody>
        </p:sp>
        <p:sp>
          <p:nvSpPr>
            <p:cNvPr id="19" name="Line 19"/>
            <p:cNvSpPr/>
            <p:nvPr/>
          </p:nvSpPr>
          <p:spPr>
            <a:xfrm>
              <a:off x="685800" y="333375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0" name="TextBox 20"/>
            <p:cNvSpPr txBox="1"/>
            <p:nvPr/>
          </p:nvSpPr>
          <p:spPr>
            <a:xfrm>
              <a:off x="858202" y="3522821"/>
              <a:ext cx="1008642" cy="289560"/>
            </a:xfrm>
            <a:prstGeom prst="rect">
              <a:avLst/>
            </a:prstGeom>
            <a:noFill/>
            <a:ln>
              <a:noFill/>
            </a:ln>
          </p:spPr>
          <p:txBody>
            <a:bodyPr wrap="none" lIns="0" tIns="0" rIns="0" bIns="0" anchor="t" anchorCtr="0">
              <a:spAutoFit/>
            </a:bodyPr>
            <a:lstStyle/>
            <a:p>
              <a:pPr algn="l"/>
              <a:r>
                <a:rPr lang="zh-CN" sz="1425" dirty="0">
                  <a:solidFill>
                    <a:srgbClr val="EE0033"/>
                  </a:solidFill>
                  <a:latin typeface="FS Magistral Bold"/>
                  <a:ea typeface="FS Magistral Bold"/>
                  <a:cs typeface="FS Magistral Bold"/>
                </a:rPr>
                <a:t>3 · crash</a:t>
              </a:r>
            </a:p>
          </p:txBody>
        </p:sp>
        <p:sp>
          <p:nvSpPr>
            <p:cNvPr id="21" name="TextBox 21"/>
            <p:cNvSpPr txBox="1"/>
            <p:nvPr/>
          </p:nvSpPr>
          <p:spPr>
            <a:xfrm>
              <a:off x="3221355" y="3530918"/>
              <a:ext cx="311010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Tiếp tục theo thứ tự của công cụ</a:t>
              </a:r>
            </a:p>
          </p:txBody>
        </p:sp>
        <p:sp>
          <p:nvSpPr>
            <p:cNvPr id="22" name="Line 22"/>
            <p:cNvSpPr/>
            <p:nvPr/>
          </p:nvSpPr>
          <p:spPr>
            <a:xfrm>
              <a:off x="685800" y="387667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3" name="Rectangle 23"/>
            <p:cNvSpPr/>
            <p:nvPr/>
          </p:nvSpPr>
          <p:spPr>
            <a:xfrm>
              <a:off x="685800" y="3886200"/>
              <a:ext cx="10820400" cy="542925"/>
            </a:xfrm>
            <a:prstGeom prst="rect">
              <a:avLst/>
            </a:prstGeom>
            <a:solidFill>
              <a:srgbClr val="F2F2F2"/>
            </a:solidFill>
            <a:ln>
              <a:noFill/>
            </a:ln>
          </p:spPr>
          <p:txBody>
            <a:bodyPr/>
            <a:lstStyle/>
            <a:p>
              <a:endParaRPr lang="en-US"/>
            </a:p>
          </p:txBody>
        </p:sp>
        <p:sp>
          <p:nvSpPr>
            <p:cNvPr id="24" name="Rectangle 24"/>
            <p:cNvSpPr/>
            <p:nvPr/>
          </p:nvSpPr>
          <p:spPr>
            <a:xfrm>
              <a:off x="685800" y="3886200"/>
              <a:ext cx="66675" cy="542925"/>
            </a:xfrm>
            <a:prstGeom prst="rect">
              <a:avLst/>
            </a:prstGeom>
            <a:solidFill>
              <a:srgbClr val="EE0033"/>
            </a:solidFill>
            <a:ln>
              <a:noFill/>
            </a:ln>
          </p:spPr>
          <p:txBody>
            <a:bodyPr/>
            <a:lstStyle/>
            <a:p>
              <a:endParaRPr lang="en-US"/>
            </a:p>
          </p:txBody>
        </p:sp>
        <p:sp>
          <p:nvSpPr>
            <p:cNvPr id="25" name="TextBox 25"/>
            <p:cNvSpPr txBox="1"/>
            <p:nvPr/>
          </p:nvSpPr>
          <p:spPr>
            <a:xfrm>
              <a:off x="858202" y="4075271"/>
              <a:ext cx="811967" cy="289560"/>
            </a:xfrm>
            <a:prstGeom prst="rect">
              <a:avLst/>
            </a:prstGeom>
            <a:noFill/>
            <a:ln>
              <a:noFill/>
            </a:ln>
          </p:spPr>
          <p:txBody>
            <a:bodyPr wrap="none" lIns="0" tIns="0" rIns="0" bIns="0" anchor="t" anchorCtr="0">
              <a:spAutoFit/>
            </a:bodyPr>
            <a:lstStyle/>
            <a:p>
              <a:pPr algn="l"/>
              <a:r>
                <a:rPr lang="zh-CN" sz="1425" dirty="0">
                  <a:solidFill>
                    <a:srgbClr val="EE0033"/>
                  </a:solidFill>
                  <a:latin typeface="FS Magistral Bold"/>
                  <a:ea typeface="FS Magistral Bold"/>
                  <a:cs typeface="FS Magistral Bold"/>
                </a:rPr>
                <a:t>4 · OSD</a:t>
              </a:r>
            </a:p>
          </p:txBody>
        </p:sp>
        <p:sp>
          <p:nvSpPr>
            <p:cNvPr id="26" name="TextBox 26"/>
            <p:cNvSpPr txBox="1"/>
            <p:nvPr/>
          </p:nvSpPr>
          <p:spPr>
            <a:xfrm>
              <a:off x="3221355" y="4083368"/>
              <a:ext cx="3652314"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Placement, availability, PA1 và canary</a:t>
              </a:r>
            </a:p>
          </p:txBody>
        </p:sp>
        <p:sp>
          <p:nvSpPr>
            <p:cNvPr id="27" name="TextBox 27"/>
            <p:cNvSpPr txBox="1"/>
            <p:nvPr/>
          </p:nvSpPr>
          <p:spPr>
            <a:xfrm>
              <a:off x="858202" y="4618196"/>
              <a:ext cx="1085126" cy="289560"/>
            </a:xfrm>
            <a:prstGeom prst="rect">
              <a:avLst/>
            </a:prstGeom>
            <a:noFill/>
            <a:ln>
              <a:noFill/>
            </a:ln>
          </p:spPr>
          <p:txBody>
            <a:bodyPr wrap="none" lIns="0" tIns="0" rIns="0" bIns="0" anchor="t" anchorCtr="0">
              <a:spAutoFit/>
            </a:bodyPr>
            <a:lstStyle/>
            <a:p>
              <a:pPr algn="l"/>
              <a:r>
                <a:rPr lang="zh-CN" sz="1425" dirty="0">
                  <a:solidFill>
                    <a:srgbClr val="EE0033"/>
                  </a:solidFill>
                  <a:latin typeface="FS Magistral Bold"/>
                  <a:ea typeface="FS Magistral Bold"/>
                  <a:cs typeface="FS Magistral Bold"/>
                </a:rPr>
                <a:t>5 · Còn lại</a:t>
              </a:r>
            </a:p>
          </p:txBody>
        </p:sp>
        <p:sp>
          <p:nvSpPr>
            <p:cNvPr id="28" name="TextBox 28"/>
            <p:cNvSpPr txBox="1"/>
            <p:nvPr/>
          </p:nvSpPr>
          <p:spPr>
            <a:xfrm>
              <a:off x="3221355" y="4626292"/>
              <a:ext cx="432268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MDS, RGW, mirror, iSCSI, NFS theo inventory</a:t>
              </a:r>
            </a:p>
          </p:txBody>
        </p:sp>
        <p:sp>
          <p:nvSpPr>
            <p:cNvPr id="29" name="Line 29"/>
            <p:cNvSpPr/>
            <p:nvPr/>
          </p:nvSpPr>
          <p:spPr>
            <a:xfrm>
              <a:off x="685800" y="497205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grpSp>
      <p:grpSp>
        <p:nvGrpSpPr>
          <p:cNvPr id="35" name="Group 35"/>
          <p:cNvGrpSpPr/>
          <p:nvPr/>
        </p:nvGrpSpPr>
        <p:grpSpPr>
          <a:xfrm>
            <a:off x="685800" y="5343525"/>
            <a:ext cx="10820400" cy="628650"/>
            <a:chOff x="685800" y="5343525"/>
            <a:chExt cx="10820400" cy="628650"/>
          </a:xfrm>
        </p:grpSpPr>
        <p:sp>
          <p:nvSpPr>
            <p:cNvPr id="31" name="Rectangle 31"/>
            <p:cNvSpPr/>
            <p:nvPr/>
          </p:nvSpPr>
          <p:spPr>
            <a:xfrm>
              <a:off x="685800" y="5343525"/>
              <a:ext cx="10820400" cy="628650"/>
            </a:xfrm>
            <a:prstGeom prst="rect">
              <a:avLst/>
            </a:prstGeom>
            <a:solidFill>
              <a:srgbClr val="F2F2F2"/>
            </a:solidFill>
            <a:ln>
              <a:noFill/>
            </a:ln>
          </p:spPr>
          <p:txBody>
            <a:bodyPr/>
            <a:lstStyle/>
            <a:p>
              <a:endParaRPr lang="en-US"/>
            </a:p>
          </p:txBody>
        </p:sp>
        <p:sp>
          <p:nvSpPr>
            <p:cNvPr id="32" name="Rectangle 32"/>
            <p:cNvSpPr/>
            <p:nvPr/>
          </p:nvSpPr>
          <p:spPr>
            <a:xfrm>
              <a:off x="685800" y="5343525"/>
              <a:ext cx="66675" cy="628650"/>
            </a:xfrm>
            <a:prstGeom prst="rect">
              <a:avLst/>
            </a:prstGeom>
            <a:solidFill>
              <a:srgbClr val="F46A25"/>
            </a:solidFill>
            <a:ln>
              <a:noFill/>
            </a:ln>
          </p:spPr>
          <p:txBody>
            <a:bodyPr/>
            <a:lstStyle/>
            <a:p>
              <a:endParaRPr lang="en-US"/>
            </a:p>
          </p:txBody>
        </p:sp>
        <p:sp>
          <p:nvSpPr>
            <p:cNvPr id="33" name="TextBox 33"/>
            <p:cNvSpPr txBox="1"/>
            <p:nvPr/>
          </p:nvSpPr>
          <p:spPr>
            <a:xfrm>
              <a:off x="897255" y="5474018"/>
              <a:ext cx="7290547"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Từ 16.2.5: xử lý MGR trước khi dùng staggered upgrade hỗ trợ từ 16.2.11.</a:t>
              </a:r>
            </a:p>
          </p:txBody>
        </p:sp>
        <p:sp>
          <p:nvSpPr>
            <p:cNvPr id="34" name="TextBox 34"/>
            <p:cNvSpPr txBox="1"/>
            <p:nvPr/>
          </p:nvSpPr>
          <p:spPr>
            <a:xfrm>
              <a:off x="901065" y="5744528"/>
              <a:ext cx="5792724" cy="213360"/>
            </a:xfrm>
            <a:prstGeom prst="rect">
              <a:avLst/>
            </a:prstGeom>
            <a:noFill/>
            <a:ln>
              <a:noFill/>
            </a:ln>
          </p:spPr>
          <p:txBody>
            <a:bodyPr wrap="none" lIns="0" tIns="0" rIns="0" bIns="0" anchor="t" anchorCtr="0">
              <a:spAutoFit/>
            </a:bodyPr>
            <a:lstStyle/>
            <a:p>
              <a:pPr algn="l"/>
              <a:r>
                <a:rPr lang="zh-CN" sz="1050" dirty="0">
                  <a:solidFill>
                    <a:srgbClr val="44494D"/>
                  </a:solidFill>
                  <a:latin typeface="FS Magistral Book"/>
                  <a:ea typeface="FS Magistral Book"/>
                  <a:cs typeface="FS Magistral Book"/>
                </a:rPr>
                <a:t>Tham số limit giới hạn số daemon trong một lượt, không nói lên mức song song.</a:t>
              </a:r>
            </a:p>
          </p:txBody>
        </p:sp>
      </p:grpSp>
      <p:grpSp>
        <p:nvGrpSpPr>
          <p:cNvPr id="42" name="Group 42"/>
          <p:cNvGrpSpPr/>
          <p:nvPr/>
        </p:nvGrpSpPr>
        <p:grpSpPr>
          <a:xfrm>
            <a:off x="0" y="6419850"/>
            <a:ext cx="12192000" cy="438150"/>
            <a:chOff x="0" y="6419850"/>
            <a:chExt cx="12192000" cy="438150"/>
          </a:xfrm>
        </p:grpSpPr>
        <p:sp>
          <p:nvSpPr>
            <p:cNvPr id="36" name="Rectangle 36"/>
            <p:cNvSpPr/>
            <p:nvPr/>
          </p:nvSpPr>
          <p:spPr>
            <a:xfrm>
              <a:off x="0" y="6419850"/>
              <a:ext cx="12192000" cy="438150"/>
            </a:xfrm>
            <a:prstGeom prst="rect">
              <a:avLst/>
            </a:prstGeom>
            <a:solidFill>
              <a:srgbClr val="F2F2F2"/>
            </a:solidFill>
            <a:ln>
              <a:noFill/>
            </a:ln>
          </p:spPr>
          <p:txBody>
            <a:bodyPr/>
            <a:lstStyle/>
            <a:p>
              <a:endParaRPr lang="en-US"/>
            </a:p>
          </p:txBody>
        </p:sp>
        <p:sp>
          <p:nvSpPr>
            <p:cNvPr id="37" name="Rectangle 37"/>
            <p:cNvSpPr/>
            <p:nvPr/>
          </p:nvSpPr>
          <p:spPr>
            <a:xfrm>
              <a:off x="0" y="6419850"/>
              <a:ext cx="76200" cy="438150"/>
            </a:xfrm>
            <a:prstGeom prst="rect">
              <a:avLst/>
            </a:prstGeom>
            <a:solidFill>
              <a:srgbClr val="EE0033"/>
            </a:solidFill>
            <a:ln>
              <a:noFill/>
            </a:ln>
          </p:spPr>
          <p:txBody>
            <a:bodyPr/>
            <a:lstStyle/>
            <a:p>
              <a:endParaRPr lang="en-US"/>
            </a:p>
          </p:txBody>
        </p:sp>
        <p:sp>
          <p:nvSpPr>
            <p:cNvPr id="38" name="TextBox 38"/>
            <p:cNvSpPr txBox="1"/>
            <p:nvPr/>
          </p:nvSpPr>
          <p:spPr>
            <a:xfrm>
              <a:off x="597218" y="6590824"/>
              <a:ext cx="1028676"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THỨ TỰ DAEMON</a:t>
              </a:r>
            </a:p>
          </p:txBody>
        </p:sp>
        <p:sp>
          <p:nvSpPr>
            <p:cNvPr id="39" name="TextBox 39"/>
            <p:cNvSpPr txBox="1"/>
            <p:nvPr/>
          </p:nvSpPr>
          <p:spPr>
            <a:xfrm>
              <a:off x="4740545" y="6598920"/>
              <a:ext cx="2710910"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Nguồn: Ceph Pacific cephadm upgrade docs</a:t>
              </a:r>
            </a:p>
          </p:txBody>
        </p:sp>
        <p:sp>
          <p:nvSpPr>
            <p:cNvPr id="40" name="Rectangle 40"/>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41" name="TextBox 41"/>
            <p:cNvSpPr txBox="1"/>
            <p:nvPr/>
          </p:nvSpPr>
          <p:spPr>
            <a:xfrm>
              <a:off x="11069170" y="6582728"/>
              <a:ext cx="340659"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7/13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stretch(across)">
                                      <p:cBhvr>
                                        <p:cTn id="11" dur="400"/>
                                        <p:tgtEl>
                                          <p:spTgt spid="30"/>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0"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5986501"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PA1 kết hợp H0-R tại pha nâng OSD</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sp>
        <p:nvSpPr>
          <p:cNvPr id="8" name="TextBox 8"/>
          <p:cNvSpPr txBox="1"/>
          <p:nvPr/>
        </p:nvSpPr>
        <p:spPr>
          <a:xfrm>
            <a:off x="672465" y="1201102"/>
            <a:ext cx="6107097" cy="213360"/>
          </a:xfrm>
          <a:prstGeom prst="rect">
            <a:avLst/>
          </a:prstGeom>
          <a:noFill/>
          <a:ln>
            <a:noFill/>
          </a:ln>
        </p:spPr>
        <p:txBody>
          <a:bodyPr wrap="none" lIns="0" tIns="0" rIns="0" bIns="0" anchor="t" anchorCtr="0">
            <a:spAutoFit/>
          </a:bodyPr>
          <a:lstStyle/>
          <a:p>
            <a:pPr algn="l"/>
            <a:r>
              <a:rPr lang="zh-CN" sz="1050" dirty="0">
                <a:solidFill>
                  <a:srgbClr val="44494D"/>
                </a:solidFill>
                <a:latin typeface="FS Magistral Book"/>
                <a:ea typeface="FS Magistral Book"/>
                <a:cs typeface="FS Magistral Book"/>
              </a:rPr>
              <a:t>X: OSD nâng cấp · S: spare · Y/Z: peer PG · H0-static: tham chiếu corpus cố định</a:t>
            </a:r>
          </a:p>
        </p:txBody>
      </p:sp>
      <p:grpSp>
        <p:nvGrpSpPr>
          <p:cNvPr id="43" name="Group 43"/>
          <p:cNvGrpSpPr/>
          <p:nvPr/>
        </p:nvGrpSpPr>
        <p:grpSpPr>
          <a:xfrm>
            <a:off x="685800" y="1571625"/>
            <a:ext cx="10915150" cy="2781300"/>
            <a:chOff x="685800" y="1571625"/>
            <a:chExt cx="10915150" cy="2781300"/>
          </a:xfrm>
        </p:grpSpPr>
        <p:sp>
          <p:nvSpPr>
            <p:cNvPr id="9" name="Rectangle 9"/>
            <p:cNvSpPr/>
            <p:nvPr/>
          </p:nvSpPr>
          <p:spPr>
            <a:xfrm>
              <a:off x="685800" y="1571625"/>
              <a:ext cx="3190875" cy="1190625"/>
            </a:xfrm>
            <a:prstGeom prst="rect">
              <a:avLst/>
            </a:prstGeom>
            <a:solidFill>
              <a:srgbClr val="F2F2F2"/>
            </a:solidFill>
            <a:ln>
              <a:noFill/>
            </a:ln>
          </p:spPr>
          <p:txBody>
            <a:bodyPr/>
            <a:lstStyle/>
            <a:p>
              <a:endParaRPr lang="en-US"/>
            </a:p>
          </p:txBody>
        </p:sp>
        <p:sp>
          <p:nvSpPr>
            <p:cNvPr id="10" name="TextBox 10"/>
            <p:cNvSpPr txBox="1"/>
            <p:nvPr/>
          </p:nvSpPr>
          <p:spPr>
            <a:xfrm>
              <a:off x="838200" y="1743075"/>
              <a:ext cx="1717310" cy="304800"/>
            </a:xfrm>
            <a:prstGeom prst="rect">
              <a:avLst/>
            </a:prstGeom>
            <a:noFill/>
            <a:ln>
              <a:noFill/>
            </a:ln>
          </p:spPr>
          <p:txBody>
            <a:bodyPr wrap="none" lIns="0" tIns="0" rIns="0" bIns="0" anchor="t" anchorCtr="0">
              <a:spAutoFit/>
            </a:bodyPr>
            <a:lstStyle/>
            <a:p>
              <a:pPr algn="l"/>
              <a:r>
                <a:rPr lang="zh-CN" sz="1500" dirty="0">
                  <a:solidFill>
                    <a:srgbClr val="EE0033"/>
                  </a:solidFill>
                  <a:latin typeface="FS Magistral Bold"/>
                  <a:ea typeface="FS Magistral Bold"/>
                  <a:cs typeface="FS Magistral Bold"/>
                </a:rPr>
                <a:t>1 · Chọn X và PG</a:t>
              </a:r>
            </a:p>
          </p:txBody>
        </p:sp>
        <p:sp>
          <p:nvSpPr>
            <p:cNvPr id="11" name="TextBox 11"/>
            <p:cNvSpPr txBox="1"/>
            <p:nvPr/>
          </p:nvSpPr>
          <p:spPr>
            <a:xfrm>
              <a:off x="841058" y="2072164"/>
              <a:ext cx="2760416"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Health, placement, dung lượng</a:t>
              </a:r>
            </a:p>
          </p:txBody>
        </p:sp>
        <p:sp>
          <p:nvSpPr>
            <p:cNvPr id="12" name="TextBox 12"/>
            <p:cNvSpPr txBox="1"/>
            <p:nvPr/>
          </p:nvSpPr>
          <p:spPr>
            <a:xfrm>
              <a:off x="842962" y="2355056"/>
              <a:ext cx="1942743"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Kiểm tải trước di chuyển</a:t>
              </a:r>
            </a:p>
          </p:txBody>
        </p:sp>
        <p:sp>
          <p:nvSpPr>
            <p:cNvPr id="13" name="Line 13"/>
            <p:cNvSpPr/>
            <p:nvPr/>
          </p:nvSpPr>
          <p:spPr>
            <a:xfrm>
              <a:off x="3924300" y="2162175"/>
              <a:ext cx="247650" cy="9525"/>
            </a:xfrm>
            <a:custGeom>
              <a:avLst/>
              <a:gdLst/>
              <a:ahLst/>
              <a:cxnLst/>
              <a:rect l="l" t="t" r="r" b="b"/>
              <a:pathLst>
                <a:path w="247650" h="9525">
                  <a:moveTo>
                    <a:pt x="0" y="0"/>
                  </a:moveTo>
                  <a:lnTo>
                    <a:pt x="247650" y="0"/>
                  </a:lnTo>
                </a:path>
              </a:pathLst>
            </a:custGeom>
            <a:noFill/>
            <a:ln w="19050">
              <a:solidFill>
                <a:srgbClr val="6B7280"/>
              </a:solidFill>
            </a:ln>
          </p:spPr>
          <p:txBody>
            <a:bodyPr/>
            <a:lstStyle/>
            <a:p>
              <a:endParaRPr lang="en-US"/>
            </a:p>
          </p:txBody>
        </p:sp>
        <p:sp>
          <p:nvSpPr>
            <p:cNvPr id="14" name="Polygon 14"/>
            <p:cNvSpPr/>
            <p:nvPr/>
          </p:nvSpPr>
          <p:spPr>
            <a:xfrm>
              <a:off x="4076700" y="2105025"/>
              <a:ext cx="95250" cy="114300"/>
            </a:xfrm>
            <a:custGeom>
              <a:avLst/>
              <a:gdLst/>
              <a:ahLst/>
              <a:cxnLst/>
              <a:rect l="l" t="t" r="r" b="b"/>
              <a:pathLst>
                <a:path w="95250" h="114300">
                  <a:moveTo>
                    <a:pt x="95250" y="57150"/>
                  </a:moveTo>
                  <a:lnTo>
                    <a:pt x="0" y="0"/>
                  </a:lnTo>
                  <a:lnTo>
                    <a:pt x="0" y="114300"/>
                  </a:lnTo>
                  <a:close/>
                </a:path>
              </a:pathLst>
            </a:custGeom>
            <a:solidFill>
              <a:srgbClr val="6B7280"/>
            </a:solidFill>
            <a:ln>
              <a:noFill/>
            </a:ln>
          </p:spPr>
          <p:txBody>
            <a:bodyPr/>
            <a:lstStyle/>
            <a:p>
              <a:endParaRPr lang="en-US"/>
            </a:p>
          </p:txBody>
        </p:sp>
        <p:sp>
          <p:nvSpPr>
            <p:cNvPr id="15" name="Rectangle 15"/>
            <p:cNvSpPr/>
            <p:nvPr/>
          </p:nvSpPr>
          <p:spPr>
            <a:xfrm>
              <a:off x="4238625" y="1571625"/>
              <a:ext cx="3190875" cy="1190625"/>
            </a:xfrm>
            <a:prstGeom prst="rect">
              <a:avLst/>
            </a:prstGeom>
            <a:solidFill>
              <a:srgbClr val="F2F2F2"/>
            </a:solidFill>
            <a:ln>
              <a:noFill/>
            </a:ln>
          </p:spPr>
          <p:txBody>
            <a:bodyPr/>
            <a:lstStyle/>
            <a:p>
              <a:endParaRPr lang="en-US"/>
            </a:p>
          </p:txBody>
        </p:sp>
        <p:sp>
          <p:nvSpPr>
            <p:cNvPr id="16" name="TextBox 16"/>
            <p:cNvSpPr txBox="1"/>
            <p:nvPr/>
          </p:nvSpPr>
          <p:spPr>
            <a:xfrm>
              <a:off x="4391025" y="1743075"/>
              <a:ext cx="1958840" cy="304800"/>
            </a:xfrm>
            <a:prstGeom prst="rect">
              <a:avLst/>
            </a:prstGeom>
            <a:noFill/>
            <a:ln>
              <a:noFill/>
            </a:ln>
          </p:spPr>
          <p:txBody>
            <a:bodyPr wrap="none" lIns="0" tIns="0" rIns="0" bIns="0" anchor="t" anchorCtr="0">
              <a:spAutoFit/>
            </a:bodyPr>
            <a:lstStyle/>
            <a:p>
              <a:pPr algn="l"/>
              <a:r>
                <a:rPr lang="zh-CN" sz="1500" dirty="0">
                  <a:solidFill>
                    <a:srgbClr val="EE0033"/>
                  </a:solidFill>
                  <a:latin typeface="FS Magistral Bold"/>
                  <a:ea typeface="FS Magistral Bold"/>
                  <a:cs typeface="FS Magistral Bold"/>
                </a:rPr>
                <a:t>2 · Lưu H0-static</a:t>
              </a:r>
            </a:p>
          </p:txBody>
        </p:sp>
        <p:sp>
          <p:nvSpPr>
            <p:cNvPr id="17" name="TextBox 17"/>
            <p:cNvSpPr txBox="1"/>
            <p:nvPr/>
          </p:nvSpPr>
          <p:spPr>
            <a:xfrm>
              <a:off x="4393882" y="2072164"/>
              <a:ext cx="2425232"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Corpus, ID, version dữ liệu</a:t>
              </a:r>
            </a:p>
          </p:txBody>
        </p:sp>
        <p:sp>
          <p:nvSpPr>
            <p:cNvPr id="18" name="TextBox 18"/>
            <p:cNvSpPr txBox="1"/>
            <p:nvPr/>
          </p:nvSpPr>
          <p:spPr>
            <a:xfrm>
              <a:off x="4395788" y="2355056"/>
              <a:ext cx="2074188"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Tham chiếu trước thay đổi</a:t>
              </a:r>
            </a:p>
          </p:txBody>
        </p:sp>
        <p:sp>
          <p:nvSpPr>
            <p:cNvPr id="19" name="Line 19"/>
            <p:cNvSpPr/>
            <p:nvPr/>
          </p:nvSpPr>
          <p:spPr>
            <a:xfrm>
              <a:off x="7477125" y="2162175"/>
              <a:ext cx="247650" cy="9525"/>
            </a:xfrm>
            <a:custGeom>
              <a:avLst/>
              <a:gdLst/>
              <a:ahLst/>
              <a:cxnLst/>
              <a:rect l="l" t="t" r="r" b="b"/>
              <a:pathLst>
                <a:path w="247650" h="9525">
                  <a:moveTo>
                    <a:pt x="0" y="0"/>
                  </a:moveTo>
                  <a:lnTo>
                    <a:pt x="247650" y="0"/>
                  </a:lnTo>
                </a:path>
              </a:pathLst>
            </a:custGeom>
            <a:noFill/>
            <a:ln w="19050">
              <a:solidFill>
                <a:srgbClr val="6B7280"/>
              </a:solidFill>
            </a:ln>
          </p:spPr>
          <p:txBody>
            <a:bodyPr/>
            <a:lstStyle/>
            <a:p>
              <a:endParaRPr lang="en-US"/>
            </a:p>
          </p:txBody>
        </p:sp>
        <p:sp>
          <p:nvSpPr>
            <p:cNvPr id="20" name="Polygon 20"/>
            <p:cNvSpPr/>
            <p:nvPr/>
          </p:nvSpPr>
          <p:spPr>
            <a:xfrm>
              <a:off x="7629525" y="2105025"/>
              <a:ext cx="95250" cy="114300"/>
            </a:xfrm>
            <a:custGeom>
              <a:avLst/>
              <a:gdLst/>
              <a:ahLst/>
              <a:cxnLst/>
              <a:rect l="l" t="t" r="r" b="b"/>
              <a:pathLst>
                <a:path w="95250" h="114300">
                  <a:moveTo>
                    <a:pt x="95250" y="57150"/>
                  </a:moveTo>
                  <a:lnTo>
                    <a:pt x="0" y="0"/>
                  </a:lnTo>
                  <a:lnTo>
                    <a:pt x="0" y="114300"/>
                  </a:lnTo>
                  <a:close/>
                </a:path>
              </a:pathLst>
            </a:custGeom>
            <a:solidFill>
              <a:srgbClr val="6B7280"/>
            </a:solidFill>
            <a:ln>
              <a:noFill/>
            </a:ln>
          </p:spPr>
          <p:txBody>
            <a:bodyPr/>
            <a:lstStyle/>
            <a:p>
              <a:endParaRPr lang="en-US"/>
            </a:p>
          </p:txBody>
        </p:sp>
        <p:sp>
          <p:nvSpPr>
            <p:cNvPr id="21" name="Rectangle 21"/>
            <p:cNvSpPr/>
            <p:nvPr/>
          </p:nvSpPr>
          <p:spPr>
            <a:xfrm>
              <a:off x="7791450" y="1571625"/>
              <a:ext cx="3714750" cy="1190625"/>
            </a:xfrm>
            <a:prstGeom prst="rect">
              <a:avLst/>
            </a:prstGeom>
            <a:solidFill>
              <a:srgbClr val="F2F2F2"/>
            </a:solidFill>
            <a:ln>
              <a:noFill/>
            </a:ln>
          </p:spPr>
          <p:txBody>
            <a:bodyPr/>
            <a:lstStyle/>
            <a:p>
              <a:endParaRPr lang="en-US"/>
            </a:p>
          </p:txBody>
        </p:sp>
        <p:sp>
          <p:nvSpPr>
            <p:cNvPr id="22" name="TextBox 22"/>
            <p:cNvSpPr txBox="1"/>
            <p:nvPr/>
          </p:nvSpPr>
          <p:spPr>
            <a:xfrm>
              <a:off x="7943850" y="1743075"/>
              <a:ext cx="2142863" cy="304800"/>
            </a:xfrm>
            <a:prstGeom prst="rect">
              <a:avLst/>
            </a:prstGeom>
            <a:noFill/>
            <a:ln>
              <a:noFill/>
            </a:ln>
          </p:spPr>
          <p:txBody>
            <a:bodyPr wrap="none" lIns="0" tIns="0" rIns="0" bIns="0" anchor="t" anchorCtr="0">
              <a:spAutoFit/>
            </a:bodyPr>
            <a:lstStyle/>
            <a:p>
              <a:pPr algn="l"/>
              <a:r>
                <a:rPr lang="zh-CN" sz="1500" dirty="0">
                  <a:solidFill>
                    <a:srgbClr val="EE0033"/>
                  </a:solidFill>
                  <a:latin typeface="FS Magistral Bold"/>
                  <a:ea typeface="FS Magistral Bold"/>
                  <a:cs typeface="FS Magistral Bold"/>
                </a:rPr>
                <a:t>3 · Placement X → S</a:t>
              </a:r>
            </a:p>
          </p:txBody>
        </p:sp>
        <p:sp>
          <p:nvSpPr>
            <p:cNvPr id="23" name="TextBox 23"/>
            <p:cNvSpPr txBox="1"/>
            <p:nvPr/>
          </p:nvSpPr>
          <p:spPr>
            <a:xfrm>
              <a:off x="7946708" y="2072164"/>
              <a:ext cx="3654242"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Ceph recovery/backfill; X còn hoạt động</a:t>
              </a:r>
            </a:p>
          </p:txBody>
        </p:sp>
        <p:sp>
          <p:nvSpPr>
            <p:cNvPr id="24" name="TextBox 24"/>
            <p:cNvSpPr txBox="1"/>
            <p:nvPr/>
          </p:nvSpPr>
          <p:spPr>
            <a:xfrm>
              <a:off x="7948612" y="2355056"/>
              <a:ext cx="2862858"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Không giả định đường copy trực tiếp</a:t>
              </a:r>
            </a:p>
          </p:txBody>
        </p:sp>
        <p:sp>
          <p:nvSpPr>
            <p:cNvPr id="25" name="Line 25"/>
            <p:cNvSpPr/>
            <p:nvPr/>
          </p:nvSpPr>
          <p:spPr>
            <a:xfrm>
              <a:off x="9648825" y="2781300"/>
              <a:ext cx="9525" cy="285750"/>
            </a:xfrm>
            <a:custGeom>
              <a:avLst/>
              <a:gdLst/>
              <a:ahLst/>
              <a:cxnLst/>
              <a:rect l="l" t="t" r="r" b="b"/>
              <a:pathLst>
                <a:path w="9525" h="285750">
                  <a:moveTo>
                    <a:pt x="0" y="0"/>
                  </a:moveTo>
                  <a:lnTo>
                    <a:pt x="0" y="285750"/>
                  </a:lnTo>
                </a:path>
              </a:pathLst>
            </a:custGeom>
            <a:noFill/>
            <a:ln w="19050">
              <a:solidFill>
                <a:srgbClr val="6B7280"/>
              </a:solidFill>
            </a:ln>
          </p:spPr>
          <p:txBody>
            <a:bodyPr/>
            <a:lstStyle/>
            <a:p>
              <a:endParaRPr lang="en-US"/>
            </a:p>
          </p:txBody>
        </p:sp>
        <p:sp>
          <p:nvSpPr>
            <p:cNvPr id="26" name="Polygon 26"/>
            <p:cNvSpPr/>
            <p:nvPr/>
          </p:nvSpPr>
          <p:spPr>
            <a:xfrm>
              <a:off x="9591675" y="2971800"/>
              <a:ext cx="114300" cy="95250"/>
            </a:xfrm>
            <a:custGeom>
              <a:avLst/>
              <a:gdLst/>
              <a:ahLst/>
              <a:cxnLst/>
              <a:rect l="l" t="t" r="r" b="b"/>
              <a:pathLst>
                <a:path w="114300" h="95250">
                  <a:moveTo>
                    <a:pt x="57150" y="95250"/>
                  </a:moveTo>
                  <a:lnTo>
                    <a:pt x="0" y="0"/>
                  </a:lnTo>
                  <a:lnTo>
                    <a:pt x="114300" y="0"/>
                  </a:lnTo>
                  <a:close/>
                </a:path>
              </a:pathLst>
            </a:custGeom>
            <a:solidFill>
              <a:srgbClr val="6B7280"/>
            </a:solidFill>
            <a:ln>
              <a:noFill/>
            </a:ln>
          </p:spPr>
          <p:txBody>
            <a:bodyPr/>
            <a:lstStyle/>
            <a:p>
              <a:endParaRPr lang="en-US"/>
            </a:p>
          </p:txBody>
        </p:sp>
        <p:sp>
          <p:nvSpPr>
            <p:cNvPr id="27" name="Rectangle 27"/>
            <p:cNvSpPr/>
            <p:nvPr/>
          </p:nvSpPr>
          <p:spPr>
            <a:xfrm>
              <a:off x="685800" y="3162300"/>
              <a:ext cx="3190875" cy="1190625"/>
            </a:xfrm>
            <a:prstGeom prst="rect">
              <a:avLst/>
            </a:prstGeom>
            <a:solidFill>
              <a:srgbClr val="F2F2F2"/>
            </a:solidFill>
            <a:ln>
              <a:noFill/>
            </a:ln>
          </p:spPr>
          <p:txBody>
            <a:bodyPr/>
            <a:lstStyle/>
            <a:p>
              <a:endParaRPr lang="en-US"/>
            </a:p>
          </p:txBody>
        </p:sp>
        <p:sp>
          <p:nvSpPr>
            <p:cNvPr id="28" name="TextBox 28"/>
            <p:cNvSpPr txBox="1"/>
            <p:nvPr/>
          </p:nvSpPr>
          <p:spPr>
            <a:xfrm>
              <a:off x="838200" y="3333750"/>
              <a:ext cx="1705808" cy="304800"/>
            </a:xfrm>
            <a:prstGeom prst="rect">
              <a:avLst/>
            </a:prstGeom>
            <a:noFill/>
            <a:ln>
              <a:noFill/>
            </a:ln>
          </p:spPr>
          <p:txBody>
            <a:bodyPr wrap="none" lIns="0" tIns="0" rIns="0" bIns="0" anchor="t" anchorCtr="0">
              <a:spAutoFit/>
            </a:bodyPr>
            <a:lstStyle/>
            <a:p>
              <a:pPr algn="l"/>
              <a:r>
                <a:rPr lang="zh-CN" sz="1500" dirty="0">
                  <a:solidFill>
                    <a:srgbClr val="EE0033"/>
                  </a:solidFill>
                  <a:latin typeface="FS Magistral Bold"/>
                  <a:ea typeface="FS Magistral Bold"/>
                  <a:cs typeface="FS Magistral Bold"/>
                </a:rPr>
                <a:t>6 · H0-R trên X</a:t>
              </a:r>
            </a:p>
          </p:txBody>
        </p:sp>
        <p:sp>
          <p:nvSpPr>
            <p:cNvPr id="29" name="TextBox 29"/>
            <p:cNvSpPr txBox="1"/>
            <p:nvPr/>
          </p:nvSpPr>
          <p:spPr>
            <a:xfrm>
              <a:off x="841058" y="3662839"/>
              <a:ext cx="2006251"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Đọc local đúng version</a:t>
              </a:r>
            </a:p>
          </p:txBody>
        </p:sp>
        <p:sp>
          <p:nvSpPr>
            <p:cNvPr id="30" name="TextBox 30"/>
            <p:cNvSpPr txBox="1"/>
            <p:nvPr/>
          </p:nvSpPr>
          <p:spPr>
            <a:xfrm>
              <a:off x="842962" y="3945731"/>
              <a:ext cx="2402800"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So với H0-static trước canary</a:t>
              </a:r>
            </a:p>
          </p:txBody>
        </p:sp>
        <p:sp>
          <p:nvSpPr>
            <p:cNvPr id="31" name="Line 31"/>
            <p:cNvSpPr/>
            <p:nvPr/>
          </p:nvSpPr>
          <p:spPr>
            <a:xfrm>
              <a:off x="3933825" y="3752850"/>
              <a:ext cx="247650" cy="9525"/>
            </a:xfrm>
            <a:custGeom>
              <a:avLst/>
              <a:gdLst/>
              <a:ahLst/>
              <a:cxnLst/>
              <a:rect l="l" t="t" r="r" b="b"/>
              <a:pathLst>
                <a:path w="247650" h="9525">
                  <a:moveTo>
                    <a:pt x="247650" y="0"/>
                  </a:moveTo>
                  <a:lnTo>
                    <a:pt x="0" y="0"/>
                  </a:lnTo>
                </a:path>
              </a:pathLst>
            </a:custGeom>
            <a:noFill/>
            <a:ln w="19050">
              <a:solidFill>
                <a:srgbClr val="6B7280"/>
              </a:solidFill>
            </a:ln>
          </p:spPr>
          <p:txBody>
            <a:bodyPr/>
            <a:lstStyle/>
            <a:p>
              <a:endParaRPr lang="en-US"/>
            </a:p>
          </p:txBody>
        </p:sp>
        <p:sp>
          <p:nvSpPr>
            <p:cNvPr id="32" name="Polygon 32"/>
            <p:cNvSpPr/>
            <p:nvPr/>
          </p:nvSpPr>
          <p:spPr>
            <a:xfrm>
              <a:off x="3933825" y="3695700"/>
              <a:ext cx="95250" cy="114300"/>
            </a:xfrm>
            <a:custGeom>
              <a:avLst/>
              <a:gdLst/>
              <a:ahLst/>
              <a:cxnLst/>
              <a:rect l="l" t="t" r="r" b="b"/>
              <a:pathLst>
                <a:path w="95250" h="114300">
                  <a:moveTo>
                    <a:pt x="0" y="57150"/>
                  </a:moveTo>
                  <a:lnTo>
                    <a:pt x="95250" y="0"/>
                  </a:lnTo>
                  <a:lnTo>
                    <a:pt x="95250" y="114300"/>
                  </a:lnTo>
                  <a:close/>
                </a:path>
              </a:pathLst>
            </a:custGeom>
            <a:solidFill>
              <a:srgbClr val="6B7280"/>
            </a:solidFill>
            <a:ln>
              <a:noFill/>
            </a:ln>
          </p:spPr>
          <p:txBody>
            <a:bodyPr/>
            <a:lstStyle/>
            <a:p>
              <a:endParaRPr lang="en-US"/>
            </a:p>
          </p:txBody>
        </p:sp>
        <p:sp>
          <p:nvSpPr>
            <p:cNvPr id="33" name="Rectangle 33"/>
            <p:cNvSpPr/>
            <p:nvPr/>
          </p:nvSpPr>
          <p:spPr>
            <a:xfrm>
              <a:off x="4238625" y="3162300"/>
              <a:ext cx="3190875" cy="1190625"/>
            </a:xfrm>
            <a:prstGeom prst="rect">
              <a:avLst/>
            </a:prstGeom>
            <a:solidFill>
              <a:srgbClr val="F2F2F2"/>
            </a:solidFill>
            <a:ln>
              <a:noFill/>
            </a:ln>
          </p:spPr>
          <p:txBody>
            <a:bodyPr/>
            <a:lstStyle/>
            <a:p>
              <a:endParaRPr lang="en-US"/>
            </a:p>
          </p:txBody>
        </p:sp>
        <p:sp>
          <p:nvSpPr>
            <p:cNvPr id="34" name="TextBox 34"/>
            <p:cNvSpPr txBox="1"/>
            <p:nvPr/>
          </p:nvSpPr>
          <p:spPr>
            <a:xfrm>
              <a:off x="4391025" y="3333750"/>
              <a:ext cx="2476405" cy="304800"/>
            </a:xfrm>
            <a:prstGeom prst="rect">
              <a:avLst/>
            </a:prstGeom>
            <a:noFill/>
            <a:ln>
              <a:noFill/>
            </a:ln>
          </p:spPr>
          <p:txBody>
            <a:bodyPr wrap="none" lIns="0" tIns="0" rIns="0" bIns="0" anchor="t" anchorCtr="0">
              <a:spAutoFit/>
            </a:bodyPr>
            <a:lstStyle/>
            <a:p>
              <a:pPr algn="l"/>
              <a:r>
                <a:rPr lang="zh-CN" sz="1500" dirty="0">
                  <a:solidFill>
                    <a:srgbClr val="EE0033"/>
                  </a:solidFill>
                  <a:latin typeface="FS Magistral Bold"/>
                  <a:ea typeface="FS Magistral Bold"/>
                  <a:cs typeface="FS Magistral Bold"/>
                </a:rPr>
                <a:t>5 · Trả PG canary về X</a:t>
              </a:r>
            </a:p>
          </p:txBody>
        </p:sp>
        <p:sp>
          <p:nvSpPr>
            <p:cNvPr id="35" name="TextBox 35"/>
            <p:cNvSpPr txBox="1"/>
            <p:nvPr/>
          </p:nvSpPr>
          <p:spPr>
            <a:xfrm>
              <a:off x="4393882" y="3662839"/>
              <a:ext cx="2825591"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Chờ recovery/backfill hoàn tất</a:t>
              </a:r>
            </a:p>
          </p:txBody>
        </p:sp>
        <p:sp>
          <p:nvSpPr>
            <p:cNvPr id="36" name="TextBox 36"/>
            <p:cNvSpPr txBox="1"/>
            <p:nvPr/>
          </p:nvSpPr>
          <p:spPr>
            <a:xfrm>
              <a:off x="4395788" y="3945731"/>
              <a:ext cx="1893451"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Kiểm native đạt yêu cầu</a:t>
              </a:r>
            </a:p>
          </p:txBody>
        </p:sp>
        <p:sp>
          <p:nvSpPr>
            <p:cNvPr id="37" name="Line 37"/>
            <p:cNvSpPr/>
            <p:nvPr/>
          </p:nvSpPr>
          <p:spPr>
            <a:xfrm>
              <a:off x="7486650" y="3752850"/>
              <a:ext cx="247650" cy="9525"/>
            </a:xfrm>
            <a:custGeom>
              <a:avLst/>
              <a:gdLst/>
              <a:ahLst/>
              <a:cxnLst/>
              <a:rect l="l" t="t" r="r" b="b"/>
              <a:pathLst>
                <a:path w="247650" h="9525">
                  <a:moveTo>
                    <a:pt x="247650" y="0"/>
                  </a:moveTo>
                  <a:lnTo>
                    <a:pt x="0" y="0"/>
                  </a:lnTo>
                </a:path>
              </a:pathLst>
            </a:custGeom>
            <a:noFill/>
            <a:ln w="19050">
              <a:solidFill>
                <a:srgbClr val="6B7280"/>
              </a:solidFill>
            </a:ln>
          </p:spPr>
          <p:txBody>
            <a:bodyPr/>
            <a:lstStyle/>
            <a:p>
              <a:endParaRPr lang="en-US"/>
            </a:p>
          </p:txBody>
        </p:sp>
        <p:sp>
          <p:nvSpPr>
            <p:cNvPr id="38" name="Polygon 38"/>
            <p:cNvSpPr/>
            <p:nvPr/>
          </p:nvSpPr>
          <p:spPr>
            <a:xfrm>
              <a:off x="7486650" y="3695700"/>
              <a:ext cx="95250" cy="114300"/>
            </a:xfrm>
            <a:custGeom>
              <a:avLst/>
              <a:gdLst/>
              <a:ahLst/>
              <a:cxnLst/>
              <a:rect l="l" t="t" r="r" b="b"/>
              <a:pathLst>
                <a:path w="95250" h="114300">
                  <a:moveTo>
                    <a:pt x="0" y="57150"/>
                  </a:moveTo>
                  <a:lnTo>
                    <a:pt x="95250" y="0"/>
                  </a:lnTo>
                  <a:lnTo>
                    <a:pt x="95250" y="114300"/>
                  </a:lnTo>
                  <a:close/>
                </a:path>
              </a:pathLst>
            </a:custGeom>
            <a:solidFill>
              <a:srgbClr val="6B7280"/>
            </a:solidFill>
            <a:ln>
              <a:noFill/>
            </a:ln>
          </p:spPr>
          <p:txBody>
            <a:bodyPr/>
            <a:lstStyle/>
            <a:p>
              <a:endParaRPr lang="en-US"/>
            </a:p>
          </p:txBody>
        </p:sp>
        <p:sp>
          <p:nvSpPr>
            <p:cNvPr id="39" name="Rectangle 39"/>
            <p:cNvSpPr/>
            <p:nvPr/>
          </p:nvSpPr>
          <p:spPr>
            <a:xfrm>
              <a:off x="7791450" y="3162300"/>
              <a:ext cx="3714750" cy="1190625"/>
            </a:xfrm>
            <a:prstGeom prst="rect">
              <a:avLst/>
            </a:prstGeom>
            <a:solidFill>
              <a:srgbClr val="F2F2F2"/>
            </a:solidFill>
            <a:ln>
              <a:noFill/>
            </a:ln>
          </p:spPr>
          <p:txBody>
            <a:bodyPr/>
            <a:lstStyle/>
            <a:p>
              <a:endParaRPr lang="en-US"/>
            </a:p>
          </p:txBody>
        </p:sp>
        <p:sp>
          <p:nvSpPr>
            <p:cNvPr id="40" name="TextBox 40"/>
            <p:cNvSpPr txBox="1"/>
            <p:nvPr/>
          </p:nvSpPr>
          <p:spPr>
            <a:xfrm>
              <a:off x="7943850" y="3333750"/>
              <a:ext cx="1130737" cy="304800"/>
            </a:xfrm>
            <a:prstGeom prst="rect">
              <a:avLst/>
            </a:prstGeom>
            <a:noFill/>
            <a:ln>
              <a:noFill/>
            </a:ln>
          </p:spPr>
          <p:txBody>
            <a:bodyPr wrap="none" lIns="0" tIns="0" rIns="0" bIns="0" anchor="t" anchorCtr="0">
              <a:spAutoFit/>
            </a:bodyPr>
            <a:lstStyle/>
            <a:p>
              <a:pPr algn="l"/>
              <a:r>
                <a:rPr lang="zh-CN" sz="1500" dirty="0">
                  <a:solidFill>
                    <a:srgbClr val="EE0033"/>
                  </a:solidFill>
                  <a:latin typeface="FS Magistral Bold"/>
                  <a:ea typeface="FS Magistral Bold"/>
                  <a:cs typeface="FS Magistral Bold"/>
                </a:rPr>
                <a:t>4 · Nâng X</a:t>
              </a:r>
            </a:p>
          </p:txBody>
        </p:sp>
        <p:sp>
          <p:nvSpPr>
            <p:cNvPr id="41" name="TextBox 41"/>
            <p:cNvSpPr txBox="1"/>
            <p:nvPr/>
          </p:nvSpPr>
          <p:spPr>
            <a:xfrm>
              <a:off x="7946708" y="3662839"/>
              <a:ext cx="2834902"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Dữ liệu đã chuyển theo kế hoạch</a:t>
              </a:r>
            </a:p>
          </p:txBody>
        </p:sp>
        <p:sp>
          <p:nvSpPr>
            <p:cNvPr id="42" name="TextBox 42"/>
            <p:cNvSpPr txBox="1"/>
            <p:nvPr/>
          </p:nvSpPr>
          <p:spPr>
            <a:xfrm>
              <a:off x="7948612" y="3945731"/>
              <a:ext cx="1663422"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Xác nhận ok-to-stop</a:t>
              </a:r>
            </a:p>
          </p:txBody>
        </p:sp>
      </p:grpSp>
      <p:grpSp>
        <p:nvGrpSpPr>
          <p:cNvPr id="55" name="Group 55"/>
          <p:cNvGrpSpPr/>
          <p:nvPr/>
        </p:nvGrpSpPr>
        <p:grpSpPr>
          <a:xfrm>
            <a:off x="685800" y="4667250"/>
            <a:ext cx="10820400" cy="1202531"/>
            <a:chOff x="685800" y="4667250"/>
            <a:chExt cx="10820400" cy="1202531"/>
          </a:xfrm>
        </p:grpSpPr>
        <p:sp>
          <p:nvSpPr>
            <p:cNvPr id="44" name="Rectangle 44"/>
            <p:cNvSpPr/>
            <p:nvPr/>
          </p:nvSpPr>
          <p:spPr>
            <a:xfrm>
              <a:off x="685800" y="4667250"/>
              <a:ext cx="10820400" cy="428625"/>
            </a:xfrm>
            <a:prstGeom prst="rect">
              <a:avLst/>
            </a:prstGeom>
            <a:solidFill>
              <a:srgbClr val="F2F2F2"/>
            </a:solidFill>
            <a:ln>
              <a:noFill/>
            </a:ln>
          </p:spPr>
          <p:txBody>
            <a:bodyPr/>
            <a:lstStyle/>
            <a:p>
              <a:endParaRPr lang="en-US"/>
            </a:p>
          </p:txBody>
        </p:sp>
        <p:sp>
          <p:nvSpPr>
            <p:cNvPr id="45" name="Rectangle 45"/>
            <p:cNvSpPr/>
            <p:nvPr/>
          </p:nvSpPr>
          <p:spPr>
            <a:xfrm>
              <a:off x="685800" y="4667250"/>
              <a:ext cx="66675" cy="428625"/>
            </a:xfrm>
            <a:prstGeom prst="rect">
              <a:avLst/>
            </a:prstGeom>
            <a:solidFill>
              <a:srgbClr val="EE0033"/>
            </a:solidFill>
            <a:ln>
              <a:noFill/>
            </a:ln>
          </p:spPr>
          <p:txBody>
            <a:bodyPr/>
            <a:lstStyle/>
            <a:p>
              <a:endParaRPr lang="en-US"/>
            </a:p>
          </p:txBody>
        </p:sp>
        <p:sp>
          <p:nvSpPr>
            <p:cNvPr id="46" name="TextBox 46"/>
            <p:cNvSpPr txBox="1"/>
            <p:nvPr/>
          </p:nvSpPr>
          <p:spPr>
            <a:xfrm>
              <a:off x="897255" y="4807268"/>
              <a:ext cx="6421038"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H0-R là gate kiểm chứng sau recovery/backfill; chưa triển khai.</a:t>
              </a:r>
            </a:p>
          </p:txBody>
        </p:sp>
        <p:sp>
          <p:nvSpPr>
            <p:cNvPr id="47" name="Rectangle 47"/>
            <p:cNvSpPr/>
            <p:nvPr/>
          </p:nvSpPr>
          <p:spPr>
            <a:xfrm>
              <a:off x="685800" y="5276850"/>
              <a:ext cx="5191125" cy="581025"/>
            </a:xfrm>
            <a:prstGeom prst="rect">
              <a:avLst/>
            </a:prstGeom>
            <a:solidFill>
              <a:srgbClr val="F2F2F2"/>
            </a:solidFill>
            <a:ln>
              <a:noFill/>
            </a:ln>
          </p:spPr>
          <p:txBody>
            <a:bodyPr/>
            <a:lstStyle/>
            <a:p>
              <a:endParaRPr lang="en-US"/>
            </a:p>
          </p:txBody>
        </p:sp>
        <p:sp>
          <p:nvSpPr>
            <p:cNvPr id="48" name="Rectangle 48"/>
            <p:cNvSpPr/>
            <p:nvPr/>
          </p:nvSpPr>
          <p:spPr>
            <a:xfrm>
              <a:off x="685800" y="5276850"/>
              <a:ext cx="66675" cy="581025"/>
            </a:xfrm>
            <a:prstGeom prst="rect">
              <a:avLst/>
            </a:prstGeom>
            <a:solidFill>
              <a:srgbClr val="28A197"/>
            </a:solidFill>
            <a:ln>
              <a:noFill/>
            </a:ln>
          </p:spPr>
          <p:txBody>
            <a:bodyPr/>
            <a:lstStyle/>
            <a:p>
              <a:endParaRPr lang="en-US"/>
            </a:p>
          </p:txBody>
        </p:sp>
        <p:sp>
          <p:nvSpPr>
            <p:cNvPr id="49" name="TextBox 49"/>
            <p:cNvSpPr txBox="1"/>
            <p:nvPr/>
          </p:nvSpPr>
          <p:spPr>
            <a:xfrm>
              <a:off x="887730" y="5407342"/>
              <a:ext cx="489747"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PASS</a:t>
              </a:r>
            </a:p>
          </p:txBody>
        </p:sp>
        <p:sp>
          <p:nvSpPr>
            <p:cNvPr id="50" name="TextBox 50"/>
            <p:cNvSpPr txBox="1"/>
            <p:nvPr/>
          </p:nvSpPr>
          <p:spPr>
            <a:xfrm>
              <a:off x="890588" y="5641181"/>
              <a:ext cx="3413284"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Mở workload canary; H0-W khi X là primary</a:t>
              </a:r>
            </a:p>
          </p:txBody>
        </p:sp>
        <p:sp>
          <p:nvSpPr>
            <p:cNvPr id="51" name="Rectangle 51"/>
            <p:cNvSpPr/>
            <p:nvPr/>
          </p:nvSpPr>
          <p:spPr>
            <a:xfrm>
              <a:off x="6048375" y="5276850"/>
              <a:ext cx="5457825" cy="581025"/>
            </a:xfrm>
            <a:prstGeom prst="rect">
              <a:avLst/>
            </a:prstGeom>
            <a:solidFill>
              <a:srgbClr val="F2F2F2"/>
            </a:solidFill>
            <a:ln>
              <a:noFill/>
            </a:ln>
          </p:spPr>
          <p:txBody>
            <a:bodyPr/>
            <a:lstStyle/>
            <a:p>
              <a:endParaRPr lang="en-US"/>
            </a:p>
          </p:txBody>
        </p:sp>
        <p:sp>
          <p:nvSpPr>
            <p:cNvPr id="52" name="Rectangle 52"/>
            <p:cNvSpPr/>
            <p:nvPr/>
          </p:nvSpPr>
          <p:spPr>
            <a:xfrm>
              <a:off x="6048375" y="5276850"/>
              <a:ext cx="66675" cy="581025"/>
            </a:xfrm>
            <a:prstGeom prst="rect">
              <a:avLst/>
            </a:prstGeom>
            <a:solidFill>
              <a:srgbClr val="F46A25"/>
            </a:solidFill>
            <a:ln>
              <a:noFill/>
            </a:ln>
          </p:spPr>
          <p:txBody>
            <a:bodyPr/>
            <a:lstStyle/>
            <a:p>
              <a:endParaRPr lang="en-US"/>
            </a:p>
          </p:txBody>
        </p:sp>
        <p:sp>
          <p:nvSpPr>
            <p:cNvPr id="53" name="TextBox 53"/>
            <p:cNvSpPr txBox="1"/>
            <p:nvPr/>
          </p:nvSpPr>
          <p:spPr>
            <a:xfrm>
              <a:off x="6250305" y="5407342"/>
              <a:ext cx="2342629"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FAIL / thiếu bằng chứng</a:t>
              </a:r>
            </a:p>
          </p:txBody>
        </p:sp>
        <p:sp>
          <p:nvSpPr>
            <p:cNvPr id="54" name="TextBox 54"/>
            <p:cNvSpPr txBox="1"/>
            <p:nvPr/>
          </p:nvSpPr>
          <p:spPr>
            <a:xfrm>
              <a:off x="6253162" y="5641181"/>
              <a:ext cx="2493169"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Dừng mở rộng, giữ log, điều tra</a:t>
              </a:r>
            </a:p>
          </p:txBody>
        </p:sp>
      </p:grpSp>
      <p:grpSp>
        <p:nvGrpSpPr>
          <p:cNvPr id="62" name="Group 62"/>
          <p:cNvGrpSpPr/>
          <p:nvPr/>
        </p:nvGrpSpPr>
        <p:grpSpPr>
          <a:xfrm>
            <a:off x="0" y="6419850"/>
            <a:ext cx="12192000" cy="438150"/>
            <a:chOff x="0" y="6419850"/>
            <a:chExt cx="12192000" cy="438150"/>
          </a:xfrm>
        </p:grpSpPr>
        <p:sp>
          <p:nvSpPr>
            <p:cNvPr id="56" name="Rectangle 56"/>
            <p:cNvSpPr/>
            <p:nvPr/>
          </p:nvSpPr>
          <p:spPr>
            <a:xfrm>
              <a:off x="0" y="6419850"/>
              <a:ext cx="12192000" cy="438150"/>
            </a:xfrm>
            <a:prstGeom prst="rect">
              <a:avLst/>
            </a:prstGeom>
            <a:solidFill>
              <a:srgbClr val="F2F2F2"/>
            </a:solidFill>
            <a:ln>
              <a:noFill/>
            </a:ln>
          </p:spPr>
          <p:txBody>
            <a:bodyPr/>
            <a:lstStyle/>
            <a:p>
              <a:endParaRPr lang="en-US"/>
            </a:p>
          </p:txBody>
        </p:sp>
        <p:sp>
          <p:nvSpPr>
            <p:cNvPr id="57" name="Rectangle 57"/>
            <p:cNvSpPr/>
            <p:nvPr/>
          </p:nvSpPr>
          <p:spPr>
            <a:xfrm>
              <a:off x="0" y="6419850"/>
              <a:ext cx="76200" cy="438150"/>
            </a:xfrm>
            <a:prstGeom prst="rect">
              <a:avLst/>
            </a:prstGeom>
            <a:solidFill>
              <a:srgbClr val="EE0033"/>
            </a:solidFill>
            <a:ln>
              <a:noFill/>
            </a:ln>
          </p:spPr>
          <p:txBody>
            <a:bodyPr/>
            <a:lstStyle/>
            <a:p>
              <a:endParaRPr lang="en-US"/>
            </a:p>
          </p:txBody>
        </p:sp>
        <p:sp>
          <p:nvSpPr>
            <p:cNvPr id="58" name="TextBox 58"/>
            <p:cNvSpPr txBox="1"/>
            <p:nvPr/>
          </p:nvSpPr>
          <p:spPr>
            <a:xfrm>
              <a:off x="597218" y="6590824"/>
              <a:ext cx="1377553"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PA1 + H0-R · ĐỀ XUẤT</a:t>
              </a:r>
            </a:p>
          </p:txBody>
        </p:sp>
        <p:sp>
          <p:nvSpPr>
            <p:cNvPr id="59" name="TextBox 59"/>
            <p:cNvSpPr txBox="1"/>
            <p:nvPr/>
          </p:nvSpPr>
          <p:spPr>
            <a:xfrm>
              <a:off x="5049441" y="6598920"/>
              <a:ext cx="2093119"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Nguồn: pptx.md; thiết kế H0/PA1</a:t>
              </a:r>
            </a:p>
          </p:txBody>
        </p:sp>
        <p:sp>
          <p:nvSpPr>
            <p:cNvPr id="60" name="Rectangle 60"/>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61" name="TextBox 61"/>
            <p:cNvSpPr txBox="1"/>
            <p:nvPr/>
          </p:nvSpPr>
          <p:spPr>
            <a:xfrm>
              <a:off x="11069170" y="6582728"/>
              <a:ext cx="340659"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8/13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9"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heel(1)">
                                      <p:cBhvr>
                                        <p:cTn id="11" dur="400"/>
                                        <p:tgtEl>
                                          <p:spTgt spid="4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image">
                                      <p:cBhvr>
                                        <p:cTn id="15"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3" grpId="0"/>
      <p:bldP spid="5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6078512"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Luồng ghi dữ liệu và các điểm H0-W</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sp>
        <p:nvSpPr>
          <p:cNvPr id="8" name="TextBox 8"/>
          <p:cNvSpPr txBox="1"/>
          <p:nvPr/>
        </p:nvSpPr>
        <p:spPr>
          <a:xfrm>
            <a:off x="671512" y="1183481"/>
            <a:ext cx="2797546" cy="228600"/>
          </a:xfrm>
          <a:prstGeom prst="rect">
            <a:avLst/>
          </a:prstGeom>
          <a:noFill/>
          <a:ln>
            <a:noFill/>
          </a:ln>
        </p:spPr>
        <p:txBody>
          <a:bodyPr wrap="none" lIns="0" tIns="0" rIns="0" bIns="0" anchor="t" anchorCtr="0">
            <a:spAutoFit/>
          </a:bodyPr>
          <a:lstStyle/>
          <a:p>
            <a:pPr algn="l"/>
            <a:r>
              <a:rPr lang="zh-CN" sz="1125" dirty="0">
                <a:solidFill>
                  <a:srgbClr val="F46A25"/>
                </a:solidFill>
                <a:latin typeface="FS Magistral Bold"/>
                <a:ea typeface="FS Magistral Bold"/>
                <a:cs typeface="FS Magistral Bold"/>
              </a:rPr>
              <a:t>THIẾT KẾ ĐỀ XUẤT · MINH HỌA MỨC 3</a:t>
            </a:r>
          </a:p>
        </p:txBody>
      </p:sp>
      <p:grpSp>
        <p:nvGrpSpPr>
          <p:cNvPr id="27" name="Group 27"/>
          <p:cNvGrpSpPr/>
          <p:nvPr/>
        </p:nvGrpSpPr>
        <p:grpSpPr>
          <a:xfrm>
            <a:off x="685800" y="1562100"/>
            <a:ext cx="7239000" cy="1143000"/>
            <a:chOff x="685800" y="1562100"/>
            <a:chExt cx="7239000" cy="1143000"/>
          </a:xfrm>
        </p:grpSpPr>
        <p:sp>
          <p:nvSpPr>
            <p:cNvPr id="9" name="Rectangle 9"/>
            <p:cNvSpPr/>
            <p:nvPr/>
          </p:nvSpPr>
          <p:spPr>
            <a:xfrm>
              <a:off x="685800" y="1562100"/>
              <a:ext cx="2238375" cy="1143000"/>
            </a:xfrm>
            <a:prstGeom prst="rect">
              <a:avLst/>
            </a:prstGeom>
            <a:solidFill>
              <a:srgbClr val="F2F2F2"/>
            </a:solidFill>
            <a:ln>
              <a:noFill/>
            </a:ln>
          </p:spPr>
          <p:txBody>
            <a:bodyPr/>
            <a:lstStyle/>
            <a:p>
              <a:endParaRPr lang="en-US"/>
            </a:p>
          </p:txBody>
        </p:sp>
        <p:sp>
          <p:nvSpPr>
            <p:cNvPr id="10" name="Rectangle 10"/>
            <p:cNvSpPr/>
            <p:nvPr/>
          </p:nvSpPr>
          <p:spPr>
            <a:xfrm>
              <a:off x="685800" y="1562100"/>
              <a:ext cx="66675" cy="1143000"/>
            </a:xfrm>
            <a:prstGeom prst="rect">
              <a:avLst/>
            </a:prstGeom>
            <a:solidFill>
              <a:srgbClr val="EE0033"/>
            </a:solidFill>
            <a:ln>
              <a:noFill/>
            </a:ln>
          </p:spPr>
          <p:txBody>
            <a:bodyPr/>
            <a:lstStyle/>
            <a:p>
              <a:endParaRPr lang="en-US"/>
            </a:p>
          </p:txBody>
        </p:sp>
        <p:sp>
          <p:nvSpPr>
            <p:cNvPr id="11" name="TextBox 11"/>
            <p:cNvSpPr txBox="1"/>
            <p:nvPr/>
          </p:nvSpPr>
          <p:spPr>
            <a:xfrm>
              <a:off x="857250" y="1724025"/>
              <a:ext cx="1073229" cy="304800"/>
            </a:xfrm>
            <a:prstGeom prst="rect">
              <a:avLst/>
            </a:prstGeom>
            <a:noFill/>
            <a:ln>
              <a:noFill/>
            </a:ln>
          </p:spPr>
          <p:txBody>
            <a:bodyPr wrap="none" lIns="0" tIns="0" rIns="0" bIns="0" anchor="t" anchorCtr="0">
              <a:spAutoFit/>
            </a:bodyPr>
            <a:lstStyle/>
            <a:p>
              <a:pPr algn="l"/>
              <a:r>
                <a:rPr lang="zh-CN" sz="1500" dirty="0">
                  <a:solidFill>
                    <a:srgbClr val="EE0033"/>
                  </a:solidFill>
                  <a:latin typeface="FS Magistral Bold"/>
                  <a:ea typeface="FS Magistral Bold"/>
                  <a:cs typeface="FS Magistral Bold"/>
                </a:rPr>
                <a:t>A · Client</a:t>
              </a:r>
            </a:p>
          </p:txBody>
        </p:sp>
        <p:sp>
          <p:nvSpPr>
            <p:cNvPr id="12" name="TextBox 12"/>
            <p:cNvSpPr txBox="1"/>
            <p:nvPr/>
          </p:nvSpPr>
          <p:spPr>
            <a:xfrm>
              <a:off x="861060" y="2051685"/>
              <a:ext cx="1450086"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FS Magistral Book"/>
                  <a:ea typeface="FS Magistral Book"/>
                  <a:cs typeface="FS Magistral Book"/>
                </a:rPr>
                <a:t>Payload + Hclient</a:t>
              </a:r>
            </a:p>
          </p:txBody>
        </p:sp>
        <p:sp>
          <p:nvSpPr>
            <p:cNvPr id="13" name="TextBox 13"/>
            <p:cNvSpPr txBox="1"/>
            <p:nvPr/>
          </p:nvSpPr>
          <p:spPr>
            <a:xfrm>
              <a:off x="862965" y="2325052"/>
              <a:ext cx="2150602" cy="213360"/>
            </a:xfrm>
            <a:prstGeom prst="rect">
              <a:avLst/>
            </a:prstGeom>
            <a:noFill/>
            <a:ln>
              <a:noFill/>
            </a:ln>
          </p:spPr>
          <p:txBody>
            <a:bodyPr wrap="none" lIns="0" tIns="0" rIns="0" bIns="0" anchor="t" anchorCtr="0">
              <a:spAutoFit/>
            </a:bodyPr>
            <a:lstStyle/>
            <a:p>
              <a:pPr algn="l"/>
              <a:r>
                <a:rPr lang="zh-CN" sz="1050" dirty="0">
                  <a:solidFill>
                    <a:srgbClr val="44494D"/>
                  </a:solidFill>
                  <a:latin typeface="FS Magistral Book"/>
                  <a:ea typeface="FS Magistral Book"/>
                  <a:cs typeface="FS Magistral Book"/>
                </a:rPr>
                <a:t>SHA256(payload), request ID</a:t>
              </a:r>
            </a:p>
          </p:txBody>
        </p:sp>
        <p:sp>
          <p:nvSpPr>
            <p:cNvPr id="14" name="Line 14"/>
            <p:cNvSpPr/>
            <p:nvPr/>
          </p:nvSpPr>
          <p:spPr>
            <a:xfrm>
              <a:off x="2971800" y="2124075"/>
              <a:ext cx="247650" cy="9525"/>
            </a:xfrm>
            <a:custGeom>
              <a:avLst/>
              <a:gdLst/>
              <a:ahLst/>
              <a:cxnLst/>
              <a:rect l="l" t="t" r="r" b="b"/>
              <a:pathLst>
                <a:path w="247650" h="9525">
                  <a:moveTo>
                    <a:pt x="0" y="0"/>
                  </a:moveTo>
                  <a:lnTo>
                    <a:pt x="247650" y="0"/>
                  </a:lnTo>
                </a:path>
              </a:pathLst>
            </a:custGeom>
            <a:noFill/>
            <a:ln w="19050">
              <a:solidFill>
                <a:srgbClr val="6B7280"/>
              </a:solidFill>
            </a:ln>
          </p:spPr>
          <p:txBody>
            <a:bodyPr/>
            <a:lstStyle/>
            <a:p>
              <a:endParaRPr lang="en-US"/>
            </a:p>
          </p:txBody>
        </p:sp>
        <p:sp>
          <p:nvSpPr>
            <p:cNvPr id="15" name="Polygon 15"/>
            <p:cNvSpPr/>
            <p:nvPr/>
          </p:nvSpPr>
          <p:spPr>
            <a:xfrm>
              <a:off x="3124200" y="2066925"/>
              <a:ext cx="95250" cy="114300"/>
            </a:xfrm>
            <a:custGeom>
              <a:avLst/>
              <a:gdLst/>
              <a:ahLst/>
              <a:cxnLst/>
              <a:rect l="l" t="t" r="r" b="b"/>
              <a:pathLst>
                <a:path w="95250" h="114300">
                  <a:moveTo>
                    <a:pt x="95250" y="57150"/>
                  </a:moveTo>
                  <a:lnTo>
                    <a:pt x="0" y="0"/>
                  </a:lnTo>
                  <a:lnTo>
                    <a:pt x="0" y="114300"/>
                  </a:lnTo>
                  <a:close/>
                </a:path>
              </a:pathLst>
            </a:custGeom>
            <a:solidFill>
              <a:srgbClr val="6B7280"/>
            </a:solidFill>
            <a:ln>
              <a:noFill/>
            </a:ln>
          </p:spPr>
          <p:txBody>
            <a:bodyPr/>
            <a:lstStyle/>
            <a:p>
              <a:endParaRPr lang="en-US"/>
            </a:p>
          </p:txBody>
        </p:sp>
        <p:sp>
          <p:nvSpPr>
            <p:cNvPr id="16" name="Rectangle 16"/>
            <p:cNvSpPr/>
            <p:nvPr/>
          </p:nvSpPr>
          <p:spPr>
            <a:xfrm>
              <a:off x="3286125" y="1562100"/>
              <a:ext cx="2085975" cy="1143000"/>
            </a:xfrm>
            <a:prstGeom prst="rect">
              <a:avLst/>
            </a:prstGeom>
            <a:solidFill>
              <a:srgbClr val="F2F2F2"/>
            </a:solidFill>
            <a:ln>
              <a:noFill/>
            </a:ln>
          </p:spPr>
          <p:txBody>
            <a:bodyPr/>
            <a:lstStyle/>
            <a:p>
              <a:endParaRPr lang="en-US"/>
            </a:p>
          </p:txBody>
        </p:sp>
        <p:sp>
          <p:nvSpPr>
            <p:cNvPr id="17" name="TextBox 17"/>
            <p:cNvSpPr txBox="1"/>
            <p:nvPr/>
          </p:nvSpPr>
          <p:spPr>
            <a:xfrm>
              <a:off x="3457575" y="1724025"/>
              <a:ext cx="1107734" cy="304800"/>
            </a:xfrm>
            <a:prstGeom prst="rect">
              <a:avLst/>
            </a:prstGeom>
            <a:noFill/>
            <a:ln>
              <a:noFill/>
            </a:ln>
          </p:spPr>
          <p:txBody>
            <a:bodyPr wrap="none" lIns="0" tIns="0" rIns="0" bIns="0" anchor="t" anchorCtr="0">
              <a:spAutoFit/>
            </a:bodyPr>
            <a:lstStyle/>
            <a:p>
              <a:pPr algn="l"/>
              <a:r>
                <a:rPr lang="zh-CN" sz="1500" dirty="0">
                  <a:solidFill>
                    <a:srgbClr val="000000"/>
                  </a:solidFill>
                  <a:latin typeface="FS Magistral Bold"/>
                  <a:ea typeface="FS Magistral Bold"/>
                  <a:cs typeface="FS Magistral Bold"/>
                </a:rPr>
                <a:t>Primary X</a:t>
              </a:r>
            </a:p>
          </p:txBody>
        </p:sp>
        <p:sp>
          <p:nvSpPr>
            <p:cNvPr id="18" name="TextBox 18"/>
            <p:cNvSpPr txBox="1"/>
            <p:nvPr/>
          </p:nvSpPr>
          <p:spPr>
            <a:xfrm>
              <a:off x="3461385" y="2051685"/>
              <a:ext cx="1485138"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FS Magistral Book"/>
                  <a:ea typeface="FS Magistral Book"/>
                  <a:cs typeface="FS Magistral Book"/>
                </a:rPr>
                <a:t>Nhận, xử lý write</a:t>
              </a:r>
            </a:p>
          </p:txBody>
        </p:sp>
        <p:sp>
          <p:nvSpPr>
            <p:cNvPr id="19" name="TextBox 19"/>
            <p:cNvSpPr txBox="1"/>
            <p:nvPr/>
          </p:nvSpPr>
          <p:spPr>
            <a:xfrm>
              <a:off x="3463290" y="2325052"/>
              <a:ext cx="1276493" cy="213360"/>
            </a:xfrm>
            <a:prstGeom prst="rect">
              <a:avLst/>
            </a:prstGeom>
            <a:noFill/>
            <a:ln>
              <a:noFill/>
            </a:ln>
          </p:spPr>
          <p:txBody>
            <a:bodyPr wrap="none" lIns="0" tIns="0" rIns="0" bIns="0" anchor="t" anchorCtr="0">
              <a:spAutoFit/>
            </a:bodyPr>
            <a:lstStyle/>
            <a:p>
              <a:pPr algn="l"/>
              <a:r>
                <a:rPr lang="zh-CN" sz="1050" dirty="0">
                  <a:solidFill>
                    <a:srgbClr val="44494D"/>
                  </a:solidFill>
                  <a:latin typeface="FS Magistral Book"/>
                  <a:ea typeface="FS Magistral Book"/>
                  <a:cs typeface="FS Magistral Book"/>
                </a:rPr>
                <a:t>Messenger → OSD</a:t>
              </a:r>
            </a:p>
          </p:txBody>
        </p:sp>
        <p:sp>
          <p:nvSpPr>
            <p:cNvPr id="20" name="Line 20"/>
            <p:cNvSpPr/>
            <p:nvPr/>
          </p:nvSpPr>
          <p:spPr>
            <a:xfrm>
              <a:off x="5419725" y="2124075"/>
              <a:ext cx="247650" cy="9525"/>
            </a:xfrm>
            <a:custGeom>
              <a:avLst/>
              <a:gdLst/>
              <a:ahLst/>
              <a:cxnLst/>
              <a:rect l="l" t="t" r="r" b="b"/>
              <a:pathLst>
                <a:path w="247650" h="9525">
                  <a:moveTo>
                    <a:pt x="0" y="0"/>
                  </a:moveTo>
                  <a:lnTo>
                    <a:pt x="247650" y="0"/>
                  </a:lnTo>
                </a:path>
              </a:pathLst>
            </a:custGeom>
            <a:noFill/>
            <a:ln w="19050">
              <a:solidFill>
                <a:srgbClr val="6B7280"/>
              </a:solidFill>
            </a:ln>
          </p:spPr>
          <p:txBody>
            <a:bodyPr/>
            <a:lstStyle/>
            <a:p>
              <a:endParaRPr lang="en-US"/>
            </a:p>
          </p:txBody>
        </p:sp>
        <p:sp>
          <p:nvSpPr>
            <p:cNvPr id="21" name="Polygon 21"/>
            <p:cNvSpPr/>
            <p:nvPr/>
          </p:nvSpPr>
          <p:spPr>
            <a:xfrm>
              <a:off x="5572125" y="2066925"/>
              <a:ext cx="95250" cy="114300"/>
            </a:xfrm>
            <a:custGeom>
              <a:avLst/>
              <a:gdLst/>
              <a:ahLst/>
              <a:cxnLst/>
              <a:rect l="l" t="t" r="r" b="b"/>
              <a:pathLst>
                <a:path w="95250" h="114300">
                  <a:moveTo>
                    <a:pt x="95250" y="57150"/>
                  </a:moveTo>
                  <a:lnTo>
                    <a:pt x="0" y="0"/>
                  </a:lnTo>
                  <a:lnTo>
                    <a:pt x="0" y="114300"/>
                  </a:lnTo>
                  <a:close/>
                </a:path>
              </a:pathLst>
            </a:custGeom>
            <a:solidFill>
              <a:srgbClr val="6B7280"/>
            </a:solidFill>
            <a:ln>
              <a:noFill/>
            </a:ln>
          </p:spPr>
          <p:txBody>
            <a:bodyPr/>
            <a:lstStyle/>
            <a:p>
              <a:endParaRPr lang="en-US"/>
            </a:p>
          </p:txBody>
        </p:sp>
        <p:sp>
          <p:nvSpPr>
            <p:cNvPr id="22" name="Rectangle 22"/>
            <p:cNvSpPr/>
            <p:nvPr/>
          </p:nvSpPr>
          <p:spPr>
            <a:xfrm>
              <a:off x="5734050" y="1562100"/>
              <a:ext cx="2190750" cy="1143000"/>
            </a:xfrm>
            <a:prstGeom prst="rect">
              <a:avLst/>
            </a:prstGeom>
            <a:solidFill>
              <a:srgbClr val="F2F2F2"/>
            </a:solidFill>
            <a:ln>
              <a:noFill/>
            </a:ln>
          </p:spPr>
          <p:txBody>
            <a:bodyPr/>
            <a:lstStyle/>
            <a:p>
              <a:endParaRPr lang="en-US"/>
            </a:p>
          </p:txBody>
        </p:sp>
        <p:sp>
          <p:nvSpPr>
            <p:cNvPr id="23" name="Rectangle 23"/>
            <p:cNvSpPr/>
            <p:nvPr/>
          </p:nvSpPr>
          <p:spPr>
            <a:xfrm>
              <a:off x="5734050" y="1562100"/>
              <a:ext cx="66675" cy="1143000"/>
            </a:xfrm>
            <a:prstGeom prst="rect">
              <a:avLst/>
            </a:prstGeom>
            <a:solidFill>
              <a:srgbClr val="EE0033"/>
            </a:solidFill>
            <a:ln>
              <a:noFill/>
            </a:ln>
          </p:spPr>
          <p:txBody>
            <a:bodyPr/>
            <a:lstStyle/>
            <a:p>
              <a:endParaRPr lang="en-US"/>
            </a:p>
          </p:txBody>
        </p:sp>
        <p:sp>
          <p:nvSpPr>
            <p:cNvPr id="24" name="TextBox 24"/>
            <p:cNvSpPr txBox="1"/>
            <p:nvPr/>
          </p:nvSpPr>
          <p:spPr>
            <a:xfrm>
              <a:off x="5905500" y="1724025"/>
              <a:ext cx="1383768" cy="304800"/>
            </a:xfrm>
            <a:prstGeom prst="rect">
              <a:avLst/>
            </a:prstGeom>
            <a:noFill/>
            <a:ln>
              <a:noFill/>
            </a:ln>
          </p:spPr>
          <p:txBody>
            <a:bodyPr wrap="none" lIns="0" tIns="0" rIns="0" bIns="0" anchor="t" anchorCtr="0">
              <a:spAutoFit/>
            </a:bodyPr>
            <a:lstStyle/>
            <a:p>
              <a:pPr algn="l"/>
              <a:r>
                <a:rPr lang="zh-CN" sz="1500" dirty="0">
                  <a:solidFill>
                    <a:srgbClr val="EE0033"/>
                  </a:solidFill>
                  <a:latin typeface="FS Magistral Bold"/>
                  <a:ea typeface="FS Magistral Bold"/>
                  <a:cs typeface="FS Magistral Bold"/>
                </a:rPr>
                <a:t>B · Buffer X</a:t>
              </a:r>
            </a:p>
          </p:txBody>
        </p:sp>
        <p:sp>
          <p:nvSpPr>
            <p:cNvPr id="25" name="TextBox 25"/>
            <p:cNvSpPr txBox="1"/>
            <p:nvPr/>
          </p:nvSpPr>
          <p:spPr>
            <a:xfrm>
              <a:off x="5909310" y="2051685"/>
              <a:ext cx="1160907"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FS Magistral Book"/>
                  <a:ea typeface="FS Magistral Book"/>
                  <a:cs typeface="FS Magistral Book"/>
                </a:rPr>
                <a:t>So với Hclient</a:t>
              </a:r>
            </a:p>
          </p:txBody>
        </p:sp>
        <p:sp>
          <p:nvSpPr>
            <p:cNvPr id="26" name="TextBox 26"/>
            <p:cNvSpPr txBox="1"/>
            <p:nvPr/>
          </p:nvSpPr>
          <p:spPr>
            <a:xfrm>
              <a:off x="5911215" y="2325052"/>
              <a:ext cx="1935909" cy="213360"/>
            </a:xfrm>
            <a:prstGeom prst="rect">
              <a:avLst/>
            </a:prstGeom>
            <a:noFill/>
            <a:ln>
              <a:noFill/>
            </a:ln>
          </p:spPr>
          <p:txBody>
            <a:bodyPr wrap="none" lIns="0" tIns="0" rIns="0" bIns="0" anchor="t" anchorCtr="0">
              <a:spAutoFit/>
            </a:bodyPr>
            <a:lstStyle/>
            <a:p>
              <a:pPr algn="l"/>
              <a:r>
                <a:rPr lang="zh-CN" sz="1050" dirty="0">
                  <a:solidFill>
                    <a:srgbClr val="44494D"/>
                  </a:solidFill>
                  <a:latin typeface="FS Magistral Book"/>
                  <a:ea typeface="FS Magistral Book"/>
                  <a:cs typeface="FS Magistral Book"/>
                </a:rPr>
                <a:t>Trước submit và replicate</a:t>
              </a:r>
            </a:p>
          </p:txBody>
        </p:sp>
      </p:grpSp>
      <p:grpSp>
        <p:nvGrpSpPr>
          <p:cNvPr id="50" name="Group 50"/>
          <p:cNvGrpSpPr/>
          <p:nvPr/>
        </p:nvGrpSpPr>
        <p:grpSpPr>
          <a:xfrm>
            <a:off x="7924800" y="1562100"/>
            <a:ext cx="3800475" cy="3295650"/>
            <a:chOff x="7924800" y="1562100"/>
            <a:chExt cx="3800475" cy="3295650"/>
          </a:xfrm>
        </p:grpSpPr>
        <p:sp>
          <p:nvSpPr>
            <p:cNvPr id="28" name="Line 28"/>
            <p:cNvSpPr/>
            <p:nvPr/>
          </p:nvSpPr>
          <p:spPr>
            <a:xfrm>
              <a:off x="7924800" y="2124075"/>
              <a:ext cx="314325" cy="9525"/>
            </a:xfrm>
            <a:custGeom>
              <a:avLst/>
              <a:gdLst/>
              <a:ahLst/>
              <a:cxnLst/>
              <a:rect l="l" t="t" r="r" b="b"/>
              <a:pathLst>
                <a:path w="314325" h="9525">
                  <a:moveTo>
                    <a:pt x="0" y="0"/>
                  </a:moveTo>
                  <a:lnTo>
                    <a:pt x="314325" y="0"/>
                  </a:lnTo>
                </a:path>
              </a:pathLst>
            </a:custGeom>
            <a:noFill/>
            <a:ln w="19050">
              <a:solidFill>
                <a:srgbClr val="6B7280"/>
              </a:solidFill>
            </a:ln>
          </p:spPr>
          <p:txBody>
            <a:bodyPr/>
            <a:lstStyle/>
            <a:p>
              <a:endParaRPr lang="en-US"/>
            </a:p>
          </p:txBody>
        </p:sp>
        <p:sp>
          <p:nvSpPr>
            <p:cNvPr id="29" name="Line 29"/>
            <p:cNvSpPr/>
            <p:nvPr/>
          </p:nvSpPr>
          <p:spPr>
            <a:xfrm>
              <a:off x="8239125" y="2124075"/>
              <a:ext cx="9525" cy="1771650"/>
            </a:xfrm>
            <a:custGeom>
              <a:avLst/>
              <a:gdLst/>
              <a:ahLst/>
              <a:cxnLst/>
              <a:rect l="l" t="t" r="r" b="b"/>
              <a:pathLst>
                <a:path w="9525" h="1771650">
                  <a:moveTo>
                    <a:pt x="0" y="0"/>
                  </a:moveTo>
                  <a:lnTo>
                    <a:pt x="0" y="1771650"/>
                  </a:lnTo>
                </a:path>
              </a:pathLst>
            </a:custGeom>
            <a:noFill/>
            <a:ln w="19050">
              <a:solidFill>
                <a:srgbClr val="6B7280"/>
              </a:solidFill>
            </a:ln>
          </p:spPr>
          <p:txBody>
            <a:bodyPr/>
            <a:lstStyle/>
            <a:p>
              <a:endParaRPr lang="en-US"/>
            </a:p>
          </p:txBody>
        </p:sp>
        <p:sp>
          <p:nvSpPr>
            <p:cNvPr id="30" name="Line 30"/>
            <p:cNvSpPr/>
            <p:nvPr/>
          </p:nvSpPr>
          <p:spPr>
            <a:xfrm>
              <a:off x="8239125" y="2124075"/>
              <a:ext cx="228600" cy="9525"/>
            </a:xfrm>
            <a:custGeom>
              <a:avLst/>
              <a:gdLst/>
              <a:ahLst/>
              <a:cxnLst/>
              <a:rect l="l" t="t" r="r" b="b"/>
              <a:pathLst>
                <a:path w="228600" h="9525">
                  <a:moveTo>
                    <a:pt x="0" y="0"/>
                  </a:moveTo>
                  <a:lnTo>
                    <a:pt x="228600" y="0"/>
                  </a:lnTo>
                </a:path>
              </a:pathLst>
            </a:custGeom>
            <a:noFill/>
            <a:ln w="19050">
              <a:solidFill>
                <a:srgbClr val="6B7280"/>
              </a:solidFill>
            </a:ln>
          </p:spPr>
          <p:txBody>
            <a:bodyPr/>
            <a:lstStyle/>
            <a:p>
              <a:endParaRPr lang="en-US"/>
            </a:p>
          </p:txBody>
        </p:sp>
        <p:sp>
          <p:nvSpPr>
            <p:cNvPr id="31" name="Polygon 31"/>
            <p:cNvSpPr/>
            <p:nvPr/>
          </p:nvSpPr>
          <p:spPr>
            <a:xfrm>
              <a:off x="8372475" y="2066925"/>
              <a:ext cx="95250" cy="114300"/>
            </a:xfrm>
            <a:custGeom>
              <a:avLst/>
              <a:gdLst/>
              <a:ahLst/>
              <a:cxnLst/>
              <a:rect l="l" t="t" r="r" b="b"/>
              <a:pathLst>
                <a:path w="95250" h="114300">
                  <a:moveTo>
                    <a:pt x="95250" y="57150"/>
                  </a:moveTo>
                  <a:lnTo>
                    <a:pt x="0" y="0"/>
                  </a:lnTo>
                  <a:lnTo>
                    <a:pt x="0" y="114300"/>
                  </a:lnTo>
                  <a:close/>
                </a:path>
              </a:pathLst>
            </a:custGeom>
            <a:solidFill>
              <a:srgbClr val="6B7280"/>
            </a:solidFill>
            <a:ln>
              <a:noFill/>
            </a:ln>
          </p:spPr>
          <p:txBody>
            <a:bodyPr/>
            <a:lstStyle/>
            <a:p>
              <a:endParaRPr lang="en-US"/>
            </a:p>
          </p:txBody>
        </p:sp>
        <p:sp>
          <p:nvSpPr>
            <p:cNvPr id="32" name="Line 32"/>
            <p:cNvSpPr/>
            <p:nvPr/>
          </p:nvSpPr>
          <p:spPr>
            <a:xfrm>
              <a:off x="8239125" y="3895725"/>
              <a:ext cx="228600" cy="9525"/>
            </a:xfrm>
            <a:custGeom>
              <a:avLst/>
              <a:gdLst/>
              <a:ahLst/>
              <a:cxnLst/>
              <a:rect l="l" t="t" r="r" b="b"/>
              <a:pathLst>
                <a:path w="228600" h="9525">
                  <a:moveTo>
                    <a:pt x="0" y="0"/>
                  </a:moveTo>
                  <a:lnTo>
                    <a:pt x="228600" y="0"/>
                  </a:lnTo>
                </a:path>
              </a:pathLst>
            </a:custGeom>
            <a:noFill/>
            <a:ln w="19050">
              <a:solidFill>
                <a:srgbClr val="6B7280"/>
              </a:solidFill>
            </a:ln>
          </p:spPr>
          <p:txBody>
            <a:bodyPr/>
            <a:lstStyle/>
            <a:p>
              <a:endParaRPr lang="en-US"/>
            </a:p>
          </p:txBody>
        </p:sp>
        <p:sp>
          <p:nvSpPr>
            <p:cNvPr id="33" name="Polygon 33"/>
            <p:cNvSpPr/>
            <p:nvPr/>
          </p:nvSpPr>
          <p:spPr>
            <a:xfrm>
              <a:off x="8372475" y="3838575"/>
              <a:ext cx="95250" cy="114300"/>
            </a:xfrm>
            <a:custGeom>
              <a:avLst/>
              <a:gdLst/>
              <a:ahLst/>
              <a:cxnLst/>
              <a:rect l="l" t="t" r="r" b="b"/>
              <a:pathLst>
                <a:path w="95250" h="114300">
                  <a:moveTo>
                    <a:pt x="95250" y="57150"/>
                  </a:moveTo>
                  <a:lnTo>
                    <a:pt x="0" y="0"/>
                  </a:lnTo>
                  <a:lnTo>
                    <a:pt x="0" y="114300"/>
                  </a:lnTo>
                  <a:close/>
                </a:path>
              </a:pathLst>
            </a:custGeom>
            <a:solidFill>
              <a:srgbClr val="6B7280"/>
            </a:solidFill>
            <a:ln>
              <a:noFill/>
            </a:ln>
          </p:spPr>
          <p:txBody>
            <a:bodyPr/>
            <a:lstStyle/>
            <a:p>
              <a:endParaRPr lang="en-US"/>
            </a:p>
          </p:txBody>
        </p:sp>
        <p:sp>
          <p:nvSpPr>
            <p:cNvPr id="34" name="Rectangle 34"/>
            <p:cNvSpPr/>
            <p:nvPr/>
          </p:nvSpPr>
          <p:spPr>
            <a:xfrm>
              <a:off x="8534400" y="1562100"/>
              <a:ext cx="2971800" cy="1143000"/>
            </a:xfrm>
            <a:prstGeom prst="rect">
              <a:avLst/>
            </a:prstGeom>
            <a:solidFill>
              <a:srgbClr val="F2F2F2"/>
            </a:solidFill>
            <a:ln>
              <a:noFill/>
            </a:ln>
          </p:spPr>
          <p:txBody>
            <a:bodyPr/>
            <a:lstStyle/>
            <a:p>
              <a:endParaRPr lang="en-US"/>
            </a:p>
          </p:txBody>
        </p:sp>
        <p:sp>
          <p:nvSpPr>
            <p:cNvPr id="35" name="TextBox 35"/>
            <p:cNvSpPr txBox="1"/>
            <p:nvPr/>
          </p:nvSpPr>
          <p:spPr>
            <a:xfrm>
              <a:off x="8697278" y="1703546"/>
              <a:ext cx="1565886" cy="289560"/>
            </a:xfrm>
            <a:prstGeom prst="rect">
              <a:avLst/>
            </a:prstGeom>
            <a:noFill/>
            <a:ln>
              <a:noFill/>
            </a:ln>
          </p:spPr>
          <p:txBody>
            <a:bodyPr wrap="none" lIns="0" tIns="0" rIns="0" bIns="0" anchor="t" anchorCtr="0">
              <a:spAutoFit/>
            </a:bodyPr>
            <a:lstStyle/>
            <a:p>
              <a:pPr algn="l"/>
              <a:r>
                <a:rPr lang="zh-CN" sz="1425" dirty="0">
                  <a:solidFill>
                    <a:srgbClr val="000000"/>
                  </a:solidFill>
                  <a:latin typeface="FS Magistral Bold"/>
                  <a:ea typeface="FS Magistral Bold"/>
                  <a:cs typeface="FS Magistral Bold"/>
                </a:rPr>
                <a:t>Nhánh local · X</a:t>
              </a:r>
            </a:p>
          </p:txBody>
        </p:sp>
        <p:sp>
          <p:nvSpPr>
            <p:cNvPr id="36" name="TextBox 36"/>
            <p:cNvSpPr txBox="1"/>
            <p:nvPr/>
          </p:nvSpPr>
          <p:spPr>
            <a:xfrm>
              <a:off x="8701088" y="2002631"/>
              <a:ext cx="2296001" cy="228600"/>
            </a:xfrm>
            <a:prstGeom prst="rect">
              <a:avLst/>
            </a:prstGeom>
            <a:noFill/>
            <a:ln>
              <a:noFill/>
            </a:ln>
          </p:spPr>
          <p:txBody>
            <a:bodyPr wrap="none" lIns="0" tIns="0" rIns="0" bIns="0" anchor="t" anchorCtr="0">
              <a:spAutoFit/>
            </a:bodyPr>
            <a:lstStyle/>
            <a:p>
              <a:pPr algn="l"/>
              <a:r>
                <a:rPr lang="zh-CN" sz="1125" dirty="0">
                  <a:solidFill>
                    <a:srgbClr val="000000"/>
                  </a:solidFill>
                  <a:latin typeface="FS Magistral Book"/>
                  <a:ea typeface="FS Magistral Book"/>
                  <a:cs typeface="FS Magistral Book"/>
                </a:rPr>
                <a:t>BlueStore checksum, ghi bền</a:t>
              </a:r>
            </a:p>
          </p:txBody>
        </p:sp>
        <p:sp>
          <p:nvSpPr>
            <p:cNvPr id="37" name="TextBox 37"/>
            <p:cNvSpPr txBox="1"/>
            <p:nvPr/>
          </p:nvSpPr>
          <p:spPr>
            <a:xfrm>
              <a:off x="8700135" y="2261235"/>
              <a:ext cx="1539469" cy="243840"/>
            </a:xfrm>
            <a:prstGeom prst="rect">
              <a:avLst/>
            </a:prstGeom>
            <a:noFill/>
            <a:ln>
              <a:noFill/>
            </a:ln>
          </p:spPr>
          <p:txBody>
            <a:bodyPr wrap="none" lIns="0" tIns="0" rIns="0" bIns="0" anchor="t" anchorCtr="0">
              <a:spAutoFit/>
            </a:bodyPr>
            <a:lstStyle/>
            <a:p>
              <a:pPr algn="l"/>
              <a:r>
                <a:rPr lang="zh-CN" sz="1200" dirty="0">
                  <a:solidFill>
                    <a:srgbClr val="EE0033"/>
                  </a:solidFill>
                  <a:latin typeface="FS Magistral Bold"/>
                  <a:ea typeface="FS Magistral Bold"/>
                  <a:cs typeface="FS Magistral Bold"/>
                </a:rPr>
                <a:t>D · đọc lại local X</a:t>
              </a:r>
            </a:p>
          </p:txBody>
        </p:sp>
        <p:sp>
          <p:nvSpPr>
            <p:cNvPr id="38" name="Rectangle 38"/>
            <p:cNvSpPr/>
            <p:nvPr/>
          </p:nvSpPr>
          <p:spPr>
            <a:xfrm>
              <a:off x="8534400" y="3257550"/>
              <a:ext cx="2971800" cy="1285875"/>
            </a:xfrm>
            <a:prstGeom prst="rect">
              <a:avLst/>
            </a:prstGeom>
            <a:solidFill>
              <a:srgbClr val="F2F2F2"/>
            </a:solidFill>
            <a:ln>
              <a:noFill/>
            </a:ln>
          </p:spPr>
          <p:txBody>
            <a:bodyPr/>
            <a:lstStyle/>
            <a:p>
              <a:endParaRPr lang="en-US"/>
            </a:p>
          </p:txBody>
        </p:sp>
        <p:sp>
          <p:nvSpPr>
            <p:cNvPr id="39" name="TextBox 39"/>
            <p:cNvSpPr txBox="1"/>
            <p:nvPr/>
          </p:nvSpPr>
          <p:spPr>
            <a:xfrm>
              <a:off x="8697278" y="3408521"/>
              <a:ext cx="2046646" cy="289560"/>
            </a:xfrm>
            <a:prstGeom prst="rect">
              <a:avLst/>
            </a:prstGeom>
            <a:noFill/>
            <a:ln>
              <a:noFill/>
            </a:ln>
          </p:spPr>
          <p:txBody>
            <a:bodyPr wrap="none" lIns="0" tIns="0" rIns="0" bIns="0" anchor="t" anchorCtr="0">
              <a:spAutoFit/>
            </a:bodyPr>
            <a:lstStyle/>
            <a:p>
              <a:pPr algn="l"/>
              <a:r>
                <a:rPr lang="zh-CN" sz="1425" dirty="0">
                  <a:solidFill>
                    <a:srgbClr val="000000"/>
                  </a:solidFill>
                  <a:latin typeface="FS Magistral Bold"/>
                  <a:ea typeface="FS Magistral Bold"/>
                  <a:cs typeface="FS Magistral Bold"/>
                </a:rPr>
                <a:t>Nhánh replica · Y/Z</a:t>
              </a:r>
            </a:p>
          </p:txBody>
        </p:sp>
        <p:sp>
          <p:nvSpPr>
            <p:cNvPr id="40" name="TextBox 40"/>
            <p:cNvSpPr txBox="1"/>
            <p:nvPr/>
          </p:nvSpPr>
          <p:spPr>
            <a:xfrm>
              <a:off x="8700135" y="3689985"/>
              <a:ext cx="2027130" cy="243840"/>
            </a:xfrm>
            <a:prstGeom prst="rect">
              <a:avLst/>
            </a:prstGeom>
            <a:noFill/>
            <a:ln>
              <a:noFill/>
            </a:ln>
          </p:spPr>
          <p:txBody>
            <a:bodyPr wrap="none" lIns="0" tIns="0" rIns="0" bIns="0" anchor="t" anchorCtr="0">
              <a:spAutoFit/>
            </a:bodyPr>
            <a:lstStyle/>
            <a:p>
              <a:pPr algn="l"/>
              <a:r>
                <a:rPr lang="zh-CN" sz="1200" dirty="0">
                  <a:solidFill>
                    <a:srgbClr val="EE0033"/>
                  </a:solidFill>
                  <a:latin typeface="FS Magistral Bold"/>
                  <a:ea typeface="FS Magistral Bold"/>
                  <a:cs typeface="FS Magistral Bold"/>
                </a:rPr>
                <a:t>C · mỗi peer so Hclient</a:t>
              </a:r>
            </a:p>
          </p:txBody>
        </p:sp>
        <p:sp>
          <p:nvSpPr>
            <p:cNvPr id="41" name="TextBox 41"/>
            <p:cNvSpPr txBox="1"/>
            <p:nvPr/>
          </p:nvSpPr>
          <p:spPr>
            <a:xfrm>
              <a:off x="8701088" y="3955256"/>
              <a:ext cx="1860590" cy="228600"/>
            </a:xfrm>
            <a:prstGeom prst="rect">
              <a:avLst/>
            </a:prstGeom>
            <a:noFill/>
            <a:ln>
              <a:noFill/>
            </a:ln>
          </p:spPr>
          <p:txBody>
            <a:bodyPr wrap="none" lIns="0" tIns="0" rIns="0" bIns="0" anchor="t" anchorCtr="0">
              <a:spAutoFit/>
            </a:bodyPr>
            <a:lstStyle/>
            <a:p>
              <a:pPr algn="l"/>
              <a:r>
                <a:rPr lang="zh-CN" sz="1125" dirty="0">
                  <a:solidFill>
                    <a:srgbClr val="000000"/>
                  </a:solidFill>
                  <a:latin typeface="FS Magistral Book"/>
                  <a:ea typeface="FS Magistral Book"/>
                  <a:cs typeface="FS Magistral Book"/>
                </a:rPr>
                <a:t>BlueStore ghi bền riêng</a:t>
              </a:r>
            </a:p>
          </p:txBody>
        </p:sp>
        <p:sp>
          <p:nvSpPr>
            <p:cNvPr id="42" name="TextBox 42"/>
            <p:cNvSpPr txBox="1"/>
            <p:nvPr/>
          </p:nvSpPr>
          <p:spPr>
            <a:xfrm>
              <a:off x="8700135" y="4204335"/>
              <a:ext cx="1741894" cy="243840"/>
            </a:xfrm>
            <a:prstGeom prst="rect">
              <a:avLst/>
            </a:prstGeom>
            <a:noFill/>
            <a:ln>
              <a:noFill/>
            </a:ln>
          </p:spPr>
          <p:txBody>
            <a:bodyPr wrap="none" lIns="0" tIns="0" rIns="0" bIns="0" anchor="t" anchorCtr="0">
              <a:spAutoFit/>
            </a:bodyPr>
            <a:lstStyle/>
            <a:p>
              <a:pPr algn="l"/>
              <a:r>
                <a:rPr lang="zh-CN" sz="1200" dirty="0">
                  <a:solidFill>
                    <a:srgbClr val="EE0033"/>
                  </a:solidFill>
                  <a:latin typeface="FS Magistral Bold"/>
                  <a:ea typeface="FS Magistral Bold"/>
                  <a:cs typeface="FS Magistral Bold"/>
                </a:rPr>
                <a:t>D · đọc lại local Y/Z</a:t>
              </a:r>
            </a:p>
          </p:txBody>
        </p:sp>
        <p:sp>
          <p:nvSpPr>
            <p:cNvPr id="43" name="Line 43"/>
            <p:cNvSpPr/>
            <p:nvPr/>
          </p:nvSpPr>
          <p:spPr>
            <a:xfrm>
              <a:off x="11506200" y="2124075"/>
              <a:ext cx="209550" cy="9525"/>
            </a:xfrm>
            <a:custGeom>
              <a:avLst/>
              <a:gdLst/>
              <a:ahLst/>
              <a:cxnLst/>
              <a:rect l="l" t="t" r="r" b="b"/>
              <a:pathLst>
                <a:path w="209550" h="9525">
                  <a:moveTo>
                    <a:pt x="0" y="0"/>
                  </a:moveTo>
                  <a:lnTo>
                    <a:pt x="209550" y="0"/>
                  </a:lnTo>
                </a:path>
              </a:pathLst>
            </a:custGeom>
            <a:noFill/>
            <a:ln w="19050">
              <a:solidFill>
                <a:srgbClr val="6B7280"/>
              </a:solidFill>
            </a:ln>
          </p:spPr>
          <p:txBody>
            <a:bodyPr/>
            <a:lstStyle/>
            <a:p>
              <a:endParaRPr lang="en-US"/>
            </a:p>
          </p:txBody>
        </p:sp>
        <p:sp>
          <p:nvSpPr>
            <p:cNvPr id="44" name="Line 44"/>
            <p:cNvSpPr/>
            <p:nvPr/>
          </p:nvSpPr>
          <p:spPr>
            <a:xfrm>
              <a:off x="11715750" y="2124075"/>
              <a:ext cx="9525" cy="2581275"/>
            </a:xfrm>
            <a:custGeom>
              <a:avLst/>
              <a:gdLst/>
              <a:ahLst/>
              <a:cxnLst/>
              <a:rect l="l" t="t" r="r" b="b"/>
              <a:pathLst>
                <a:path w="9525" h="2581275">
                  <a:moveTo>
                    <a:pt x="0" y="0"/>
                  </a:moveTo>
                  <a:lnTo>
                    <a:pt x="0" y="2581275"/>
                  </a:lnTo>
                </a:path>
              </a:pathLst>
            </a:custGeom>
            <a:noFill/>
            <a:ln w="19050">
              <a:solidFill>
                <a:srgbClr val="6B7280"/>
              </a:solidFill>
            </a:ln>
          </p:spPr>
          <p:txBody>
            <a:bodyPr/>
            <a:lstStyle/>
            <a:p>
              <a:endParaRPr lang="en-US"/>
            </a:p>
          </p:txBody>
        </p:sp>
        <p:sp>
          <p:nvSpPr>
            <p:cNvPr id="45" name="Line 45"/>
            <p:cNvSpPr/>
            <p:nvPr/>
          </p:nvSpPr>
          <p:spPr>
            <a:xfrm>
              <a:off x="11144250" y="4705350"/>
              <a:ext cx="571500" cy="9525"/>
            </a:xfrm>
            <a:custGeom>
              <a:avLst/>
              <a:gdLst/>
              <a:ahLst/>
              <a:cxnLst/>
              <a:rect l="l" t="t" r="r" b="b"/>
              <a:pathLst>
                <a:path w="571500" h="9525">
                  <a:moveTo>
                    <a:pt x="571500" y="0"/>
                  </a:moveTo>
                  <a:lnTo>
                    <a:pt x="0" y="0"/>
                  </a:lnTo>
                </a:path>
              </a:pathLst>
            </a:custGeom>
            <a:noFill/>
            <a:ln w="19050">
              <a:solidFill>
                <a:srgbClr val="6B7280"/>
              </a:solidFill>
            </a:ln>
          </p:spPr>
          <p:txBody>
            <a:bodyPr/>
            <a:lstStyle/>
            <a:p>
              <a:endParaRPr lang="en-US"/>
            </a:p>
          </p:txBody>
        </p:sp>
        <p:sp>
          <p:nvSpPr>
            <p:cNvPr id="46" name="Line 46"/>
            <p:cNvSpPr/>
            <p:nvPr/>
          </p:nvSpPr>
          <p:spPr>
            <a:xfrm>
              <a:off x="11144250" y="4705350"/>
              <a:ext cx="9525" cy="152400"/>
            </a:xfrm>
            <a:custGeom>
              <a:avLst/>
              <a:gdLst/>
              <a:ahLst/>
              <a:cxnLst/>
              <a:rect l="l" t="t" r="r" b="b"/>
              <a:pathLst>
                <a:path w="9525" h="152400">
                  <a:moveTo>
                    <a:pt x="0" y="0"/>
                  </a:moveTo>
                  <a:lnTo>
                    <a:pt x="0" y="152400"/>
                  </a:lnTo>
                </a:path>
              </a:pathLst>
            </a:custGeom>
            <a:noFill/>
            <a:ln w="19050">
              <a:solidFill>
                <a:srgbClr val="6B7280"/>
              </a:solidFill>
            </a:ln>
          </p:spPr>
          <p:txBody>
            <a:bodyPr/>
            <a:lstStyle/>
            <a:p>
              <a:endParaRPr lang="en-US"/>
            </a:p>
          </p:txBody>
        </p:sp>
        <p:sp>
          <p:nvSpPr>
            <p:cNvPr id="47" name="Polygon 47"/>
            <p:cNvSpPr/>
            <p:nvPr/>
          </p:nvSpPr>
          <p:spPr>
            <a:xfrm>
              <a:off x="11087100" y="4762500"/>
              <a:ext cx="114300" cy="95250"/>
            </a:xfrm>
            <a:custGeom>
              <a:avLst/>
              <a:gdLst/>
              <a:ahLst/>
              <a:cxnLst/>
              <a:rect l="l" t="t" r="r" b="b"/>
              <a:pathLst>
                <a:path w="114300" h="95250">
                  <a:moveTo>
                    <a:pt x="57150" y="95250"/>
                  </a:moveTo>
                  <a:lnTo>
                    <a:pt x="0" y="0"/>
                  </a:lnTo>
                  <a:lnTo>
                    <a:pt x="114300" y="0"/>
                  </a:lnTo>
                  <a:close/>
                </a:path>
              </a:pathLst>
            </a:custGeom>
            <a:solidFill>
              <a:srgbClr val="6B7280"/>
            </a:solidFill>
            <a:ln>
              <a:noFill/>
            </a:ln>
          </p:spPr>
          <p:txBody>
            <a:bodyPr/>
            <a:lstStyle/>
            <a:p>
              <a:endParaRPr lang="en-US"/>
            </a:p>
          </p:txBody>
        </p:sp>
        <p:sp>
          <p:nvSpPr>
            <p:cNvPr id="48" name="Line 48"/>
            <p:cNvSpPr/>
            <p:nvPr/>
          </p:nvSpPr>
          <p:spPr>
            <a:xfrm>
              <a:off x="10020300" y="4543425"/>
              <a:ext cx="9525" cy="314325"/>
            </a:xfrm>
            <a:custGeom>
              <a:avLst/>
              <a:gdLst/>
              <a:ahLst/>
              <a:cxnLst/>
              <a:rect l="l" t="t" r="r" b="b"/>
              <a:pathLst>
                <a:path w="9525" h="314325">
                  <a:moveTo>
                    <a:pt x="0" y="0"/>
                  </a:moveTo>
                  <a:lnTo>
                    <a:pt x="0" y="314325"/>
                  </a:lnTo>
                </a:path>
              </a:pathLst>
            </a:custGeom>
            <a:noFill/>
            <a:ln w="19050">
              <a:solidFill>
                <a:srgbClr val="6B7280"/>
              </a:solidFill>
            </a:ln>
          </p:spPr>
          <p:txBody>
            <a:bodyPr/>
            <a:lstStyle/>
            <a:p>
              <a:endParaRPr lang="en-US"/>
            </a:p>
          </p:txBody>
        </p:sp>
        <p:sp>
          <p:nvSpPr>
            <p:cNvPr id="49" name="Polygon 49"/>
            <p:cNvSpPr/>
            <p:nvPr/>
          </p:nvSpPr>
          <p:spPr>
            <a:xfrm>
              <a:off x="9963150" y="4762500"/>
              <a:ext cx="114300" cy="95250"/>
            </a:xfrm>
            <a:custGeom>
              <a:avLst/>
              <a:gdLst/>
              <a:ahLst/>
              <a:cxnLst/>
              <a:rect l="l" t="t" r="r" b="b"/>
              <a:pathLst>
                <a:path w="114300" h="95250">
                  <a:moveTo>
                    <a:pt x="57150" y="95250"/>
                  </a:moveTo>
                  <a:lnTo>
                    <a:pt x="0" y="0"/>
                  </a:lnTo>
                  <a:lnTo>
                    <a:pt x="114300" y="0"/>
                  </a:lnTo>
                  <a:close/>
                </a:path>
              </a:pathLst>
            </a:custGeom>
            <a:solidFill>
              <a:srgbClr val="6B7280"/>
            </a:solidFill>
            <a:ln>
              <a:noFill/>
            </a:ln>
          </p:spPr>
          <p:txBody>
            <a:bodyPr/>
            <a:lstStyle/>
            <a:p>
              <a:endParaRPr lang="en-US"/>
            </a:p>
          </p:txBody>
        </p:sp>
      </p:grpSp>
      <p:grpSp>
        <p:nvGrpSpPr>
          <p:cNvPr id="62" name="Group 62"/>
          <p:cNvGrpSpPr/>
          <p:nvPr/>
        </p:nvGrpSpPr>
        <p:grpSpPr>
          <a:xfrm>
            <a:off x="670560" y="3095625"/>
            <a:ext cx="10835640" cy="3114675"/>
            <a:chOff x="670560" y="3095625"/>
            <a:chExt cx="10835640" cy="3114675"/>
          </a:xfrm>
        </p:grpSpPr>
        <p:sp>
          <p:nvSpPr>
            <p:cNvPr id="51" name="Rectangle 51"/>
            <p:cNvSpPr/>
            <p:nvPr/>
          </p:nvSpPr>
          <p:spPr>
            <a:xfrm>
              <a:off x="685800" y="3095625"/>
              <a:ext cx="7239000" cy="1466850"/>
            </a:xfrm>
            <a:prstGeom prst="rect">
              <a:avLst/>
            </a:prstGeom>
            <a:solidFill>
              <a:srgbClr val="FFFFFF"/>
            </a:solidFill>
            <a:ln w="9525">
              <a:solidFill>
                <a:srgbClr val="E6E6E6"/>
              </a:solidFill>
            </a:ln>
          </p:spPr>
          <p:txBody>
            <a:bodyPr/>
            <a:lstStyle/>
            <a:p>
              <a:endParaRPr lang="en-US"/>
            </a:p>
          </p:txBody>
        </p:sp>
        <p:sp>
          <p:nvSpPr>
            <p:cNvPr id="52" name="TextBox 52"/>
            <p:cNvSpPr txBox="1"/>
            <p:nvPr/>
          </p:nvSpPr>
          <p:spPr>
            <a:xfrm>
              <a:off x="878205" y="3283268"/>
              <a:ext cx="125574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Điều kiện ghi</a:t>
              </a:r>
            </a:p>
          </p:txBody>
        </p:sp>
        <p:sp>
          <p:nvSpPr>
            <p:cNvPr id="53" name="TextBox 53"/>
            <p:cNvSpPr txBox="1"/>
            <p:nvPr/>
          </p:nvSpPr>
          <p:spPr>
            <a:xfrm>
              <a:off x="879158" y="3605689"/>
              <a:ext cx="4613243"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B/C mismatch: không tiếp tục nhánh ghi tương ứng.</a:t>
              </a:r>
            </a:p>
          </p:txBody>
        </p:sp>
        <p:sp>
          <p:nvSpPr>
            <p:cNvPr id="54" name="TextBox 54"/>
            <p:cNvSpPr txBox="1"/>
            <p:nvPr/>
          </p:nvSpPr>
          <p:spPr>
            <a:xfrm>
              <a:off x="879158" y="3920014"/>
              <a:ext cx="4911185"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Native checksum và scrub vẫn được giữ trong mọi mức.</a:t>
              </a:r>
            </a:p>
          </p:txBody>
        </p:sp>
        <p:sp>
          <p:nvSpPr>
            <p:cNvPr id="55" name="TextBox 55"/>
            <p:cNvSpPr txBox="1"/>
            <p:nvPr/>
          </p:nvSpPr>
          <p:spPr>
            <a:xfrm>
              <a:off x="881062" y="4241006"/>
              <a:ext cx="3676174" cy="228600"/>
            </a:xfrm>
            <a:prstGeom prst="rect">
              <a:avLst/>
            </a:prstGeom>
            <a:noFill/>
            <a:ln>
              <a:noFill/>
            </a:ln>
          </p:spPr>
          <p:txBody>
            <a:bodyPr wrap="none" lIns="0" tIns="0" rIns="0" bIns="0" anchor="t" anchorCtr="0">
              <a:spAutoFit/>
            </a:bodyPr>
            <a:lstStyle/>
            <a:p>
              <a:pPr algn="l"/>
              <a:r>
                <a:rPr lang="zh-CN" sz="1125" dirty="0">
                  <a:solidFill>
                    <a:srgbClr val="F46A25"/>
                  </a:solidFill>
                  <a:latin typeface="FS Magistral Book"/>
                  <a:ea typeface="FS Magistral Book"/>
                  <a:cs typeface="FS Magistral Book"/>
                </a:rPr>
                <a:t>X phải thật sự là primary của request canary.</a:t>
              </a:r>
            </a:p>
          </p:txBody>
        </p:sp>
        <p:sp>
          <p:nvSpPr>
            <p:cNvPr id="56" name="Rectangle 56"/>
            <p:cNvSpPr/>
            <p:nvPr/>
          </p:nvSpPr>
          <p:spPr>
            <a:xfrm>
              <a:off x="685800" y="4857750"/>
              <a:ext cx="10820400" cy="990600"/>
            </a:xfrm>
            <a:prstGeom prst="rect">
              <a:avLst/>
            </a:prstGeom>
            <a:solidFill>
              <a:srgbClr val="F2F2F2"/>
            </a:solidFill>
            <a:ln>
              <a:noFill/>
            </a:ln>
          </p:spPr>
          <p:txBody>
            <a:bodyPr/>
            <a:lstStyle/>
            <a:p>
              <a:endParaRPr lang="en-US"/>
            </a:p>
          </p:txBody>
        </p:sp>
        <p:sp>
          <p:nvSpPr>
            <p:cNvPr id="57" name="Rectangle 57"/>
            <p:cNvSpPr/>
            <p:nvPr/>
          </p:nvSpPr>
          <p:spPr>
            <a:xfrm>
              <a:off x="685800" y="4857750"/>
              <a:ext cx="66675" cy="990600"/>
            </a:xfrm>
            <a:prstGeom prst="rect">
              <a:avLst/>
            </a:prstGeom>
            <a:solidFill>
              <a:srgbClr val="EE0033"/>
            </a:solidFill>
            <a:ln>
              <a:noFill/>
            </a:ln>
          </p:spPr>
          <p:txBody>
            <a:bodyPr/>
            <a:lstStyle/>
            <a:p>
              <a:endParaRPr lang="en-US"/>
            </a:p>
          </p:txBody>
        </p:sp>
        <p:sp>
          <p:nvSpPr>
            <p:cNvPr id="58" name="TextBox 58"/>
            <p:cNvSpPr txBox="1"/>
            <p:nvPr/>
          </p:nvSpPr>
          <p:spPr>
            <a:xfrm>
              <a:off x="886778" y="4989671"/>
              <a:ext cx="3062798" cy="289560"/>
            </a:xfrm>
            <a:prstGeom prst="rect">
              <a:avLst/>
            </a:prstGeom>
            <a:noFill/>
            <a:ln>
              <a:noFill/>
            </a:ln>
          </p:spPr>
          <p:txBody>
            <a:bodyPr wrap="none" lIns="0" tIns="0" rIns="0" bIns="0" anchor="t" anchorCtr="0">
              <a:spAutoFit/>
            </a:bodyPr>
            <a:lstStyle/>
            <a:p>
              <a:pPr algn="l"/>
              <a:r>
                <a:rPr lang="zh-CN" sz="1425" dirty="0">
                  <a:solidFill>
                    <a:srgbClr val="EE0033"/>
                  </a:solidFill>
                  <a:latin typeface="FS Magistral Bold"/>
                  <a:ea typeface="FS Magistral Bold"/>
                  <a:cs typeface="FS Magistral Bold"/>
                </a:rPr>
                <a:t>E · Primary tổng hợp kết quả</a:t>
              </a:r>
            </a:p>
          </p:txBody>
        </p:sp>
        <p:sp>
          <p:nvSpPr>
            <p:cNvPr id="59" name="TextBox 59"/>
            <p:cNvSpPr txBox="1"/>
            <p:nvPr/>
          </p:nvSpPr>
          <p:spPr>
            <a:xfrm>
              <a:off x="888682" y="5291614"/>
              <a:ext cx="5376720"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SUCCESS khi native commit và mọi kiểm tra H0 bắt buộc đạt.</a:t>
              </a:r>
            </a:p>
          </p:txBody>
        </p:sp>
        <p:sp>
          <p:nvSpPr>
            <p:cNvPr id="60" name="TextBox 60"/>
            <p:cNvSpPr txBox="1"/>
            <p:nvPr/>
          </p:nvSpPr>
          <p:spPr>
            <a:xfrm>
              <a:off x="888682" y="5558314"/>
              <a:ext cx="5367409"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Mismatch, thiếu kết quả hoặc timeout: không trả SUCCESS.</a:t>
              </a:r>
            </a:p>
          </p:txBody>
        </p:sp>
        <p:sp>
          <p:nvSpPr>
            <p:cNvPr id="61" name="TextBox 61"/>
            <p:cNvSpPr txBox="1"/>
            <p:nvPr/>
          </p:nvSpPr>
          <p:spPr>
            <a:xfrm>
              <a:off x="670560" y="5966460"/>
              <a:ext cx="5091113"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FS Magistral Bold"/>
                  <a:ea typeface="FS Magistral Bold"/>
                  <a:cs typeface="FS Magistral Bold"/>
                </a:rPr>
                <a:t>Hclient giữ tham chiếu từ trước vùng xử lý đang kiểm thử.</a:t>
              </a:r>
            </a:p>
          </p:txBody>
        </p:sp>
      </p:grpSp>
      <p:grpSp>
        <p:nvGrpSpPr>
          <p:cNvPr id="69" name="Group 69"/>
          <p:cNvGrpSpPr/>
          <p:nvPr/>
        </p:nvGrpSpPr>
        <p:grpSpPr>
          <a:xfrm>
            <a:off x="0" y="6419850"/>
            <a:ext cx="12192000" cy="438150"/>
            <a:chOff x="0" y="6419850"/>
            <a:chExt cx="12192000" cy="438150"/>
          </a:xfrm>
        </p:grpSpPr>
        <p:sp>
          <p:nvSpPr>
            <p:cNvPr id="63" name="Rectangle 63"/>
            <p:cNvSpPr/>
            <p:nvPr/>
          </p:nvSpPr>
          <p:spPr>
            <a:xfrm>
              <a:off x="0" y="6419850"/>
              <a:ext cx="12192000" cy="438150"/>
            </a:xfrm>
            <a:prstGeom prst="rect">
              <a:avLst/>
            </a:prstGeom>
            <a:solidFill>
              <a:srgbClr val="F2F2F2"/>
            </a:solidFill>
            <a:ln>
              <a:noFill/>
            </a:ln>
          </p:spPr>
          <p:txBody>
            <a:bodyPr/>
            <a:lstStyle/>
            <a:p>
              <a:endParaRPr lang="en-US"/>
            </a:p>
          </p:txBody>
        </p:sp>
        <p:sp>
          <p:nvSpPr>
            <p:cNvPr id="64" name="Rectangle 64"/>
            <p:cNvSpPr/>
            <p:nvPr/>
          </p:nvSpPr>
          <p:spPr>
            <a:xfrm>
              <a:off x="0" y="6419850"/>
              <a:ext cx="76200" cy="438150"/>
            </a:xfrm>
            <a:prstGeom prst="rect">
              <a:avLst/>
            </a:prstGeom>
            <a:solidFill>
              <a:srgbClr val="EE0033"/>
            </a:solidFill>
            <a:ln>
              <a:noFill/>
            </a:ln>
          </p:spPr>
          <p:txBody>
            <a:bodyPr/>
            <a:lstStyle/>
            <a:p>
              <a:endParaRPr lang="en-US"/>
            </a:p>
          </p:txBody>
        </p:sp>
        <p:sp>
          <p:nvSpPr>
            <p:cNvPr id="65" name="TextBox 65"/>
            <p:cNvSpPr txBox="1"/>
            <p:nvPr/>
          </p:nvSpPr>
          <p:spPr>
            <a:xfrm>
              <a:off x="597218" y="6590824"/>
              <a:ext cx="1640991"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H0-W · THIẾT KẾ ĐỀ XUẤT</a:t>
              </a:r>
            </a:p>
          </p:txBody>
        </p:sp>
        <p:sp>
          <p:nvSpPr>
            <p:cNvPr id="66" name="TextBox 66"/>
            <p:cNvSpPr txBox="1"/>
            <p:nvPr/>
          </p:nvSpPr>
          <p:spPr>
            <a:xfrm>
              <a:off x="4691253" y="6598920"/>
              <a:ext cx="2809494"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Nguồn: pptx.md; Ceph BlueStore / OSD docs</a:t>
              </a:r>
            </a:p>
          </p:txBody>
        </p:sp>
        <p:sp>
          <p:nvSpPr>
            <p:cNvPr id="67" name="Rectangle 67"/>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68" name="TextBox 68"/>
            <p:cNvSpPr txBox="1"/>
            <p:nvPr/>
          </p:nvSpPr>
          <p:spPr>
            <a:xfrm>
              <a:off x="11069170" y="6582728"/>
              <a:ext cx="340659"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9/13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linds(horizontal)">
                                      <p:cBhvr>
                                        <p:cTn id="11" dur="400"/>
                                        <p:tgtEl>
                                          <p:spTgt spid="27"/>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checkerboard(across)">
                                      <p:cBhvr>
                                        <p:cTn id="15" dur="400"/>
                                        <p:tgtEl>
                                          <p:spTgt spid="50"/>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dissolve">
                                      <p:cBhvr>
                                        <p:cTn id="19"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7" grpId="0"/>
      <p:bldP spid="50" grpId="0"/>
      <p:bldP spid="6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5029581"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Ba mức H0-W có thể lựa chọn</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sp>
        <p:nvSpPr>
          <p:cNvPr id="8" name="TextBox 8"/>
          <p:cNvSpPr txBox="1"/>
          <p:nvPr/>
        </p:nvSpPr>
        <p:spPr>
          <a:xfrm>
            <a:off x="670560" y="1232535"/>
            <a:ext cx="3195676" cy="243840"/>
          </a:xfrm>
          <a:prstGeom prst="rect">
            <a:avLst/>
          </a:prstGeom>
          <a:noFill/>
          <a:ln>
            <a:noFill/>
          </a:ln>
        </p:spPr>
        <p:txBody>
          <a:bodyPr wrap="none" lIns="0" tIns="0" rIns="0" bIns="0" anchor="t" anchorCtr="0">
            <a:spAutoFit/>
          </a:bodyPr>
          <a:lstStyle/>
          <a:p>
            <a:pPr algn="l"/>
            <a:r>
              <a:rPr lang="zh-CN" sz="1200" dirty="0">
                <a:solidFill>
                  <a:srgbClr val="F46A25"/>
                </a:solidFill>
                <a:latin typeface="FS Magistral Bold"/>
                <a:ea typeface="FS Magistral Bold"/>
                <a:cs typeface="FS Magistral Bold"/>
              </a:rPr>
              <a:t>THIẾT KẾ ĐỀ XUẤT · CÁC MỨC CỘNG DỒN</a:t>
            </a:r>
          </a:p>
        </p:txBody>
      </p:sp>
      <p:grpSp>
        <p:nvGrpSpPr>
          <p:cNvPr id="40" name="Group 40"/>
          <p:cNvGrpSpPr/>
          <p:nvPr/>
        </p:nvGrpSpPr>
        <p:grpSpPr>
          <a:xfrm>
            <a:off x="685800" y="1600200"/>
            <a:ext cx="10820400" cy="3829050"/>
            <a:chOff x="685800" y="1600200"/>
            <a:chExt cx="10820400" cy="3829050"/>
          </a:xfrm>
        </p:grpSpPr>
        <p:sp>
          <p:nvSpPr>
            <p:cNvPr id="9" name="Rectangle 9"/>
            <p:cNvSpPr/>
            <p:nvPr/>
          </p:nvSpPr>
          <p:spPr>
            <a:xfrm>
              <a:off x="685800" y="1600200"/>
              <a:ext cx="10820400" cy="495300"/>
            </a:xfrm>
            <a:prstGeom prst="rect">
              <a:avLst/>
            </a:prstGeom>
            <a:solidFill>
              <a:srgbClr val="F2F2F2"/>
            </a:solidFill>
            <a:ln>
              <a:noFill/>
            </a:ln>
          </p:spPr>
          <p:txBody>
            <a:bodyPr/>
            <a:lstStyle/>
            <a:p>
              <a:endParaRPr lang="en-US"/>
            </a:p>
          </p:txBody>
        </p:sp>
        <p:sp>
          <p:nvSpPr>
            <p:cNvPr id="10" name="TextBox 10"/>
            <p:cNvSpPr txBox="1"/>
            <p:nvPr/>
          </p:nvSpPr>
          <p:spPr>
            <a:xfrm>
              <a:off x="859155" y="1768792"/>
              <a:ext cx="417288"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Mức</a:t>
              </a:r>
            </a:p>
          </p:txBody>
        </p:sp>
        <p:sp>
          <p:nvSpPr>
            <p:cNvPr id="11" name="TextBox 11"/>
            <p:cNvSpPr txBox="1"/>
            <p:nvPr/>
          </p:nvSpPr>
          <p:spPr>
            <a:xfrm>
              <a:off x="3011805" y="1768792"/>
              <a:ext cx="986609"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Điểm kiểm</a:t>
              </a:r>
            </a:p>
          </p:txBody>
        </p:sp>
        <p:sp>
          <p:nvSpPr>
            <p:cNvPr id="12" name="TextBox 12"/>
            <p:cNvSpPr txBox="1"/>
            <p:nvPr/>
          </p:nvSpPr>
          <p:spPr>
            <a:xfrm>
              <a:off x="5202555" y="1768792"/>
              <a:ext cx="1462769"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Trước SUCCESS</a:t>
              </a:r>
            </a:p>
          </p:txBody>
        </p:sp>
        <p:sp>
          <p:nvSpPr>
            <p:cNvPr id="13" name="TextBox 13"/>
            <p:cNvSpPr txBox="1"/>
            <p:nvPr/>
          </p:nvSpPr>
          <p:spPr>
            <a:xfrm>
              <a:off x="8936355" y="1768792"/>
              <a:ext cx="841691"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Đánh đổi</a:t>
              </a:r>
            </a:p>
          </p:txBody>
        </p:sp>
        <p:sp>
          <p:nvSpPr>
            <p:cNvPr id="14" name="Rectangle 14"/>
            <p:cNvSpPr/>
            <p:nvPr/>
          </p:nvSpPr>
          <p:spPr>
            <a:xfrm>
              <a:off x="685800" y="2095500"/>
              <a:ext cx="10820400" cy="1104900"/>
            </a:xfrm>
            <a:prstGeom prst="rect">
              <a:avLst/>
            </a:prstGeom>
            <a:solidFill>
              <a:srgbClr val="FFFFFF"/>
            </a:solidFill>
            <a:ln>
              <a:noFill/>
            </a:ln>
          </p:spPr>
          <p:txBody>
            <a:bodyPr/>
            <a:lstStyle/>
            <a:p>
              <a:endParaRPr lang="en-US"/>
            </a:p>
          </p:txBody>
        </p:sp>
        <p:sp>
          <p:nvSpPr>
            <p:cNvPr id="15" name="TextBox 15"/>
            <p:cNvSpPr txBox="1"/>
            <p:nvPr/>
          </p:nvSpPr>
          <p:spPr>
            <a:xfrm>
              <a:off x="859155" y="2330768"/>
              <a:ext cx="1121176" cy="274320"/>
            </a:xfrm>
            <a:prstGeom prst="rect">
              <a:avLst/>
            </a:prstGeom>
            <a:noFill/>
            <a:ln>
              <a:noFill/>
            </a:ln>
          </p:spPr>
          <p:txBody>
            <a:bodyPr wrap="none" lIns="0" tIns="0" rIns="0" bIns="0" anchor="t" anchorCtr="0">
              <a:spAutoFit/>
            </a:bodyPr>
            <a:lstStyle/>
            <a:p>
              <a:pPr algn="l"/>
              <a:r>
                <a:rPr lang="zh-CN" sz="1350" dirty="0">
                  <a:solidFill>
                    <a:srgbClr val="EE0033"/>
                  </a:solidFill>
                  <a:latin typeface="FS Magistral Bold"/>
                  <a:ea typeface="FS Magistral Bold"/>
                  <a:cs typeface="FS Magistral Bold"/>
                </a:rPr>
                <a:t>1 · Primary</a:t>
              </a:r>
            </a:p>
          </p:txBody>
        </p:sp>
        <p:sp>
          <p:nvSpPr>
            <p:cNvPr id="16" name="TextBox 16"/>
            <p:cNvSpPr txBox="1"/>
            <p:nvPr/>
          </p:nvSpPr>
          <p:spPr>
            <a:xfrm>
              <a:off x="861060" y="2613660"/>
              <a:ext cx="608838"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buffer</a:t>
              </a:r>
            </a:p>
          </p:txBody>
        </p:sp>
        <p:sp>
          <p:nvSpPr>
            <p:cNvPr id="17" name="TextBox 17"/>
            <p:cNvSpPr txBox="1"/>
            <p:nvPr/>
          </p:nvSpPr>
          <p:spPr>
            <a:xfrm>
              <a:off x="3011805" y="2473642"/>
              <a:ext cx="81310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A + B + E</a:t>
              </a:r>
            </a:p>
          </p:txBody>
        </p:sp>
        <p:sp>
          <p:nvSpPr>
            <p:cNvPr id="18" name="TextBox 18"/>
            <p:cNvSpPr txBox="1"/>
            <p:nvPr/>
          </p:nvSpPr>
          <p:spPr>
            <a:xfrm>
              <a:off x="5203508" y="2338864"/>
              <a:ext cx="1382435"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Buffer cuối ở X</a:t>
              </a:r>
            </a:p>
          </p:txBody>
        </p:sp>
        <p:sp>
          <p:nvSpPr>
            <p:cNvPr id="19" name="TextBox 19"/>
            <p:cNvSpPr txBox="1"/>
            <p:nvPr/>
          </p:nvSpPr>
          <p:spPr>
            <a:xfrm>
              <a:off x="5203508" y="2605564"/>
              <a:ext cx="1121735"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khớp Hclient</a:t>
              </a:r>
            </a:p>
          </p:txBody>
        </p:sp>
        <p:sp>
          <p:nvSpPr>
            <p:cNvPr id="20" name="TextBox 20"/>
            <p:cNvSpPr txBox="1"/>
            <p:nvPr/>
          </p:nvSpPr>
          <p:spPr>
            <a:xfrm>
              <a:off x="8938260" y="2346960"/>
              <a:ext cx="1546479"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Chưa thấy sai lệch</a:t>
              </a:r>
            </a:p>
          </p:txBody>
        </p:sp>
        <p:sp>
          <p:nvSpPr>
            <p:cNvPr id="21" name="TextBox 21"/>
            <p:cNvSpPr txBox="1"/>
            <p:nvPr/>
          </p:nvSpPr>
          <p:spPr>
            <a:xfrm>
              <a:off x="8938260" y="2613660"/>
              <a:ext cx="1301115"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xuất hiện sau B</a:t>
              </a:r>
            </a:p>
          </p:txBody>
        </p:sp>
        <p:sp>
          <p:nvSpPr>
            <p:cNvPr id="22" name="Line 22"/>
            <p:cNvSpPr/>
            <p:nvPr/>
          </p:nvSpPr>
          <p:spPr>
            <a:xfrm>
              <a:off x="685800" y="3200400"/>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3" name="Rectangle 23"/>
            <p:cNvSpPr/>
            <p:nvPr/>
          </p:nvSpPr>
          <p:spPr>
            <a:xfrm>
              <a:off x="685800" y="3209925"/>
              <a:ext cx="10820400" cy="1104900"/>
            </a:xfrm>
            <a:prstGeom prst="rect">
              <a:avLst/>
            </a:prstGeom>
            <a:solidFill>
              <a:srgbClr val="F2F2F2"/>
            </a:solidFill>
            <a:ln>
              <a:noFill/>
            </a:ln>
          </p:spPr>
          <p:txBody>
            <a:bodyPr/>
            <a:lstStyle/>
            <a:p>
              <a:endParaRPr lang="en-US"/>
            </a:p>
          </p:txBody>
        </p:sp>
        <p:sp>
          <p:nvSpPr>
            <p:cNvPr id="24" name="TextBox 24"/>
            <p:cNvSpPr txBox="1"/>
            <p:nvPr/>
          </p:nvSpPr>
          <p:spPr>
            <a:xfrm>
              <a:off x="859155" y="3445192"/>
              <a:ext cx="1348904" cy="274320"/>
            </a:xfrm>
            <a:prstGeom prst="rect">
              <a:avLst/>
            </a:prstGeom>
            <a:noFill/>
            <a:ln>
              <a:noFill/>
            </a:ln>
          </p:spPr>
          <p:txBody>
            <a:bodyPr wrap="none" lIns="0" tIns="0" rIns="0" bIns="0" anchor="t" anchorCtr="0">
              <a:spAutoFit/>
            </a:bodyPr>
            <a:lstStyle/>
            <a:p>
              <a:pPr algn="l"/>
              <a:r>
                <a:rPr lang="zh-CN" sz="1350" dirty="0">
                  <a:solidFill>
                    <a:srgbClr val="EE0033"/>
                  </a:solidFill>
                  <a:latin typeface="FS Magistral Bold"/>
                  <a:ea typeface="FS Magistral Bold"/>
                  <a:cs typeface="FS Magistral Bold"/>
                </a:rPr>
                <a:t>2 · Primary +</a:t>
              </a:r>
            </a:p>
          </p:txBody>
        </p:sp>
        <p:sp>
          <p:nvSpPr>
            <p:cNvPr id="25" name="TextBox 25"/>
            <p:cNvSpPr txBox="1"/>
            <p:nvPr/>
          </p:nvSpPr>
          <p:spPr>
            <a:xfrm>
              <a:off x="861060" y="3728085"/>
              <a:ext cx="1248537"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replica buffer</a:t>
              </a:r>
            </a:p>
          </p:txBody>
        </p:sp>
        <p:sp>
          <p:nvSpPr>
            <p:cNvPr id="26" name="TextBox 26"/>
            <p:cNvSpPr txBox="1"/>
            <p:nvPr/>
          </p:nvSpPr>
          <p:spPr>
            <a:xfrm>
              <a:off x="3011805" y="3588068"/>
              <a:ext cx="1148286"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A + B + C + E</a:t>
              </a:r>
            </a:p>
          </p:txBody>
        </p:sp>
        <p:sp>
          <p:nvSpPr>
            <p:cNvPr id="27" name="TextBox 27"/>
            <p:cNvSpPr txBox="1"/>
            <p:nvPr/>
          </p:nvSpPr>
          <p:spPr>
            <a:xfrm>
              <a:off x="5203508" y="3453289"/>
              <a:ext cx="2257639"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X và mọi replica bắt buộc</a:t>
              </a:r>
            </a:p>
          </p:txBody>
        </p:sp>
        <p:sp>
          <p:nvSpPr>
            <p:cNvPr id="28" name="TextBox 28"/>
            <p:cNvSpPr txBox="1"/>
            <p:nvPr/>
          </p:nvSpPr>
          <p:spPr>
            <a:xfrm>
              <a:off x="5203508" y="3719989"/>
              <a:ext cx="1941076"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xác nhận buffer khớp</a:t>
              </a:r>
            </a:p>
          </p:txBody>
        </p:sp>
        <p:sp>
          <p:nvSpPr>
            <p:cNvPr id="29" name="TextBox 29"/>
            <p:cNvSpPr txBox="1"/>
            <p:nvPr/>
          </p:nvSpPr>
          <p:spPr>
            <a:xfrm>
              <a:off x="8938260" y="3461385"/>
              <a:ext cx="1011936"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Chưa đọc lại</a:t>
              </a:r>
            </a:p>
          </p:txBody>
        </p:sp>
        <p:sp>
          <p:nvSpPr>
            <p:cNvPr id="30" name="TextBox 30"/>
            <p:cNvSpPr txBox="1"/>
            <p:nvPr/>
          </p:nvSpPr>
          <p:spPr>
            <a:xfrm>
              <a:off x="8938260" y="3728085"/>
              <a:ext cx="617601"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sau ghi</a:t>
              </a:r>
            </a:p>
          </p:txBody>
        </p:sp>
        <p:sp>
          <p:nvSpPr>
            <p:cNvPr id="31" name="Line 31"/>
            <p:cNvSpPr/>
            <p:nvPr/>
          </p:nvSpPr>
          <p:spPr>
            <a:xfrm>
              <a:off x="685800" y="431482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32" name="Rectangle 32"/>
            <p:cNvSpPr/>
            <p:nvPr/>
          </p:nvSpPr>
          <p:spPr>
            <a:xfrm>
              <a:off x="685800" y="4324350"/>
              <a:ext cx="10820400" cy="1104900"/>
            </a:xfrm>
            <a:prstGeom prst="rect">
              <a:avLst/>
            </a:prstGeom>
            <a:solidFill>
              <a:srgbClr val="FFFFFF"/>
            </a:solidFill>
            <a:ln>
              <a:noFill/>
            </a:ln>
          </p:spPr>
          <p:txBody>
            <a:bodyPr/>
            <a:lstStyle/>
            <a:p>
              <a:endParaRPr lang="en-US"/>
            </a:p>
          </p:txBody>
        </p:sp>
        <p:sp>
          <p:nvSpPr>
            <p:cNvPr id="33" name="TextBox 33"/>
            <p:cNvSpPr txBox="1"/>
            <p:nvPr/>
          </p:nvSpPr>
          <p:spPr>
            <a:xfrm>
              <a:off x="859155" y="4559618"/>
              <a:ext cx="1411012" cy="274320"/>
            </a:xfrm>
            <a:prstGeom prst="rect">
              <a:avLst/>
            </a:prstGeom>
            <a:noFill/>
            <a:ln>
              <a:noFill/>
            </a:ln>
          </p:spPr>
          <p:txBody>
            <a:bodyPr wrap="none" lIns="0" tIns="0" rIns="0" bIns="0" anchor="t" anchorCtr="0">
              <a:spAutoFit/>
            </a:bodyPr>
            <a:lstStyle/>
            <a:p>
              <a:pPr algn="l"/>
              <a:r>
                <a:rPr lang="zh-CN" sz="1350" dirty="0">
                  <a:solidFill>
                    <a:srgbClr val="EE0033"/>
                  </a:solidFill>
                  <a:latin typeface="FS Magistral Bold"/>
                  <a:ea typeface="FS Magistral Bold"/>
                  <a:cs typeface="FS Magistral Bold"/>
                </a:rPr>
                <a:t>3 · Read-back</a:t>
              </a:r>
            </a:p>
          </p:txBody>
        </p:sp>
        <p:sp>
          <p:nvSpPr>
            <p:cNvPr id="34" name="TextBox 34"/>
            <p:cNvSpPr txBox="1"/>
            <p:nvPr/>
          </p:nvSpPr>
          <p:spPr>
            <a:xfrm>
              <a:off x="861060" y="4842510"/>
              <a:ext cx="959358"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sau ghi bền</a:t>
              </a:r>
            </a:p>
          </p:txBody>
        </p:sp>
        <p:sp>
          <p:nvSpPr>
            <p:cNvPr id="35" name="TextBox 35"/>
            <p:cNvSpPr txBox="1"/>
            <p:nvPr/>
          </p:nvSpPr>
          <p:spPr>
            <a:xfrm>
              <a:off x="3011805" y="4702492"/>
              <a:ext cx="1483471"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A + B + C + D + E</a:t>
              </a:r>
            </a:p>
          </p:txBody>
        </p:sp>
        <p:sp>
          <p:nvSpPr>
            <p:cNvPr id="36" name="TextBox 36"/>
            <p:cNvSpPr txBox="1"/>
            <p:nvPr/>
          </p:nvSpPr>
          <p:spPr>
            <a:xfrm>
              <a:off x="5203508" y="4567714"/>
              <a:ext cx="2620756"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Đọc local X/Y/Z đúng request</a:t>
              </a:r>
            </a:p>
          </p:txBody>
        </p:sp>
        <p:sp>
          <p:nvSpPr>
            <p:cNvPr id="37" name="TextBox 37"/>
            <p:cNvSpPr txBox="1"/>
            <p:nvPr/>
          </p:nvSpPr>
          <p:spPr>
            <a:xfrm>
              <a:off x="5203508" y="4834414"/>
              <a:ext cx="1177600"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và so Hclient</a:t>
              </a:r>
            </a:p>
          </p:txBody>
        </p:sp>
        <p:sp>
          <p:nvSpPr>
            <p:cNvPr id="38" name="TextBox 38"/>
            <p:cNvSpPr txBox="1"/>
            <p:nvPr/>
          </p:nvSpPr>
          <p:spPr>
            <a:xfrm>
              <a:off x="8938260" y="4575810"/>
              <a:ext cx="1125855"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Thêm I/O đọc</a:t>
              </a:r>
            </a:p>
          </p:txBody>
        </p:sp>
        <p:sp>
          <p:nvSpPr>
            <p:cNvPr id="39" name="TextBox 39"/>
            <p:cNvSpPr txBox="1"/>
            <p:nvPr/>
          </p:nvSpPr>
          <p:spPr>
            <a:xfrm>
              <a:off x="8938260" y="4842510"/>
              <a:ext cx="906780"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và latency</a:t>
              </a:r>
            </a:p>
          </p:txBody>
        </p:sp>
      </p:grpSp>
      <p:grpSp>
        <p:nvGrpSpPr>
          <p:cNvPr id="43" name="Group 43"/>
          <p:cNvGrpSpPr/>
          <p:nvPr/>
        </p:nvGrpSpPr>
        <p:grpSpPr>
          <a:xfrm>
            <a:off x="669608" y="5577364"/>
            <a:ext cx="6428422" cy="509111"/>
            <a:chOff x="669608" y="5577364"/>
            <a:chExt cx="6428422" cy="509111"/>
          </a:xfrm>
        </p:grpSpPr>
        <p:sp>
          <p:nvSpPr>
            <p:cNvPr id="41" name="TextBox 41"/>
            <p:cNvSpPr txBox="1"/>
            <p:nvPr/>
          </p:nvSpPr>
          <p:spPr>
            <a:xfrm>
              <a:off x="669608" y="5577364"/>
              <a:ext cx="2408007" cy="259080"/>
            </a:xfrm>
            <a:prstGeom prst="rect">
              <a:avLst/>
            </a:prstGeom>
            <a:noFill/>
            <a:ln>
              <a:noFill/>
            </a:ln>
          </p:spPr>
          <p:txBody>
            <a:bodyPr wrap="none" lIns="0" tIns="0" rIns="0" bIns="0" anchor="t" anchorCtr="0">
              <a:spAutoFit/>
            </a:bodyPr>
            <a:lstStyle/>
            <a:p>
              <a:pPr algn="l"/>
              <a:r>
                <a:rPr lang="zh-CN" sz="1275" dirty="0">
                  <a:solidFill>
                    <a:srgbClr val="EE0033"/>
                  </a:solidFill>
                  <a:latin typeface="FS Magistral Bold"/>
                  <a:ea typeface="FS Magistral Bold"/>
                  <a:cs typeface="FS Magistral Bold"/>
                </a:rPr>
                <a:t>Mức 2–3 cần peer hỗ trợ.</a:t>
              </a:r>
            </a:p>
          </p:txBody>
        </p:sp>
        <p:sp>
          <p:nvSpPr>
            <p:cNvPr id="42" name="TextBox 42"/>
            <p:cNvSpPr txBox="1"/>
            <p:nvPr/>
          </p:nvSpPr>
          <p:spPr>
            <a:xfrm>
              <a:off x="670560" y="5842635"/>
              <a:ext cx="6427470"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Thiếu capability: báo không đủ điều kiện, không tự hạ mức. H0-R là gate PA1.</a:t>
              </a:r>
            </a:p>
          </p:txBody>
        </p:sp>
      </p:grpSp>
      <p:grpSp>
        <p:nvGrpSpPr>
          <p:cNvPr id="50" name="Group 50"/>
          <p:cNvGrpSpPr/>
          <p:nvPr/>
        </p:nvGrpSpPr>
        <p:grpSpPr>
          <a:xfrm>
            <a:off x="0" y="6419850"/>
            <a:ext cx="12192000" cy="438150"/>
            <a:chOff x="0" y="6419850"/>
            <a:chExt cx="12192000" cy="438150"/>
          </a:xfrm>
        </p:grpSpPr>
        <p:sp>
          <p:nvSpPr>
            <p:cNvPr id="44" name="Rectangle 44"/>
            <p:cNvSpPr/>
            <p:nvPr/>
          </p:nvSpPr>
          <p:spPr>
            <a:xfrm>
              <a:off x="0" y="6419850"/>
              <a:ext cx="12192000" cy="438150"/>
            </a:xfrm>
            <a:prstGeom prst="rect">
              <a:avLst/>
            </a:prstGeom>
            <a:solidFill>
              <a:srgbClr val="F2F2F2"/>
            </a:solidFill>
            <a:ln>
              <a:noFill/>
            </a:ln>
          </p:spPr>
          <p:txBody>
            <a:bodyPr/>
            <a:lstStyle/>
            <a:p>
              <a:endParaRPr lang="en-US"/>
            </a:p>
          </p:txBody>
        </p:sp>
        <p:sp>
          <p:nvSpPr>
            <p:cNvPr id="45" name="Rectangle 45"/>
            <p:cNvSpPr/>
            <p:nvPr/>
          </p:nvSpPr>
          <p:spPr>
            <a:xfrm>
              <a:off x="0" y="6419850"/>
              <a:ext cx="76200" cy="438150"/>
            </a:xfrm>
            <a:prstGeom prst="rect">
              <a:avLst/>
            </a:prstGeom>
            <a:solidFill>
              <a:srgbClr val="EE0033"/>
            </a:solidFill>
            <a:ln>
              <a:noFill/>
            </a:ln>
          </p:spPr>
          <p:txBody>
            <a:bodyPr/>
            <a:lstStyle/>
            <a:p>
              <a:endParaRPr lang="en-US"/>
            </a:p>
          </p:txBody>
        </p:sp>
        <p:sp>
          <p:nvSpPr>
            <p:cNvPr id="46" name="TextBox 46"/>
            <p:cNvSpPr txBox="1"/>
            <p:nvPr/>
          </p:nvSpPr>
          <p:spPr>
            <a:xfrm>
              <a:off x="597218" y="6590824"/>
              <a:ext cx="993076"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H0-W · BA MỨC</a:t>
              </a:r>
            </a:p>
          </p:txBody>
        </p:sp>
        <p:sp>
          <p:nvSpPr>
            <p:cNvPr id="47" name="TextBox 47"/>
            <p:cNvSpPr txBox="1"/>
            <p:nvPr/>
          </p:nvSpPr>
          <p:spPr>
            <a:xfrm>
              <a:off x="5013293" y="6598920"/>
              <a:ext cx="2165413"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Nguồn: pptx.md; thiết kế đề xuất</a:t>
              </a:r>
            </a:p>
          </p:txBody>
        </p:sp>
        <p:sp>
          <p:nvSpPr>
            <p:cNvPr id="48" name="Rectangle 48"/>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49" name="TextBox 49"/>
            <p:cNvSpPr txBox="1"/>
            <p:nvPr/>
          </p:nvSpPr>
          <p:spPr>
            <a:xfrm>
              <a:off x="11045017" y="6582728"/>
              <a:ext cx="38896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10/13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slide(fromBottom)">
                                      <p:cBhvr>
                                        <p:cTn id="11" dur="400"/>
                                        <p:tgtEl>
                                          <p:spTgt spid="40"/>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slide(fromLeft)">
                                      <p:cBhvr>
                                        <p:cTn id="15"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0" grpId="0"/>
      <p:bldP spid="4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6851409"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Web lựa chọn phạm vi canary và mức H0</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sp>
        <p:nvSpPr>
          <p:cNvPr id="8" name="TextBox 8"/>
          <p:cNvSpPr txBox="1"/>
          <p:nvPr/>
        </p:nvSpPr>
        <p:spPr>
          <a:xfrm>
            <a:off x="671512" y="1212056"/>
            <a:ext cx="1512260" cy="228600"/>
          </a:xfrm>
          <a:prstGeom prst="rect">
            <a:avLst/>
          </a:prstGeom>
          <a:noFill/>
          <a:ln>
            <a:noFill/>
          </a:ln>
        </p:spPr>
        <p:txBody>
          <a:bodyPr wrap="none" lIns="0" tIns="0" rIns="0" bIns="0" anchor="t" anchorCtr="0">
            <a:spAutoFit/>
          </a:bodyPr>
          <a:lstStyle/>
          <a:p>
            <a:pPr algn="l"/>
            <a:r>
              <a:rPr lang="zh-CN" sz="1125" dirty="0">
                <a:solidFill>
                  <a:srgbClr val="F46A25"/>
                </a:solidFill>
                <a:latin typeface="FS Magistral Bold"/>
                <a:ea typeface="FS Magistral Bold"/>
                <a:cs typeface="FS Magistral Bold"/>
              </a:rPr>
              <a:t>CHỨC NĂNG ĐỀ XUẤT</a:t>
            </a:r>
          </a:p>
        </p:txBody>
      </p:sp>
      <p:grpSp>
        <p:nvGrpSpPr>
          <p:cNvPr id="25" name="Group 25"/>
          <p:cNvGrpSpPr/>
          <p:nvPr/>
        </p:nvGrpSpPr>
        <p:grpSpPr>
          <a:xfrm>
            <a:off x="685800" y="1571625"/>
            <a:ext cx="5810250" cy="4476750"/>
            <a:chOff x="685800" y="1571625"/>
            <a:chExt cx="5810250" cy="4476750"/>
          </a:xfrm>
        </p:grpSpPr>
        <p:sp>
          <p:nvSpPr>
            <p:cNvPr id="9" name="Rectangle 9"/>
            <p:cNvSpPr/>
            <p:nvPr/>
          </p:nvSpPr>
          <p:spPr>
            <a:xfrm>
              <a:off x="685800" y="1571625"/>
              <a:ext cx="5810250" cy="447675"/>
            </a:xfrm>
            <a:prstGeom prst="rect">
              <a:avLst/>
            </a:prstGeom>
            <a:solidFill>
              <a:srgbClr val="F2F2F2"/>
            </a:solidFill>
            <a:ln>
              <a:noFill/>
            </a:ln>
          </p:spPr>
          <p:txBody>
            <a:bodyPr/>
            <a:lstStyle/>
            <a:p>
              <a:endParaRPr lang="en-US"/>
            </a:p>
          </p:txBody>
        </p:sp>
        <p:sp>
          <p:nvSpPr>
            <p:cNvPr id="10" name="TextBox 10"/>
            <p:cNvSpPr txBox="1"/>
            <p:nvPr/>
          </p:nvSpPr>
          <p:spPr>
            <a:xfrm>
              <a:off x="877252" y="1713071"/>
              <a:ext cx="2516480" cy="289560"/>
            </a:xfrm>
            <a:prstGeom prst="rect">
              <a:avLst/>
            </a:prstGeom>
            <a:noFill/>
            <a:ln>
              <a:noFill/>
            </a:ln>
          </p:spPr>
          <p:txBody>
            <a:bodyPr wrap="none" lIns="0" tIns="0" rIns="0" bIns="0" anchor="t" anchorCtr="0">
              <a:spAutoFit/>
            </a:bodyPr>
            <a:lstStyle/>
            <a:p>
              <a:pPr algn="l"/>
              <a:r>
                <a:rPr lang="zh-CN" sz="1425" dirty="0">
                  <a:solidFill>
                    <a:srgbClr val="000000"/>
                  </a:solidFill>
                  <a:latin typeface="FS Magistral Bold"/>
                  <a:ea typeface="FS Magistral Bold"/>
                  <a:cs typeface="FS Magistral Bold"/>
                </a:rPr>
                <a:t>Cấu hình phiên kiểm thử</a:t>
              </a:r>
            </a:p>
          </p:txBody>
        </p:sp>
        <p:sp>
          <p:nvSpPr>
            <p:cNvPr id="11" name="TextBox 11"/>
            <p:cNvSpPr txBox="1"/>
            <p:nvPr/>
          </p:nvSpPr>
          <p:spPr>
            <a:xfrm>
              <a:off x="878205" y="2225992"/>
              <a:ext cx="3376279"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1 · OSD cần thử; pool, PG và corpus</a:t>
              </a:r>
            </a:p>
          </p:txBody>
        </p:sp>
        <p:sp>
          <p:nvSpPr>
            <p:cNvPr id="12" name="Line 12"/>
            <p:cNvSpPr/>
            <p:nvPr/>
          </p:nvSpPr>
          <p:spPr>
            <a:xfrm>
              <a:off x="685800" y="2581275"/>
              <a:ext cx="5810250" cy="9525"/>
            </a:xfrm>
            <a:custGeom>
              <a:avLst/>
              <a:gdLst/>
              <a:ahLst/>
              <a:cxnLst/>
              <a:rect l="l" t="t" r="r" b="b"/>
              <a:pathLst>
                <a:path w="5810250" h="9525">
                  <a:moveTo>
                    <a:pt x="0" y="0"/>
                  </a:moveTo>
                  <a:lnTo>
                    <a:pt x="5810250" y="0"/>
                  </a:lnTo>
                </a:path>
              </a:pathLst>
            </a:custGeom>
            <a:noFill/>
            <a:ln w="9525">
              <a:solidFill>
                <a:srgbClr val="E6E6E6"/>
              </a:solidFill>
            </a:ln>
          </p:spPr>
          <p:txBody>
            <a:bodyPr/>
            <a:lstStyle/>
            <a:p>
              <a:endParaRPr lang="en-US"/>
            </a:p>
          </p:txBody>
        </p:sp>
        <p:sp>
          <p:nvSpPr>
            <p:cNvPr id="13" name="TextBox 13"/>
            <p:cNvSpPr txBox="1"/>
            <p:nvPr/>
          </p:nvSpPr>
          <p:spPr>
            <a:xfrm>
              <a:off x="878205" y="2787968"/>
              <a:ext cx="3346704"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2 · Replica size của pool test riêng</a:t>
              </a:r>
            </a:p>
          </p:txBody>
        </p:sp>
        <p:sp>
          <p:nvSpPr>
            <p:cNvPr id="14" name="Line 14"/>
            <p:cNvSpPr/>
            <p:nvPr/>
          </p:nvSpPr>
          <p:spPr>
            <a:xfrm>
              <a:off x="685800" y="3143250"/>
              <a:ext cx="5810250" cy="9525"/>
            </a:xfrm>
            <a:custGeom>
              <a:avLst/>
              <a:gdLst/>
              <a:ahLst/>
              <a:cxnLst/>
              <a:rect l="l" t="t" r="r" b="b"/>
              <a:pathLst>
                <a:path w="5810250" h="9525">
                  <a:moveTo>
                    <a:pt x="0" y="0"/>
                  </a:moveTo>
                  <a:lnTo>
                    <a:pt x="5810250" y="0"/>
                  </a:lnTo>
                </a:path>
              </a:pathLst>
            </a:custGeom>
            <a:noFill/>
            <a:ln w="9525">
              <a:solidFill>
                <a:srgbClr val="E6E6E6"/>
              </a:solidFill>
            </a:ln>
          </p:spPr>
          <p:txBody>
            <a:bodyPr/>
            <a:lstStyle/>
            <a:p>
              <a:endParaRPr lang="en-US"/>
            </a:p>
          </p:txBody>
        </p:sp>
        <p:sp>
          <p:nvSpPr>
            <p:cNvPr id="15" name="TextBox 15"/>
            <p:cNvSpPr txBox="1"/>
            <p:nvPr/>
          </p:nvSpPr>
          <p:spPr>
            <a:xfrm>
              <a:off x="878205" y="3349942"/>
              <a:ext cx="3129820"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3 · Gate H0-R khi trả dữ liệu về X</a:t>
              </a:r>
            </a:p>
          </p:txBody>
        </p:sp>
        <p:sp>
          <p:nvSpPr>
            <p:cNvPr id="16" name="Line 16"/>
            <p:cNvSpPr/>
            <p:nvPr/>
          </p:nvSpPr>
          <p:spPr>
            <a:xfrm>
              <a:off x="685800" y="3705225"/>
              <a:ext cx="5810250" cy="9525"/>
            </a:xfrm>
            <a:custGeom>
              <a:avLst/>
              <a:gdLst/>
              <a:ahLst/>
              <a:cxnLst/>
              <a:rect l="l" t="t" r="r" b="b"/>
              <a:pathLst>
                <a:path w="5810250" h="9525">
                  <a:moveTo>
                    <a:pt x="0" y="0"/>
                  </a:moveTo>
                  <a:lnTo>
                    <a:pt x="5810250" y="0"/>
                  </a:lnTo>
                </a:path>
              </a:pathLst>
            </a:custGeom>
            <a:noFill/>
            <a:ln w="9525">
              <a:solidFill>
                <a:srgbClr val="E6E6E6"/>
              </a:solidFill>
            </a:ln>
          </p:spPr>
          <p:txBody>
            <a:bodyPr/>
            <a:lstStyle/>
            <a:p>
              <a:endParaRPr lang="en-US"/>
            </a:p>
          </p:txBody>
        </p:sp>
        <p:sp>
          <p:nvSpPr>
            <p:cNvPr id="17" name="TextBox 17"/>
            <p:cNvSpPr txBox="1"/>
            <p:nvPr/>
          </p:nvSpPr>
          <p:spPr>
            <a:xfrm>
              <a:off x="878205" y="3911918"/>
              <a:ext cx="232143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4 · H0-W mức 1, 2 hoặc 3</a:t>
              </a:r>
            </a:p>
          </p:txBody>
        </p:sp>
        <p:sp>
          <p:nvSpPr>
            <p:cNvPr id="18" name="Line 18"/>
            <p:cNvSpPr/>
            <p:nvPr/>
          </p:nvSpPr>
          <p:spPr>
            <a:xfrm>
              <a:off x="685800" y="4267200"/>
              <a:ext cx="5810250" cy="9525"/>
            </a:xfrm>
            <a:custGeom>
              <a:avLst/>
              <a:gdLst/>
              <a:ahLst/>
              <a:cxnLst/>
              <a:rect l="l" t="t" r="r" b="b"/>
              <a:pathLst>
                <a:path w="5810250" h="9525">
                  <a:moveTo>
                    <a:pt x="0" y="0"/>
                  </a:moveTo>
                  <a:lnTo>
                    <a:pt x="5810250" y="0"/>
                  </a:lnTo>
                </a:path>
              </a:pathLst>
            </a:custGeom>
            <a:noFill/>
            <a:ln w="9525">
              <a:solidFill>
                <a:srgbClr val="E6E6E6"/>
              </a:solidFill>
            </a:ln>
          </p:spPr>
          <p:txBody>
            <a:bodyPr/>
            <a:lstStyle/>
            <a:p>
              <a:endParaRPr lang="en-US"/>
            </a:p>
          </p:txBody>
        </p:sp>
        <p:sp>
          <p:nvSpPr>
            <p:cNvPr id="19" name="TextBox 19"/>
            <p:cNvSpPr txBox="1"/>
            <p:nvPr/>
          </p:nvSpPr>
          <p:spPr>
            <a:xfrm>
              <a:off x="878205" y="4473892"/>
              <a:ext cx="4490275"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5 · Giới hạn workload, thời gian, điều kiện dừng</a:t>
              </a:r>
            </a:p>
          </p:txBody>
        </p:sp>
        <p:sp>
          <p:nvSpPr>
            <p:cNvPr id="20" name="Line 20"/>
            <p:cNvSpPr/>
            <p:nvPr/>
          </p:nvSpPr>
          <p:spPr>
            <a:xfrm>
              <a:off x="685800" y="4829175"/>
              <a:ext cx="5810250" cy="9525"/>
            </a:xfrm>
            <a:custGeom>
              <a:avLst/>
              <a:gdLst/>
              <a:ahLst/>
              <a:cxnLst/>
              <a:rect l="l" t="t" r="r" b="b"/>
              <a:pathLst>
                <a:path w="5810250" h="9525">
                  <a:moveTo>
                    <a:pt x="0" y="0"/>
                  </a:moveTo>
                  <a:lnTo>
                    <a:pt x="5810250" y="0"/>
                  </a:lnTo>
                </a:path>
              </a:pathLst>
            </a:custGeom>
            <a:noFill/>
            <a:ln w="9525">
              <a:solidFill>
                <a:srgbClr val="E6E6E6"/>
              </a:solidFill>
            </a:ln>
          </p:spPr>
          <p:txBody>
            <a:bodyPr/>
            <a:lstStyle/>
            <a:p>
              <a:endParaRPr lang="en-US"/>
            </a:p>
          </p:txBody>
        </p:sp>
        <p:sp>
          <p:nvSpPr>
            <p:cNvPr id="21" name="Rectangle 21"/>
            <p:cNvSpPr/>
            <p:nvPr/>
          </p:nvSpPr>
          <p:spPr>
            <a:xfrm>
              <a:off x="685800" y="5143500"/>
              <a:ext cx="5810250" cy="904875"/>
            </a:xfrm>
            <a:prstGeom prst="rect">
              <a:avLst/>
            </a:prstGeom>
            <a:solidFill>
              <a:srgbClr val="F2F2F2"/>
            </a:solidFill>
            <a:ln>
              <a:noFill/>
            </a:ln>
          </p:spPr>
          <p:txBody>
            <a:bodyPr/>
            <a:lstStyle/>
            <a:p>
              <a:endParaRPr lang="en-US"/>
            </a:p>
          </p:txBody>
        </p:sp>
        <p:sp>
          <p:nvSpPr>
            <p:cNvPr id="22" name="TextBox 22"/>
            <p:cNvSpPr txBox="1"/>
            <p:nvPr/>
          </p:nvSpPr>
          <p:spPr>
            <a:xfrm>
              <a:off x="879158" y="5291614"/>
              <a:ext cx="1449937"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ld"/>
                  <a:ea typeface="FS Magistral Bold"/>
                  <a:cs typeface="FS Magistral Bold"/>
                </a:rPr>
                <a:t>Kết quả cần lưu</a:t>
              </a:r>
            </a:p>
          </p:txBody>
        </p:sp>
        <p:sp>
          <p:nvSpPr>
            <p:cNvPr id="23" name="TextBox 23"/>
            <p:cNvSpPr txBox="1"/>
            <p:nvPr/>
          </p:nvSpPr>
          <p:spPr>
            <a:xfrm>
              <a:off x="881062" y="5536406"/>
              <a:ext cx="3725466"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Acting set, vai trò OSD, capability, PASS/FAIL</a:t>
              </a:r>
            </a:p>
          </p:txBody>
        </p:sp>
        <p:sp>
          <p:nvSpPr>
            <p:cNvPr id="24" name="TextBox 24"/>
            <p:cNvSpPr txBox="1"/>
            <p:nvPr/>
          </p:nvSpPr>
          <p:spPr>
            <a:xfrm>
              <a:off x="881062" y="5774531"/>
              <a:ext cx="2920365"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Object/byte đã kiểm; latency và I/O</a:t>
              </a:r>
            </a:p>
          </p:txBody>
        </p:sp>
      </p:grpSp>
      <p:grpSp>
        <p:nvGrpSpPr>
          <p:cNvPr id="49" name="Group 49"/>
          <p:cNvGrpSpPr/>
          <p:nvPr/>
        </p:nvGrpSpPr>
        <p:grpSpPr>
          <a:xfrm>
            <a:off x="6781800" y="1571625"/>
            <a:ext cx="4724400" cy="4314825"/>
            <a:chOff x="6781800" y="1571625"/>
            <a:chExt cx="4724400" cy="4314825"/>
          </a:xfrm>
        </p:grpSpPr>
        <p:sp>
          <p:nvSpPr>
            <p:cNvPr id="26" name="Rectangle 26"/>
            <p:cNvSpPr/>
            <p:nvPr/>
          </p:nvSpPr>
          <p:spPr>
            <a:xfrm>
              <a:off x="6781800" y="1571625"/>
              <a:ext cx="4724400" cy="447675"/>
            </a:xfrm>
            <a:prstGeom prst="rect">
              <a:avLst/>
            </a:prstGeom>
            <a:solidFill>
              <a:srgbClr val="F2F2F2"/>
            </a:solidFill>
            <a:ln>
              <a:noFill/>
            </a:ln>
          </p:spPr>
          <p:txBody>
            <a:bodyPr/>
            <a:lstStyle/>
            <a:p>
              <a:endParaRPr lang="en-US"/>
            </a:p>
          </p:txBody>
        </p:sp>
        <p:sp>
          <p:nvSpPr>
            <p:cNvPr id="27" name="TextBox 27"/>
            <p:cNvSpPr txBox="1"/>
            <p:nvPr/>
          </p:nvSpPr>
          <p:spPr>
            <a:xfrm>
              <a:off x="6973252" y="1713071"/>
              <a:ext cx="3303178" cy="289560"/>
            </a:xfrm>
            <a:prstGeom prst="rect">
              <a:avLst/>
            </a:prstGeom>
            <a:noFill/>
            <a:ln>
              <a:noFill/>
            </a:ln>
          </p:spPr>
          <p:txBody>
            <a:bodyPr wrap="none" lIns="0" tIns="0" rIns="0" bIns="0" anchor="t" anchorCtr="0">
              <a:spAutoFit/>
            </a:bodyPr>
            <a:lstStyle/>
            <a:p>
              <a:pPr algn="l"/>
              <a:r>
                <a:rPr lang="zh-CN" sz="1425" dirty="0">
                  <a:solidFill>
                    <a:srgbClr val="000000"/>
                  </a:solidFill>
                  <a:latin typeface="FS Magistral Bold"/>
                  <a:ea typeface="FS Magistral Bold"/>
                  <a:cs typeface="FS Magistral Bold"/>
                </a:rPr>
                <a:t>Pool test chỉ dùng OSD đã chọn</a:t>
              </a:r>
            </a:p>
          </p:txBody>
        </p:sp>
        <p:sp>
          <p:nvSpPr>
            <p:cNvPr id="28" name="TextBox 28"/>
            <p:cNvSpPr txBox="1"/>
            <p:nvPr/>
          </p:nvSpPr>
          <p:spPr>
            <a:xfrm>
              <a:off x="6975158" y="2195989"/>
              <a:ext cx="1537923"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ld"/>
                  <a:ea typeface="FS Magistral Bold"/>
                  <a:cs typeface="FS Magistral Bold"/>
                </a:rPr>
                <a:t>Số OSD chọn (N)</a:t>
              </a:r>
            </a:p>
          </p:txBody>
        </p:sp>
        <p:sp>
          <p:nvSpPr>
            <p:cNvPr id="29" name="TextBox 29"/>
            <p:cNvSpPr txBox="1"/>
            <p:nvPr/>
          </p:nvSpPr>
          <p:spPr>
            <a:xfrm>
              <a:off x="10004108" y="2195989"/>
              <a:ext cx="413658"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ld"/>
                  <a:ea typeface="FS Magistral Bold"/>
                  <a:cs typeface="FS Magistral Bold"/>
                </a:rPr>
                <a:t>size</a:t>
              </a:r>
            </a:p>
          </p:txBody>
        </p:sp>
        <p:sp>
          <p:nvSpPr>
            <p:cNvPr id="30" name="Line 30"/>
            <p:cNvSpPr/>
            <p:nvPr/>
          </p:nvSpPr>
          <p:spPr>
            <a:xfrm>
              <a:off x="6781800" y="2486025"/>
              <a:ext cx="4724400" cy="9525"/>
            </a:xfrm>
            <a:custGeom>
              <a:avLst/>
              <a:gdLst/>
              <a:ahLst/>
              <a:cxnLst/>
              <a:rect l="l" t="t" r="r" b="b"/>
              <a:pathLst>
                <a:path w="4724400" h="9525">
                  <a:moveTo>
                    <a:pt x="0" y="0"/>
                  </a:moveTo>
                  <a:lnTo>
                    <a:pt x="4724400" y="0"/>
                  </a:lnTo>
                </a:path>
              </a:pathLst>
            </a:custGeom>
            <a:noFill/>
            <a:ln w="9525">
              <a:solidFill>
                <a:srgbClr val="E6E6E6"/>
              </a:solidFill>
            </a:ln>
          </p:spPr>
          <p:txBody>
            <a:bodyPr/>
            <a:lstStyle/>
            <a:p>
              <a:endParaRPr lang="en-US"/>
            </a:p>
          </p:txBody>
        </p:sp>
        <p:sp>
          <p:nvSpPr>
            <p:cNvPr id="31" name="TextBox 31"/>
            <p:cNvSpPr txBox="1"/>
            <p:nvPr/>
          </p:nvSpPr>
          <p:spPr>
            <a:xfrm>
              <a:off x="6974205" y="2683192"/>
              <a:ext cx="93440"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1</a:t>
              </a:r>
            </a:p>
          </p:txBody>
        </p:sp>
        <p:sp>
          <p:nvSpPr>
            <p:cNvPr id="32" name="TextBox 32"/>
            <p:cNvSpPr txBox="1"/>
            <p:nvPr/>
          </p:nvSpPr>
          <p:spPr>
            <a:xfrm>
              <a:off x="10003155" y="2683192"/>
              <a:ext cx="93440"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1</a:t>
              </a:r>
            </a:p>
          </p:txBody>
        </p:sp>
        <p:sp>
          <p:nvSpPr>
            <p:cNvPr id="33" name="Line 33"/>
            <p:cNvSpPr/>
            <p:nvPr/>
          </p:nvSpPr>
          <p:spPr>
            <a:xfrm>
              <a:off x="6781800" y="3000375"/>
              <a:ext cx="4724400" cy="9525"/>
            </a:xfrm>
            <a:custGeom>
              <a:avLst/>
              <a:gdLst/>
              <a:ahLst/>
              <a:cxnLst/>
              <a:rect l="l" t="t" r="r" b="b"/>
              <a:pathLst>
                <a:path w="4724400" h="9525">
                  <a:moveTo>
                    <a:pt x="0" y="0"/>
                  </a:moveTo>
                  <a:lnTo>
                    <a:pt x="4724400" y="0"/>
                  </a:lnTo>
                </a:path>
              </a:pathLst>
            </a:custGeom>
            <a:noFill/>
            <a:ln w="9525">
              <a:solidFill>
                <a:srgbClr val="E6E6E6"/>
              </a:solidFill>
            </a:ln>
          </p:spPr>
          <p:txBody>
            <a:bodyPr/>
            <a:lstStyle/>
            <a:p>
              <a:endParaRPr lang="en-US"/>
            </a:p>
          </p:txBody>
        </p:sp>
        <p:sp>
          <p:nvSpPr>
            <p:cNvPr id="34" name="TextBox 34"/>
            <p:cNvSpPr txBox="1"/>
            <p:nvPr/>
          </p:nvSpPr>
          <p:spPr>
            <a:xfrm>
              <a:off x="6974205" y="3197542"/>
              <a:ext cx="14273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2</a:t>
              </a:r>
            </a:p>
          </p:txBody>
        </p:sp>
        <p:sp>
          <p:nvSpPr>
            <p:cNvPr id="35" name="TextBox 35"/>
            <p:cNvSpPr txBox="1"/>
            <p:nvPr/>
          </p:nvSpPr>
          <p:spPr>
            <a:xfrm>
              <a:off x="10003155" y="3197542"/>
              <a:ext cx="14273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2</a:t>
              </a:r>
            </a:p>
          </p:txBody>
        </p:sp>
        <p:sp>
          <p:nvSpPr>
            <p:cNvPr id="36" name="Line 36"/>
            <p:cNvSpPr/>
            <p:nvPr/>
          </p:nvSpPr>
          <p:spPr>
            <a:xfrm>
              <a:off x="6781800" y="3514725"/>
              <a:ext cx="4724400" cy="9525"/>
            </a:xfrm>
            <a:custGeom>
              <a:avLst/>
              <a:gdLst/>
              <a:ahLst/>
              <a:cxnLst/>
              <a:rect l="l" t="t" r="r" b="b"/>
              <a:pathLst>
                <a:path w="4724400" h="9525">
                  <a:moveTo>
                    <a:pt x="0" y="0"/>
                  </a:moveTo>
                  <a:lnTo>
                    <a:pt x="4724400" y="0"/>
                  </a:lnTo>
                </a:path>
              </a:pathLst>
            </a:custGeom>
            <a:noFill/>
            <a:ln w="9525">
              <a:solidFill>
                <a:srgbClr val="E6E6E6"/>
              </a:solidFill>
            </a:ln>
          </p:spPr>
          <p:txBody>
            <a:bodyPr/>
            <a:lstStyle/>
            <a:p>
              <a:endParaRPr lang="en-US"/>
            </a:p>
          </p:txBody>
        </p:sp>
        <p:sp>
          <p:nvSpPr>
            <p:cNvPr id="37" name="TextBox 37"/>
            <p:cNvSpPr txBox="1"/>
            <p:nvPr/>
          </p:nvSpPr>
          <p:spPr>
            <a:xfrm>
              <a:off x="6974205" y="3711892"/>
              <a:ext cx="14273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3</a:t>
              </a:r>
            </a:p>
          </p:txBody>
        </p:sp>
        <p:sp>
          <p:nvSpPr>
            <p:cNvPr id="38" name="TextBox 38"/>
            <p:cNvSpPr txBox="1"/>
            <p:nvPr/>
          </p:nvSpPr>
          <p:spPr>
            <a:xfrm>
              <a:off x="10003155" y="3711892"/>
              <a:ext cx="14273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3</a:t>
              </a:r>
            </a:p>
          </p:txBody>
        </p:sp>
        <p:sp>
          <p:nvSpPr>
            <p:cNvPr id="39" name="Line 39"/>
            <p:cNvSpPr/>
            <p:nvPr/>
          </p:nvSpPr>
          <p:spPr>
            <a:xfrm>
              <a:off x="6781800" y="4029075"/>
              <a:ext cx="4724400" cy="9525"/>
            </a:xfrm>
            <a:custGeom>
              <a:avLst/>
              <a:gdLst/>
              <a:ahLst/>
              <a:cxnLst/>
              <a:rect l="l" t="t" r="r" b="b"/>
              <a:pathLst>
                <a:path w="4724400" h="9525">
                  <a:moveTo>
                    <a:pt x="0" y="0"/>
                  </a:moveTo>
                  <a:lnTo>
                    <a:pt x="4724400" y="0"/>
                  </a:lnTo>
                </a:path>
              </a:pathLst>
            </a:custGeom>
            <a:noFill/>
            <a:ln w="9525">
              <a:solidFill>
                <a:srgbClr val="E6E6E6"/>
              </a:solidFill>
            </a:ln>
          </p:spPr>
          <p:txBody>
            <a:bodyPr/>
            <a:lstStyle/>
            <a:p>
              <a:endParaRPr lang="en-US"/>
            </a:p>
          </p:txBody>
        </p:sp>
        <p:sp>
          <p:nvSpPr>
            <p:cNvPr id="40" name="TextBox 40"/>
            <p:cNvSpPr txBox="1"/>
            <p:nvPr/>
          </p:nvSpPr>
          <p:spPr>
            <a:xfrm>
              <a:off x="6974205" y="4226242"/>
              <a:ext cx="14273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4</a:t>
              </a:r>
            </a:p>
          </p:txBody>
        </p:sp>
        <p:sp>
          <p:nvSpPr>
            <p:cNvPr id="41" name="TextBox 41"/>
            <p:cNvSpPr txBox="1"/>
            <p:nvPr/>
          </p:nvSpPr>
          <p:spPr>
            <a:xfrm>
              <a:off x="10003155" y="4226242"/>
              <a:ext cx="14273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3</a:t>
              </a:r>
            </a:p>
          </p:txBody>
        </p:sp>
        <p:sp>
          <p:nvSpPr>
            <p:cNvPr id="42" name="Line 42"/>
            <p:cNvSpPr/>
            <p:nvPr/>
          </p:nvSpPr>
          <p:spPr>
            <a:xfrm>
              <a:off x="6781800" y="4543425"/>
              <a:ext cx="4724400" cy="9525"/>
            </a:xfrm>
            <a:custGeom>
              <a:avLst/>
              <a:gdLst/>
              <a:ahLst/>
              <a:cxnLst/>
              <a:rect l="l" t="t" r="r" b="b"/>
              <a:pathLst>
                <a:path w="4724400" h="9525">
                  <a:moveTo>
                    <a:pt x="0" y="0"/>
                  </a:moveTo>
                  <a:lnTo>
                    <a:pt x="4724400" y="0"/>
                  </a:lnTo>
                </a:path>
              </a:pathLst>
            </a:custGeom>
            <a:noFill/>
            <a:ln w="9525">
              <a:solidFill>
                <a:srgbClr val="E6E6E6"/>
              </a:solidFill>
            </a:ln>
          </p:spPr>
          <p:txBody>
            <a:bodyPr/>
            <a:lstStyle/>
            <a:p>
              <a:endParaRPr lang="en-US"/>
            </a:p>
          </p:txBody>
        </p:sp>
        <p:sp>
          <p:nvSpPr>
            <p:cNvPr id="43" name="TextBox 43"/>
            <p:cNvSpPr txBox="1"/>
            <p:nvPr/>
          </p:nvSpPr>
          <p:spPr>
            <a:xfrm>
              <a:off x="6974205" y="4740592"/>
              <a:ext cx="14273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5</a:t>
              </a:r>
            </a:p>
          </p:txBody>
        </p:sp>
        <p:sp>
          <p:nvSpPr>
            <p:cNvPr id="44" name="TextBox 44"/>
            <p:cNvSpPr txBox="1"/>
            <p:nvPr/>
          </p:nvSpPr>
          <p:spPr>
            <a:xfrm>
              <a:off x="10003155" y="4740592"/>
              <a:ext cx="142732"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ok"/>
                  <a:ea typeface="FS Magistral Book"/>
                  <a:cs typeface="FS Magistral Book"/>
                </a:rPr>
                <a:t>3</a:t>
              </a:r>
            </a:p>
          </p:txBody>
        </p:sp>
        <p:sp>
          <p:nvSpPr>
            <p:cNvPr id="45" name="Line 45"/>
            <p:cNvSpPr/>
            <p:nvPr/>
          </p:nvSpPr>
          <p:spPr>
            <a:xfrm>
              <a:off x="6781800" y="5057775"/>
              <a:ext cx="4724400" cy="9525"/>
            </a:xfrm>
            <a:custGeom>
              <a:avLst/>
              <a:gdLst/>
              <a:ahLst/>
              <a:cxnLst/>
              <a:rect l="l" t="t" r="r" b="b"/>
              <a:pathLst>
                <a:path w="4724400" h="9525">
                  <a:moveTo>
                    <a:pt x="0" y="0"/>
                  </a:moveTo>
                  <a:lnTo>
                    <a:pt x="4724400" y="0"/>
                  </a:lnTo>
                </a:path>
              </a:pathLst>
            </a:custGeom>
            <a:noFill/>
            <a:ln w="9525">
              <a:solidFill>
                <a:srgbClr val="E6E6E6"/>
              </a:solidFill>
            </a:ln>
          </p:spPr>
          <p:txBody>
            <a:bodyPr/>
            <a:lstStyle/>
            <a:p>
              <a:endParaRPr lang="en-US"/>
            </a:p>
          </p:txBody>
        </p:sp>
        <p:sp>
          <p:nvSpPr>
            <p:cNvPr id="46" name="Rectangle 46"/>
            <p:cNvSpPr/>
            <p:nvPr/>
          </p:nvSpPr>
          <p:spPr>
            <a:xfrm>
              <a:off x="6781800" y="5229225"/>
              <a:ext cx="4724400" cy="657225"/>
            </a:xfrm>
            <a:prstGeom prst="rect">
              <a:avLst/>
            </a:prstGeom>
            <a:solidFill>
              <a:srgbClr val="F2F2F2"/>
            </a:solidFill>
            <a:ln>
              <a:noFill/>
            </a:ln>
          </p:spPr>
          <p:txBody>
            <a:bodyPr/>
            <a:lstStyle/>
            <a:p>
              <a:endParaRPr lang="en-US"/>
            </a:p>
          </p:txBody>
        </p:sp>
        <p:sp>
          <p:nvSpPr>
            <p:cNvPr id="47" name="TextBox 47"/>
            <p:cNvSpPr txBox="1"/>
            <p:nvPr/>
          </p:nvSpPr>
          <p:spPr>
            <a:xfrm>
              <a:off x="6975158" y="5367814"/>
              <a:ext cx="1547699" cy="259080"/>
            </a:xfrm>
            <a:prstGeom prst="rect">
              <a:avLst/>
            </a:prstGeom>
            <a:noFill/>
            <a:ln>
              <a:noFill/>
            </a:ln>
          </p:spPr>
          <p:txBody>
            <a:bodyPr wrap="none" lIns="0" tIns="0" rIns="0" bIns="0" anchor="t" anchorCtr="0">
              <a:spAutoFit/>
            </a:bodyPr>
            <a:lstStyle/>
            <a:p>
              <a:pPr algn="l"/>
              <a:r>
                <a:rPr lang="zh-CN" sz="1275" dirty="0">
                  <a:solidFill>
                    <a:srgbClr val="EE0033"/>
                  </a:solidFill>
                  <a:latin typeface="FS Magistral Bold"/>
                  <a:ea typeface="FS Magistral Bold"/>
                  <a:cs typeface="FS Magistral Bold"/>
                </a:rPr>
                <a:t>size = min(N, 3)</a:t>
              </a:r>
            </a:p>
          </p:txBody>
        </p:sp>
        <p:sp>
          <p:nvSpPr>
            <p:cNvPr id="48" name="TextBox 48"/>
            <p:cNvSpPr txBox="1"/>
            <p:nvPr/>
          </p:nvSpPr>
          <p:spPr>
            <a:xfrm>
              <a:off x="6978015" y="5630228"/>
              <a:ext cx="2787015" cy="213360"/>
            </a:xfrm>
            <a:prstGeom prst="rect">
              <a:avLst/>
            </a:prstGeom>
            <a:noFill/>
            <a:ln>
              <a:noFill/>
            </a:ln>
          </p:spPr>
          <p:txBody>
            <a:bodyPr wrap="none" lIns="0" tIns="0" rIns="0" bIns="0" anchor="t" anchorCtr="0">
              <a:spAutoFit/>
            </a:bodyPr>
            <a:lstStyle/>
            <a:p>
              <a:pPr algn="l"/>
              <a:r>
                <a:rPr lang="zh-CN" sz="1050" dirty="0">
                  <a:solidFill>
                    <a:srgbClr val="44494D"/>
                  </a:solidFill>
                  <a:latin typeface="FS Magistral Book"/>
                  <a:ea typeface="FS Magistral Book"/>
                  <a:cs typeface="FS Magistral Book"/>
                </a:rPr>
                <a:t>Cần placement / failure domain hợp lệ</a:t>
              </a:r>
            </a:p>
          </p:txBody>
        </p:sp>
      </p:grpSp>
      <p:grpSp>
        <p:nvGrpSpPr>
          <p:cNvPr id="56" name="Group 56"/>
          <p:cNvGrpSpPr/>
          <p:nvPr/>
        </p:nvGrpSpPr>
        <p:grpSpPr>
          <a:xfrm>
            <a:off x="0" y="6419850"/>
            <a:ext cx="12192000" cy="438150"/>
            <a:chOff x="0" y="6419850"/>
            <a:chExt cx="12192000" cy="438150"/>
          </a:xfrm>
        </p:grpSpPr>
        <p:sp>
          <p:nvSpPr>
            <p:cNvPr id="50" name="Rectangle 50"/>
            <p:cNvSpPr/>
            <p:nvPr/>
          </p:nvSpPr>
          <p:spPr>
            <a:xfrm>
              <a:off x="0" y="6419850"/>
              <a:ext cx="12192000" cy="438150"/>
            </a:xfrm>
            <a:prstGeom prst="rect">
              <a:avLst/>
            </a:prstGeom>
            <a:solidFill>
              <a:srgbClr val="F2F2F2"/>
            </a:solidFill>
            <a:ln>
              <a:noFill/>
            </a:ln>
          </p:spPr>
          <p:txBody>
            <a:bodyPr/>
            <a:lstStyle/>
            <a:p>
              <a:endParaRPr lang="en-US"/>
            </a:p>
          </p:txBody>
        </p:sp>
        <p:sp>
          <p:nvSpPr>
            <p:cNvPr id="51" name="Rectangle 51"/>
            <p:cNvSpPr/>
            <p:nvPr/>
          </p:nvSpPr>
          <p:spPr>
            <a:xfrm>
              <a:off x="0" y="6419850"/>
              <a:ext cx="76200" cy="438150"/>
            </a:xfrm>
            <a:prstGeom prst="rect">
              <a:avLst/>
            </a:prstGeom>
            <a:solidFill>
              <a:srgbClr val="EE0033"/>
            </a:solidFill>
            <a:ln>
              <a:noFill/>
            </a:ln>
          </p:spPr>
          <p:txBody>
            <a:bodyPr/>
            <a:lstStyle/>
            <a:p>
              <a:endParaRPr lang="en-US"/>
            </a:p>
          </p:txBody>
        </p:sp>
        <p:sp>
          <p:nvSpPr>
            <p:cNvPr id="52" name="TextBox 52"/>
            <p:cNvSpPr txBox="1"/>
            <p:nvPr/>
          </p:nvSpPr>
          <p:spPr>
            <a:xfrm>
              <a:off x="597218" y="6590824"/>
              <a:ext cx="1477232"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WEB CANARY · ĐỀ XUẤT</a:t>
              </a:r>
            </a:p>
          </p:txBody>
        </p:sp>
        <p:sp>
          <p:nvSpPr>
            <p:cNvPr id="53" name="TextBox 53"/>
            <p:cNvSpPr txBox="1"/>
            <p:nvPr/>
          </p:nvSpPr>
          <p:spPr>
            <a:xfrm>
              <a:off x="5039582" y="6598920"/>
              <a:ext cx="2112835"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Bảng size chỉ cho pool test riêng</a:t>
              </a:r>
            </a:p>
          </p:txBody>
        </p:sp>
        <p:sp>
          <p:nvSpPr>
            <p:cNvPr id="54" name="Rectangle 54"/>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55" name="TextBox 55"/>
            <p:cNvSpPr txBox="1"/>
            <p:nvPr/>
          </p:nvSpPr>
          <p:spPr>
            <a:xfrm>
              <a:off x="11065145" y="6582728"/>
              <a:ext cx="348710"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11/13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randombar(horizontal)">
                                      <p:cBhvr>
                                        <p:cTn id="11" dur="400"/>
                                        <p:tgtEl>
                                          <p:spTgt spid="25"/>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box(in)">
                                      <p:cBhvr>
                                        <p:cTn id="15"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5" grpId="0"/>
      <p:bldP spid="4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5728868"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Kế hoạch đánh giá và diễn tập lỗi</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sp>
        <p:nvSpPr>
          <p:cNvPr id="8" name="TextBox 8"/>
          <p:cNvSpPr txBox="1"/>
          <p:nvPr/>
        </p:nvSpPr>
        <p:spPr>
          <a:xfrm>
            <a:off x="671512" y="1212056"/>
            <a:ext cx="3306485" cy="228600"/>
          </a:xfrm>
          <a:prstGeom prst="rect">
            <a:avLst/>
          </a:prstGeom>
          <a:noFill/>
          <a:ln>
            <a:noFill/>
          </a:ln>
        </p:spPr>
        <p:txBody>
          <a:bodyPr wrap="none" lIns="0" tIns="0" rIns="0" bIns="0" anchor="t" anchorCtr="0">
            <a:spAutoFit/>
          </a:bodyPr>
          <a:lstStyle/>
          <a:p>
            <a:pPr algn="l"/>
            <a:r>
              <a:rPr lang="zh-CN" sz="1125" dirty="0">
                <a:solidFill>
                  <a:srgbClr val="F46A25"/>
                </a:solidFill>
                <a:latin typeface="FS Magistral Bold"/>
                <a:ea typeface="FS Magistral Bold"/>
                <a:cs typeface="FS Magistral Bold"/>
              </a:rPr>
              <a:t>KẾ HOẠCH KIỂM THỬ · CHƯA CÓ KẾT QUẢ H0</a:t>
            </a:r>
          </a:p>
        </p:txBody>
      </p:sp>
      <p:grpSp>
        <p:nvGrpSpPr>
          <p:cNvPr id="30" name="Group 30"/>
          <p:cNvGrpSpPr/>
          <p:nvPr/>
        </p:nvGrpSpPr>
        <p:grpSpPr>
          <a:xfrm>
            <a:off x="685800" y="1571625"/>
            <a:ext cx="10820400" cy="3495675"/>
            <a:chOff x="685800" y="1571625"/>
            <a:chExt cx="10820400" cy="3495675"/>
          </a:xfrm>
        </p:grpSpPr>
        <p:sp>
          <p:nvSpPr>
            <p:cNvPr id="9" name="Rectangle 9"/>
            <p:cNvSpPr/>
            <p:nvPr/>
          </p:nvSpPr>
          <p:spPr>
            <a:xfrm>
              <a:off x="685800" y="1571625"/>
              <a:ext cx="10820400" cy="409575"/>
            </a:xfrm>
            <a:prstGeom prst="rect">
              <a:avLst/>
            </a:prstGeom>
            <a:solidFill>
              <a:srgbClr val="F2F2F2"/>
            </a:solidFill>
            <a:ln>
              <a:noFill/>
            </a:ln>
          </p:spPr>
          <p:txBody>
            <a:bodyPr/>
            <a:lstStyle/>
            <a:p>
              <a:endParaRPr lang="en-US"/>
            </a:p>
          </p:txBody>
        </p:sp>
        <p:sp>
          <p:nvSpPr>
            <p:cNvPr id="10" name="TextBox 10"/>
            <p:cNvSpPr txBox="1"/>
            <p:nvPr/>
          </p:nvSpPr>
          <p:spPr>
            <a:xfrm>
              <a:off x="859155" y="1692592"/>
              <a:ext cx="893447"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Kịch bản</a:t>
              </a:r>
            </a:p>
          </p:txBody>
        </p:sp>
        <p:sp>
          <p:nvSpPr>
            <p:cNvPr id="11" name="TextBox 11"/>
            <p:cNvSpPr txBox="1"/>
            <p:nvPr/>
          </p:nvSpPr>
          <p:spPr>
            <a:xfrm>
              <a:off x="5126355" y="1692592"/>
              <a:ext cx="1928577"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Bằng chứng cần thu</a:t>
              </a:r>
            </a:p>
          </p:txBody>
        </p:sp>
        <p:sp>
          <p:nvSpPr>
            <p:cNvPr id="12" name="TextBox 12"/>
            <p:cNvSpPr txBox="1"/>
            <p:nvPr/>
          </p:nvSpPr>
          <p:spPr>
            <a:xfrm>
              <a:off x="860108" y="2167414"/>
              <a:ext cx="2052804"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Recovery/backfill về X</a:t>
              </a:r>
            </a:p>
          </p:txBody>
        </p:sp>
        <p:sp>
          <p:nvSpPr>
            <p:cNvPr id="13" name="TextBox 13"/>
            <p:cNvSpPr txBox="1"/>
            <p:nvPr/>
          </p:nvSpPr>
          <p:spPr>
            <a:xfrm>
              <a:off x="5127308" y="2167414"/>
              <a:ext cx="3561136"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Đọc local X, đúng version, so H0-static</a:t>
              </a:r>
            </a:p>
          </p:txBody>
        </p:sp>
        <p:sp>
          <p:nvSpPr>
            <p:cNvPr id="14" name="Line 14"/>
            <p:cNvSpPr/>
            <p:nvPr/>
          </p:nvSpPr>
          <p:spPr>
            <a:xfrm>
              <a:off x="685800" y="248602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15" name="TextBox 15"/>
            <p:cNvSpPr txBox="1"/>
            <p:nvPr/>
          </p:nvSpPr>
          <p:spPr>
            <a:xfrm>
              <a:off x="860108" y="2681764"/>
              <a:ext cx="1438299"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Sai lệch trước B</a:t>
              </a:r>
            </a:p>
          </p:txBody>
        </p:sp>
        <p:sp>
          <p:nvSpPr>
            <p:cNvPr id="16" name="TextBox 16"/>
            <p:cNvSpPr txBox="1"/>
            <p:nvPr/>
          </p:nvSpPr>
          <p:spPr>
            <a:xfrm>
              <a:off x="5127308" y="2681764"/>
              <a:ext cx="2611445"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Khả năng phát hiện ở primary</a:t>
              </a:r>
            </a:p>
          </p:txBody>
        </p:sp>
        <p:sp>
          <p:nvSpPr>
            <p:cNvPr id="17" name="Line 17"/>
            <p:cNvSpPr/>
            <p:nvPr/>
          </p:nvSpPr>
          <p:spPr>
            <a:xfrm>
              <a:off x="685800" y="300037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18" name="TextBox 18"/>
            <p:cNvSpPr txBox="1"/>
            <p:nvPr/>
          </p:nvSpPr>
          <p:spPr>
            <a:xfrm>
              <a:off x="860108" y="3196114"/>
              <a:ext cx="2062115"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Sai lệch sau B, trước C</a:t>
              </a:r>
            </a:p>
          </p:txBody>
        </p:sp>
        <p:sp>
          <p:nvSpPr>
            <p:cNvPr id="19" name="TextBox 19"/>
            <p:cNvSpPr txBox="1"/>
            <p:nvPr/>
          </p:nvSpPr>
          <p:spPr>
            <a:xfrm>
              <a:off x="5127308" y="3196114"/>
              <a:ext cx="2341435"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So phạm vi mức 1 với mức 2</a:t>
              </a:r>
            </a:p>
          </p:txBody>
        </p:sp>
        <p:sp>
          <p:nvSpPr>
            <p:cNvPr id="20" name="Line 20"/>
            <p:cNvSpPr/>
            <p:nvPr/>
          </p:nvSpPr>
          <p:spPr>
            <a:xfrm>
              <a:off x="685800" y="351472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1" name="TextBox 21"/>
            <p:cNvSpPr txBox="1"/>
            <p:nvPr/>
          </p:nvSpPr>
          <p:spPr>
            <a:xfrm>
              <a:off x="860108" y="3710464"/>
              <a:ext cx="2201775"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Sai lệch sau kiểm buffer</a:t>
              </a:r>
            </a:p>
          </p:txBody>
        </p:sp>
        <p:sp>
          <p:nvSpPr>
            <p:cNvPr id="22" name="TextBox 22"/>
            <p:cNvSpPr txBox="1"/>
            <p:nvPr/>
          </p:nvSpPr>
          <p:spPr>
            <a:xfrm>
              <a:off x="5127308" y="3710464"/>
              <a:ext cx="3495961"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Đọc lại mức 3 tại điểm tiêm lỗi xác định</a:t>
              </a:r>
            </a:p>
          </p:txBody>
        </p:sp>
        <p:sp>
          <p:nvSpPr>
            <p:cNvPr id="23" name="Line 23"/>
            <p:cNvSpPr/>
            <p:nvPr/>
          </p:nvSpPr>
          <p:spPr>
            <a:xfrm>
              <a:off x="685800" y="402907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4" name="TextBox 24"/>
            <p:cNvSpPr txBox="1"/>
            <p:nvPr/>
          </p:nvSpPr>
          <p:spPr>
            <a:xfrm>
              <a:off x="860108" y="4224814"/>
              <a:ext cx="2183154"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OSD lỗi, timeout, retry</a:t>
              </a:r>
            </a:p>
          </p:txBody>
        </p:sp>
        <p:sp>
          <p:nvSpPr>
            <p:cNvPr id="25" name="TextBox 25"/>
            <p:cNvSpPr txBox="1"/>
            <p:nvPr/>
          </p:nvSpPr>
          <p:spPr>
            <a:xfrm>
              <a:off x="5127308" y="4224814"/>
              <a:ext cx="3272504"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Request, commit, failover, chạy lại</a:t>
              </a:r>
            </a:p>
          </p:txBody>
        </p:sp>
        <p:sp>
          <p:nvSpPr>
            <p:cNvPr id="26" name="Line 26"/>
            <p:cNvSpPr/>
            <p:nvPr/>
          </p:nvSpPr>
          <p:spPr>
            <a:xfrm>
              <a:off x="685800" y="454342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7" name="TextBox 27"/>
            <p:cNvSpPr txBox="1"/>
            <p:nvPr/>
          </p:nvSpPr>
          <p:spPr>
            <a:xfrm>
              <a:off x="860108" y="4739164"/>
              <a:ext cx="2378678"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Phục hồi dịch vụ và dữ liệu</a:t>
              </a:r>
            </a:p>
          </p:txBody>
        </p:sp>
        <p:sp>
          <p:nvSpPr>
            <p:cNvPr id="28" name="TextBox 28"/>
            <p:cNvSpPr txBox="1"/>
            <p:nvPr/>
          </p:nvSpPr>
          <p:spPr>
            <a:xfrm>
              <a:off x="5127308" y="4739164"/>
              <a:ext cx="4157020"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Giữ placement, restore từ nguồn đúng version</a:t>
              </a:r>
            </a:p>
          </p:txBody>
        </p:sp>
        <p:sp>
          <p:nvSpPr>
            <p:cNvPr id="29" name="Line 29"/>
            <p:cNvSpPr/>
            <p:nvPr/>
          </p:nvSpPr>
          <p:spPr>
            <a:xfrm>
              <a:off x="685800" y="505777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grpSp>
      <p:grpSp>
        <p:nvGrpSpPr>
          <p:cNvPr id="35" name="Group 35"/>
          <p:cNvGrpSpPr/>
          <p:nvPr/>
        </p:nvGrpSpPr>
        <p:grpSpPr>
          <a:xfrm>
            <a:off x="670560" y="5299710"/>
            <a:ext cx="6574917" cy="779621"/>
            <a:chOff x="670560" y="5299710"/>
            <a:chExt cx="6574917" cy="779621"/>
          </a:xfrm>
        </p:grpSpPr>
        <p:sp>
          <p:nvSpPr>
            <p:cNvPr id="31" name="TextBox 31"/>
            <p:cNvSpPr txBox="1"/>
            <p:nvPr/>
          </p:nvSpPr>
          <p:spPr>
            <a:xfrm>
              <a:off x="670560" y="5299710"/>
              <a:ext cx="950595" cy="243840"/>
            </a:xfrm>
            <a:prstGeom prst="rect">
              <a:avLst/>
            </a:prstGeom>
            <a:noFill/>
            <a:ln>
              <a:noFill/>
            </a:ln>
          </p:spPr>
          <p:txBody>
            <a:bodyPr wrap="none" lIns="0" tIns="0" rIns="0" bIns="0" anchor="t" anchorCtr="0">
              <a:spAutoFit/>
            </a:bodyPr>
            <a:lstStyle/>
            <a:p>
              <a:pPr algn="l"/>
              <a:r>
                <a:rPr lang="zh-CN" sz="1200" dirty="0">
                  <a:solidFill>
                    <a:srgbClr val="EE0033"/>
                  </a:solidFill>
                  <a:latin typeface="FS Magistral Bold"/>
                  <a:ea typeface="FS Magistral Bold"/>
                  <a:cs typeface="FS Magistral Bold"/>
                </a:rPr>
                <a:t>Đối chứng:</a:t>
              </a:r>
            </a:p>
          </p:txBody>
        </p:sp>
        <p:sp>
          <p:nvSpPr>
            <p:cNvPr id="32" name="TextBox 32"/>
            <p:cNvSpPr txBox="1"/>
            <p:nvPr/>
          </p:nvSpPr>
          <p:spPr>
            <a:xfrm>
              <a:off x="1746885" y="5299710"/>
              <a:ext cx="5498592"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FS Magistral Book"/>
                  <a:ea typeface="FS Magistral Book"/>
                  <a:cs typeface="FS Magistral Book"/>
                </a:rPr>
                <a:t>Cơ sở / PA1 / H0 / PA1 + H0; giữ cùng workload, corpus, topology.</a:t>
              </a:r>
            </a:p>
          </p:txBody>
        </p:sp>
        <p:sp>
          <p:nvSpPr>
            <p:cNvPr id="33" name="TextBox 33"/>
            <p:cNvSpPr txBox="1"/>
            <p:nvPr/>
          </p:nvSpPr>
          <p:spPr>
            <a:xfrm>
              <a:off x="671512" y="5612606"/>
              <a:ext cx="5376743"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Đo phát hiện, p95/p99, throughput, CPU/disk/network, migration.</a:t>
              </a:r>
            </a:p>
          </p:txBody>
        </p:sp>
        <p:sp>
          <p:nvSpPr>
            <p:cNvPr id="34" name="TextBox 34"/>
            <p:cNvSpPr txBox="1"/>
            <p:nvPr/>
          </p:nvSpPr>
          <p:spPr>
            <a:xfrm>
              <a:off x="671512" y="5850731"/>
              <a:ext cx="4160877" cy="228600"/>
            </a:xfrm>
            <a:prstGeom prst="rect">
              <a:avLst/>
            </a:prstGeom>
            <a:noFill/>
            <a:ln>
              <a:noFill/>
            </a:ln>
          </p:spPr>
          <p:txBody>
            <a:bodyPr wrap="none" lIns="0" tIns="0" rIns="0" bIns="0" anchor="t" anchorCtr="0">
              <a:spAutoFit/>
            </a:bodyPr>
            <a:lstStyle/>
            <a:p>
              <a:pPr algn="l"/>
              <a:r>
                <a:rPr lang="zh-CN" sz="1125" dirty="0">
                  <a:solidFill>
                    <a:srgbClr val="44494D"/>
                  </a:solidFill>
                  <a:latin typeface="FS Magistral Book"/>
                  <a:ea typeface="FS Magistral Book"/>
                  <a:cs typeface="FS Magistral Book"/>
                </a:rPr>
                <a:t>Ghi gián đoạn dịch vụ, RTO/RPO và phạm vi phục hồi.</a:t>
              </a:r>
            </a:p>
          </p:txBody>
        </p:sp>
      </p:grpSp>
      <p:grpSp>
        <p:nvGrpSpPr>
          <p:cNvPr id="42" name="Group 42"/>
          <p:cNvGrpSpPr/>
          <p:nvPr/>
        </p:nvGrpSpPr>
        <p:grpSpPr>
          <a:xfrm>
            <a:off x="0" y="6419850"/>
            <a:ext cx="12192000" cy="438150"/>
            <a:chOff x="0" y="6419850"/>
            <a:chExt cx="12192000" cy="438150"/>
          </a:xfrm>
        </p:grpSpPr>
        <p:sp>
          <p:nvSpPr>
            <p:cNvPr id="36" name="Rectangle 36"/>
            <p:cNvSpPr/>
            <p:nvPr/>
          </p:nvSpPr>
          <p:spPr>
            <a:xfrm>
              <a:off x="0" y="6419850"/>
              <a:ext cx="12192000" cy="438150"/>
            </a:xfrm>
            <a:prstGeom prst="rect">
              <a:avLst/>
            </a:prstGeom>
            <a:solidFill>
              <a:srgbClr val="F2F2F2"/>
            </a:solidFill>
            <a:ln>
              <a:noFill/>
            </a:ln>
          </p:spPr>
          <p:txBody>
            <a:bodyPr/>
            <a:lstStyle/>
            <a:p>
              <a:endParaRPr lang="en-US"/>
            </a:p>
          </p:txBody>
        </p:sp>
        <p:sp>
          <p:nvSpPr>
            <p:cNvPr id="37" name="Rectangle 37"/>
            <p:cNvSpPr/>
            <p:nvPr/>
          </p:nvSpPr>
          <p:spPr>
            <a:xfrm>
              <a:off x="0" y="6419850"/>
              <a:ext cx="76200" cy="438150"/>
            </a:xfrm>
            <a:prstGeom prst="rect">
              <a:avLst/>
            </a:prstGeom>
            <a:solidFill>
              <a:srgbClr val="EE0033"/>
            </a:solidFill>
            <a:ln>
              <a:noFill/>
            </a:ln>
          </p:spPr>
          <p:txBody>
            <a:bodyPr/>
            <a:lstStyle/>
            <a:p>
              <a:endParaRPr lang="en-US"/>
            </a:p>
          </p:txBody>
        </p:sp>
        <p:sp>
          <p:nvSpPr>
            <p:cNvPr id="38" name="TextBox 38"/>
            <p:cNvSpPr txBox="1"/>
            <p:nvPr/>
          </p:nvSpPr>
          <p:spPr>
            <a:xfrm>
              <a:off x="597218" y="6590824"/>
              <a:ext cx="1363313"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ĐÁNH GIÁ · KẾ HOẠCH</a:t>
              </a:r>
            </a:p>
          </p:txBody>
        </p:sp>
        <p:sp>
          <p:nvSpPr>
            <p:cNvPr id="39" name="TextBox 39"/>
            <p:cNvSpPr txBox="1"/>
            <p:nvPr/>
          </p:nvSpPr>
          <p:spPr>
            <a:xfrm>
              <a:off x="4839129" y="6598920"/>
              <a:ext cx="2513743"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Không điền số kết quả khi chưa chạy thử</a:t>
              </a:r>
            </a:p>
          </p:txBody>
        </p:sp>
        <p:sp>
          <p:nvSpPr>
            <p:cNvPr id="40" name="Rectangle 40"/>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41" name="TextBox 41"/>
            <p:cNvSpPr txBox="1"/>
            <p:nvPr/>
          </p:nvSpPr>
          <p:spPr>
            <a:xfrm>
              <a:off x="11045017" y="6582728"/>
              <a:ext cx="38896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12/13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barn(inVertical)">
                                      <p:cBhvr>
                                        <p:cTn id="11" dur="400"/>
                                        <p:tgtEl>
                                          <p:spTgt spid="30"/>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trips(downRight)">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0" grpId="0"/>
      <p:bldP spid="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47625"/>
          </a:xfrm>
          <a:prstGeom prst="rect">
            <a:avLst/>
          </a:prstGeom>
          <a:solidFill>
            <a:srgbClr val="EE0033"/>
          </a:solidFill>
          <a:ln>
            <a:noFill/>
          </a:ln>
        </p:spPr>
        <p:txBody>
          <a:bodyPr/>
          <a:lstStyle/>
          <a:p>
            <a:endParaRPr lang="en-US"/>
          </a:p>
        </p:txBody>
      </p:sp>
      <p:pic>
        <p:nvPicPr>
          <p:cNvPr id="3" name="Image 3"/>
          <p:cNvPicPr>
            <a:picLocks noChangeAspect="1"/>
          </p:cNvPicPr>
          <p:nvPr/>
        </p:nvPicPr>
        <p:blipFill>
          <a:blip r:embed="rId3"/>
          <a:stretch>
            <a:fillRect/>
          </a:stretch>
        </p:blipFill>
        <p:spPr>
          <a:xfrm>
            <a:off x="10363200" y="337185"/>
            <a:ext cx="1219200" cy="259080"/>
          </a:xfrm>
          <a:prstGeom prst="rect">
            <a:avLst/>
          </a:prstGeom>
        </p:spPr>
      </p:pic>
      <p:grpSp>
        <p:nvGrpSpPr>
          <p:cNvPr id="7" name="Group 7"/>
          <p:cNvGrpSpPr/>
          <p:nvPr/>
        </p:nvGrpSpPr>
        <p:grpSpPr>
          <a:xfrm>
            <a:off x="609600" y="361950"/>
            <a:ext cx="10972800" cy="619125"/>
            <a:chOff x="609600" y="361950"/>
            <a:chExt cx="10972800" cy="619125"/>
          </a:xfrm>
        </p:grpSpPr>
        <p:sp>
          <p:nvSpPr>
            <p:cNvPr id="4" name="Rectangle 4"/>
            <p:cNvSpPr/>
            <p:nvPr/>
          </p:nvSpPr>
          <p:spPr>
            <a:xfrm>
              <a:off x="609600" y="361950"/>
              <a:ext cx="66675" cy="361950"/>
            </a:xfrm>
            <a:prstGeom prst="roundRect">
              <a:avLst>
                <a:gd name="adj" fmla="val 42857"/>
              </a:avLst>
            </a:prstGeom>
            <a:solidFill>
              <a:srgbClr val="EE0033"/>
            </a:solidFill>
            <a:ln>
              <a:noFill/>
            </a:ln>
          </p:spPr>
          <p:txBody>
            <a:bodyPr/>
            <a:lstStyle/>
            <a:p>
              <a:endParaRPr lang="en-US"/>
            </a:p>
          </p:txBody>
        </p:sp>
        <p:sp>
          <p:nvSpPr>
            <p:cNvPr id="5" name="TextBox 5"/>
            <p:cNvSpPr txBox="1"/>
            <p:nvPr/>
          </p:nvSpPr>
          <p:spPr>
            <a:xfrm>
              <a:off x="807720" y="369570"/>
              <a:ext cx="7532294" cy="487680"/>
            </a:xfrm>
            <a:prstGeom prst="rect">
              <a:avLst/>
            </a:prstGeom>
            <a:noFill/>
            <a:ln>
              <a:noFill/>
            </a:ln>
          </p:spPr>
          <p:txBody>
            <a:bodyPr wrap="none" lIns="0" tIns="0" rIns="0" bIns="0" anchor="t" anchorCtr="0">
              <a:spAutoFit/>
            </a:bodyPr>
            <a:lstStyle/>
            <a:p>
              <a:pPr algn="l"/>
              <a:r>
                <a:rPr lang="zh-CN" sz="2400" dirty="0">
                  <a:solidFill>
                    <a:srgbClr val="000000"/>
                  </a:solidFill>
                  <a:latin typeface="FS Magistral Bold"/>
                  <a:ea typeface="FS Magistral Bold"/>
                  <a:cs typeface="FS Magistral Bold"/>
                </a:rPr>
                <a:t>Lộ trình triển khai và tiêu chí nghiệm thu</a:t>
              </a:r>
            </a:p>
          </p:txBody>
        </p:sp>
        <p:sp>
          <p:nvSpPr>
            <p:cNvPr id="6" name="Line 6"/>
            <p:cNvSpPr/>
            <p:nvPr/>
          </p:nvSpPr>
          <p:spPr>
            <a:xfrm>
              <a:off x="609600" y="971550"/>
              <a:ext cx="10972800" cy="9525"/>
            </a:xfrm>
            <a:custGeom>
              <a:avLst/>
              <a:gdLst/>
              <a:ahLst/>
              <a:cxnLst/>
              <a:rect l="l" t="t" r="r" b="b"/>
              <a:pathLst>
                <a:path w="10972800" h="9525">
                  <a:moveTo>
                    <a:pt x="0" y="0"/>
                  </a:moveTo>
                  <a:lnTo>
                    <a:pt x="10972800" y="0"/>
                  </a:lnTo>
                </a:path>
              </a:pathLst>
            </a:custGeom>
            <a:noFill/>
            <a:ln w="9525">
              <a:solidFill>
                <a:srgbClr val="E6E6E6"/>
              </a:solidFill>
            </a:ln>
          </p:spPr>
          <p:txBody>
            <a:bodyPr/>
            <a:lstStyle/>
            <a:p>
              <a:endParaRPr lang="en-US"/>
            </a:p>
          </p:txBody>
        </p:sp>
      </p:grpSp>
      <p:grpSp>
        <p:nvGrpSpPr>
          <p:cNvPr id="31" name="Group 31"/>
          <p:cNvGrpSpPr/>
          <p:nvPr/>
        </p:nvGrpSpPr>
        <p:grpSpPr>
          <a:xfrm>
            <a:off x="685800" y="1304925"/>
            <a:ext cx="10820400" cy="3857625"/>
            <a:chOff x="685800" y="1304925"/>
            <a:chExt cx="10820400" cy="3857625"/>
          </a:xfrm>
        </p:grpSpPr>
        <p:sp>
          <p:nvSpPr>
            <p:cNvPr id="8" name="Rectangle 8"/>
            <p:cNvSpPr/>
            <p:nvPr/>
          </p:nvSpPr>
          <p:spPr>
            <a:xfrm>
              <a:off x="685800" y="1304925"/>
              <a:ext cx="10820400" cy="428625"/>
            </a:xfrm>
            <a:prstGeom prst="rect">
              <a:avLst/>
            </a:prstGeom>
            <a:solidFill>
              <a:srgbClr val="F2F2F2"/>
            </a:solidFill>
            <a:ln>
              <a:noFill/>
            </a:ln>
          </p:spPr>
          <p:txBody>
            <a:bodyPr/>
            <a:lstStyle/>
            <a:p>
              <a:endParaRPr lang="en-US"/>
            </a:p>
          </p:txBody>
        </p:sp>
        <p:sp>
          <p:nvSpPr>
            <p:cNvPr id="9" name="TextBox 9"/>
            <p:cNvSpPr txBox="1"/>
            <p:nvPr/>
          </p:nvSpPr>
          <p:spPr>
            <a:xfrm>
              <a:off x="859155" y="1444942"/>
              <a:ext cx="903799"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Giai đoạn</a:t>
              </a:r>
            </a:p>
          </p:txBody>
        </p:sp>
        <p:sp>
          <p:nvSpPr>
            <p:cNvPr id="10" name="TextBox 10"/>
            <p:cNvSpPr txBox="1"/>
            <p:nvPr/>
          </p:nvSpPr>
          <p:spPr>
            <a:xfrm>
              <a:off x="3888105" y="1444942"/>
              <a:ext cx="2218413" cy="274320"/>
            </a:xfrm>
            <a:prstGeom prst="rect">
              <a:avLst/>
            </a:prstGeom>
            <a:noFill/>
            <a:ln>
              <a:noFill/>
            </a:ln>
          </p:spPr>
          <p:txBody>
            <a:bodyPr wrap="none" lIns="0" tIns="0" rIns="0" bIns="0" anchor="t" anchorCtr="0">
              <a:spAutoFit/>
            </a:bodyPr>
            <a:lstStyle/>
            <a:p>
              <a:pPr algn="l"/>
              <a:r>
                <a:rPr lang="zh-CN" sz="1350" dirty="0">
                  <a:solidFill>
                    <a:srgbClr val="000000"/>
                  </a:solidFill>
                  <a:latin typeface="FS Magistral Bold"/>
                  <a:ea typeface="FS Magistral Bold"/>
                  <a:cs typeface="FS Magistral Bold"/>
                </a:rPr>
                <a:t>Đầu ra cần hoàn thành</a:t>
              </a:r>
            </a:p>
          </p:txBody>
        </p:sp>
        <p:sp>
          <p:nvSpPr>
            <p:cNvPr id="11" name="Rectangle 11"/>
            <p:cNvSpPr/>
            <p:nvPr/>
          </p:nvSpPr>
          <p:spPr>
            <a:xfrm>
              <a:off x="685800" y="1733550"/>
              <a:ext cx="66675" cy="847725"/>
            </a:xfrm>
            <a:prstGeom prst="rect">
              <a:avLst/>
            </a:prstGeom>
            <a:solidFill>
              <a:srgbClr val="EE0033"/>
            </a:solidFill>
            <a:ln>
              <a:noFill/>
            </a:ln>
          </p:spPr>
          <p:txBody>
            <a:bodyPr/>
            <a:lstStyle/>
            <a:p>
              <a:endParaRPr lang="en-US"/>
            </a:p>
          </p:txBody>
        </p:sp>
        <p:sp>
          <p:nvSpPr>
            <p:cNvPr id="12" name="TextBox 12"/>
            <p:cNvSpPr txBox="1"/>
            <p:nvPr/>
          </p:nvSpPr>
          <p:spPr>
            <a:xfrm>
              <a:off x="859155" y="1911668"/>
              <a:ext cx="2290872" cy="274320"/>
            </a:xfrm>
            <a:prstGeom prst="rect">
              <a:avLst/>
            </a:prstGeom>
            <a:noFill/>
            <a:ln>
              <a:noFill/>
            </a:ln>
          </p:spPr>
          <p:txBody>
            <a:bodyPr wrap="none" lIns="0" tIns="0" rIns="0" bIns="0" anchor="t" anchorCtr="0">
              <a:spAutoFit/>
            </a:bodyPr>
            <a:lstStyle/>
            <a:p>
              <a:pPr algn="l"/>
              <a:r>
                <a:rPr lang="zh-CN" sz="1350" dirty="0">
                  <a:solidFill>
                    <a:srgbClr val="EE0033"/>
                  </a:solidFill>
                  <a:latin typeface="FS Magistral Bold"/>
                  <a:ea typeface="FS Magistral Bold"/>
                  <a:cs typeface="FS Magistral Bold"/>
                </a:rPr>
                <a:t>1 · Xác nhận hiện trạng</a:t>
              </a:r>
            </a:p>
          </p:txBody>
        </p:sp>
        <p:sp>
          <p:nvSpPr>
            <p:cNvPr id="13" name="TextBox 13"/>
            <p:cNvSpPr txBox="1"/>
            <p:nvPr/>
          </p:nvSpPr>
          <p:spPr>
            <a:xfrm>
              <a:off x="3889058" y="1891189"/>
              <a:ext cx="4799457"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Inventory mới; version/image, quorum, PG, override</a:t>
              </a:r>
            </a:p>
          </p:txBody>
        </p:sp>
        <p:sp>
          <p:nvSpPr>
            <p:cNvPr id="14" name="TextBox 14"/>
            <p:cNvSpPr txBox="1"/>
            <p:nvPr/>
          </p:nvSpPr>
          <p:spPr>
            <a:xfrm>
              <a:off x="3889058" y="2176939"/>
              <a:ext cx="2890766"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Hoàn thiện bước còn thiếu của U1</a:t>
              </a:r>
            </a:p>
          </p:txBody>
        </p:sp>
        <p:sp>
          <p:nvSpPr>
            <p:cNvPr id="15" name="Line 15"/>
            <p:cNvSpPr/>
            <p:nvPr/>
          </p:nvSpPr>
          <p:spPr>
            <a:xfrm>
              <a:off x="685800" y="258127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16" name="Rectangle 16"/>
            <p:cNvSpPr/>
            <p:nvPr/>
          </p:nvSpPr>
          <p:spPr>
            <a:xfrm>
              <a:off x="685800" y="2590800"/>
              <a:ext cx="66675" cy="847725"/>
            </a:xfrm>
            <a:prstGeom prst="rect">
              <a:avLst/>
            </a:prstGeom>
            <a:solidFill>
              <a:srgbClr val="EE0033"/>
            </a:solidFill>
            <a:ln>
              <a:noFill/>
            </a:ln>
          </p:spPr>
          <p:txBody>
            <a:bodyPr/>
            <a:lstStyle/>
            <a:p>
              <a:endParaRPr lang="en-US"/>
            </a:p>
          </p:txBody>
        </p:sp>
        <p:sp>
          <p:nvSpPr>
            <p:cNvPr id="17" name="TextBox 17"/>
            <p:cNvSpPr txBox="1"/>
            <p:nvPr/>
          </p:nvSpPr>
          <p:spPr>
            <a:xfrm>
              <a:off x="859155" y="2768918"/>
              <a:ext cx="1773307" cy="274320"/>
            </a:xfrm>
            <a:prstGeom prst="rect">
              <a:avLst/>
            </a:prstGeom>
            <a:noFill/>
            <a:ln>
              <a:noFill/>
            </a:ln>
          </p:spPr>
          <p:txBody>
            <a:bodyPr wrap="none" lIns="0" tIns="0" rIns="0" bIns="0" anchor="t" anchorCtr="0">
              <a:spAutoFit/>
            </a:bodyPr>
            <a:lstStyle/>
            <a:p>
              <a:pPr algn="l"/>
              <a:r>
                <a:rPr lang="zh-CN" sz="1350" dirty="0">
                  <a:solidFill>
                    <a:srgbClr val="EE0033"/>
                  </a:solidFill>
                  <a:latin typeface="FS Magistral Bold"/>
                  <a:ea typeface="FS Magistral Bold"/>
                  <a:cs typeface="FS Magistral Bold"/>
                </a:rPr>
                <a:t>2 · Hoàn thiện PA1</a:t>
              </a:r>
            </a:p>
          </p:txBody>
        </p:sp>
        <p:sp>
          <p:nvSpPr>
            <p:cNvPr id="18" name="TextBox 18"/>
            <p:cNvSpPr txBox="1"/>
            <p:nvPr/>
          </p:nvSpPr>
          <p:spPr>
            <a:xfrm>
              <a:off x="3889058" y="2748439"/>
              <a:ext cx="4529447"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Gate di chuyển/stop/trả PG; chọn canary theo tải</a:t>
              </a:r>
            </a:p>
          </p:txBody>
        </p:sp>
        <p:sp>
          <p:nvSpPr>
            <p:cNvPr id="19" name="TextBox 19"/>
            <p:cNvSpPr txBox="1"/>
            <p:nvPr/>
          </p:nvSpPr>
          <p:spPr>
            <a:xfrm>
              <a:off x="3889058" y="3034189"/>
              <a:ext cx="3309747"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Đo migration hai chiều; diễn tập lỗi X</a:t>
              </a:r>
            </a:p>
          </p:txBody>
        </p:sp>
        <p:sp>
          <p:nvSpPr>
            <p:cNvPr id="20" name="Line 20"/>
            <p:cNvSpPr/>
            <p:nvPr/>
          </p:nvSpPr>
          <p:spPr>
            <a:xfrm>
              <a:off x="685800" y="343852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1" name="Rectangle 21"/>
            <p:cNvSpPr/>
            <p:nvPr/>
          </p:nvSpPr>
          <p:spPr>
            <a:xfrm>
              <a:off x="685800" y="3448050"/>
              <a:ext cx="66675" cy="847725"/>
            </a:xfrm>
            <a:prstGeom prst="rect">
              <a:avLst/>
            </a:prstGeom>
            <a:solidFill>
              <a:srgbClr val="EE0033"/>
            </a:solidFill>
            <a:ln>
              <a:noFill/>
            </a:ln>
          </p:spPr>
          <p:txBody>
            <a:bodyPr/>
            <a:lstStyle/>
            <a:p>
              <a:endParaRPr lang="en-US"/>
            </a:p>
          </p:txBody>
        </p:sp>
        <p:sp>
          <p:nvSpPr>
            <p:cNvPr id="22" name="TextBox 22"/>
            <p:cNvSpPr txBox="1"/>
            <p:nvPr/>
          </p:nvSpPr>
          <p:spPr>
            <a:xfrm>
              <a:off x="859155" y="3626168"/>
              <a:ext cx="1700848" cy="274320"/>
            </a:xfrm>
            <a:prstGeom prst="rect">
              <a:avLst/>
            </a:prstGeom>
            <a:noFill/>
            <a:ln>
              <a:noFill/>
            </a:ln>
          </p:spPr>
          <p:txBody>
            <a:bodyPr wrap="none" lIns="0" tIns="0" rIns="0" bIns="0" anchor="t" anchorCtr="0">
              <a:spAutoFit/>
            </a:bodyPr>
            <a:lstStyle/>
            <a:p>
              <a:pPr algn="l"/>
              <a:r>
                <a:rPr lang="zh-CN" sz="1350" dirty="0">
                  <a:solidFill>
                    <a:srgbClr val="EE0033"/>
                  </a:solidFill>
                  <a:latin typeface="FS Magistral Bold"/>
                  <a:ea typeface="FS Magistral Bold"/>
                  <a:cs typeface="FS Magistral Bold"/>
                </a:rPr>
                <a:t>3 · Prototype H0</a:t>
              </a:r>
            </a:p>
          </p:txBody>
        </p:sp>
        <p:sp>
          <p:nvSpPr>
            <p:cNvPr id="23" name="TextBox 23"/>
            <p:cNvSpPr txBox="1"/>
            <p:nvPr/>
          </p:nvSpPr>
          <p:spPr>
            <a:xfrm>
              <a:off x="3889058" y="3605689"/>
              <a:ext cx="4808768"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H0-R với corpus cố định; H0-W trên object RADOS mới</a:t>
              </a:r>
            </a:p>
          </p:txBody>
        </p:sp>
        <p:sp>
          <p:nvSpPr>
            <p:cNvPr id="24" name="TextBox 24"/>
            <p:cNvSpPr txBox="1"/>
            <p:nvPr/>
          </p:nvSpPr>
          <p:spPr>
            <a:xfrm>
              <a:off x="3889058" y="3891439"/>
              <a:ext cx="4482894"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Mức 1 → 2 → 3; retry, timeout, failover, đọc local</a:t>
              </a:r>
            </a:p>
          </p:txBody>
        </p:sp>
        <p:sp>
          <p:nvSpPr>
            <p:cNvPr id="25" name="Line 25"/>
            <p:cNvSpPr/>
            <p:nvPr/>
          </p:nvSpPr>
          <p:spPr>
            <a:xfrm>
              <a:off x="685800" y="429577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sp>
          <p:nvSpPr>
            <p:cNvPr id="26" name="Rectangle 26"/>
            <p:cNvSpPr/>
            <p:nvPr/>
          </p:nvSpPr>
          <p:spPr>
            <a:xfrm>
              <a:off x="685800" y="4305300"/>
              <a:ext cx="66675" cy="847725"/>
            </a:xfrm>
            <a:prstGeom prst="rect">
              <a:avLst/>
            </a:prstGeom>
            <a:solidFill>
              <a:srgbClr val="EE0033"/>
            </a:solidFill>
            <a:ln>
              <a:noFill/>
            </a:ln>
          </p:spPr>
          <p:txBody>
            <a:bodyPr/>
            <a:lstStyle/>
            <a:p>
              <a:endParaRPr lang="en-US"/>
            </a:p>
          </p:txBody>
        </p:sp>
        <p:sp>
          <p:nvSpPr>
            <p:cNvPr id="27" name="TextBox 27"/>
            <p:cNvSpPr txBox="1"/>
            <p:nvPr/>
          </p:nvSpPr>
          <p:spPr>
            <a:xfrm>
              <a:off x="859155" y="4483418"/>
              <a:ext cx="2290872" cy="274320"/>
            </a:xfrm>
            <a:prstGeom prst="rect">
              <a:avLst/>
            </a:prstGeom>
            <a:noFill/>
            <a:ln>
              <a:noFill/>
            </a:ln>
          </p:spPr>
          <p:txBody>
            <a:bodyPr wrap="none" lIns="0" tIns="0" rIns="0" bIns="0" anchor="t" anchorCtr="0">
              <a:spAutoFit/>
            </a:bodyPr>
            <a:lstStyle/>
            <a:p>
              <a:pPr algn="l"/>
              <a:r>
                <a:rPr lang="zh-CN" sz="1350" dirty="0">
                  <a:solidFill>
                    <a:srgbClr val="EE0033"/>
                  </a:solidFill>
                  <a:latin typeface="FS Magistral Bold"/>
                  <a:ea typeface="FS Magistral Bold"/>
                  <a:cs typeface="FS Magistral Bold"/>
                </a:rPr>
                <a:t>4 · Tích hợp / đánh giá</a:t>
              </a:r>
            </a:p>
          </p:txBody>
        </p:sp>
        <p:sp>
          <p:nvSpPr>
            <p:cNvPr id="28" name="TextBox 28"/>
            <p:cNvSpPr txBox="1"/>
            <p:nvPr/>
          </p:nvSpPr>
          <p:spPr>
            <a:xfrm>
              <a:off x="3889058" y="4462939"/>
              <a:ext cx="5181195" cy="259080"/>
            </a:xfrm>
            <a:prstGeom prst="rect">
              <a:avLst/>
            </a:prstGeom>
            <a:noFill/>
            <a:ln>
              <a:noFill/>
            </a:ln>
          </p:spPr>
          <p:txBody>
            <a:bodyPr wrap="none" lIns="0" tIns="0" rIns="0" bIns="0" anchor="t" anchorCtr="0">
              <a:spAutoFit/>
            </a:bodyPr>
            <a:lstStyle/>
            <a:p>
              <a:pPr algn="l"/>
              <a:r>
                <a:rPr lang="zh-CN" sz="1275" dirty="0">
                  <a:solidFill>
                    <a:srgbClr val="000000"/>
                  </a:solidFill>
                  <a:latin typeface="FS Magistral Book"/>
                  <a:ea typeface="FS Magistral Book"/>
                  <a:cs typeface="FS Magistral Book"/>
                </a:rPr>
                <a:t>Web chọn scope/mức; đối chứng, fault injection, restore</a:t>
              </a:r>
            </a:p>
          </p:txBody>
        </p:sp>
        <p:sp>
          <p:nvSpPr>
            <p:cNvPr id="29" name="TextBox 29"/>
            <p:cNvSpPr txBox="1"/>
            <p:nvPr/>
          </p:nvSpPr>
          <p:spPr>
            <a:xfrm>
              <a:off x="3889058" y="4748689"/>
              <a:ext cx="3170087" cy="259080"/>
            </a:xfrm>
            <a:prstGeom prst="rect">
              <a:avLst/>
            </a:prstGeom>
            <a:noFill/>
            <a:ln>
              <a:noFill/>
            </a:ln>
          </p:spPr>
          <p:txBody>
            <a:bodyPr wrap="none" lIns="0" tIns="0" rIns="0" bIns="0" anchor="t" anchorCtr="0">
              <a:spAutoFit/>
            </a:bodyPr>
            <a:lstStyle/>
            <a:p>
              <a:pPr algn="l"/>
              <a:r>
                <a:rPr lang="zh-CN" sz="1275" dirty="0">
                  <a:solidFill>
                    <a:srgbClr val="44494D"/>
                  </a:solidFill>
                  <a:latin typeface="FS Magistral Book"/>
                  <a:ea typeface="FS Magistral Book"/>
                  <a:cs typeface="FS Magistral Book"/>
                </a:rPr>
                <a:t>Nghiệm thu từng chặng trước U2/U3</a:t>
              </a:r>
            </a:p>
          </p:txBody>
        </p:sp>
        <p:sp>
          <p:nvSpPr>
            <p:cNvPr id="30" name="Line 30"/>
            <p:cNvSpPr/>
            <p:nvPr/>
          </p:nvSpPr>
          <p:spPr>
            <a:xfrm>
              <a:off x="685800" y="5153025"/>
              <a:ext cx="10820400" cy="9525"/>
            </a:xfrm>
            <a:custGeom>
              <a:avLst/>
              <a:gdLst/>
              <a:ahLst/>
              <a:cxnLst/>
              <a:rect l="l" t="t" r="r" b="b"/>
              <a:pathLst>
                <a:path w="10820400" h="9525">
                  <a:moveTo>
                    <a:pt x="0" y="0"/>
                  </a:moveTo>
                  <a:lnTo>
                    <a:pt x="10820400" y="0"/>
                  </a:lnTo>
                </a:path>
              </a:pathLst>
            </a:custGeom>
            <a:noFill/>
            <a:ln w="9525">
              <a:solidFill>
                <a:srgbClr val="E6E6E6"/>
              </a:solidFill>
            </a:ln>
          </p:spPr>
          <p:txBody>
            <a:bodyPr/>
            <a:lstStyle/>
            <a:p>
              <a:endParaRPr lang="en-US"/>
            </a:p>
          </p:txBody>
        </p:sp>
      </p:grpSp>
      <p:grpSp>
        <p:nvGrpSpPr>
          <p:cNvPr id="36" name="Group 36"/>
          <p:cNvGrpSpPr/>
          <p:nvPr/>
        </p:nvGrpSpPr>
        <p:grpSpPr>
          <a:xfrm>
            <a:off x="685800" y="5372100"/>
            <a:ext cx="10820400" cy="619125"/>
            <a:chOff x="685800" y="5372100"/>
            <a:chExt cx="10820400" cy="619125"/>
          </a:xfrm>
        </p:grpSpPr>
        <p:sp>
          <p:nvSpPr>
            <p:cNvPr id="32" name="Rectangle 32"/>
            <p:cNvSpPr/>
            <p:nvPr/>
          </p:nvSpPr>
          <p:spPr>
            <a:xfrm>
              <a:off x="685800" y="5372100"/>
              <a:ext cx="10820400" cy="609600"/>
            </a:xfrm>
            <a:prstGeom prst="rect">
              <a:avLst/>
            </a:prstGeom>
            <a:solidFill>
              <a:srgbClr val="F2F2F2"/>
            </a:solidFill>
            <a:ln>
              <a:noFill/>
            </a:ln>
          </p:spPr>
          <p:txBody>
            <a:bodyPr/>
            <a:lstStyle/>
            <a:p>
              <a:endParaRPr lang="en-US"/>
            </a:p>
          </p:txBody>
        </p:sp>
        <p:sp>
          <p:nvSpPr>
            <p:cNvPr id="33" name="Rectangle 33"/>
            <p:cNvSpPr/>
            <p:nvPr/>
          </p:nvSpPr>
          <p:spPr>
            <a:xfrm>
              <a:off x="685800" y="5372100"/>
              <a:ext cx="66675" cy="609600"/>
            </a:xfrm>
            <a:prstGeom prst="rect">
              <a:avLst/>
            </a:prstGeom>
            <a:solidFill>
              <a:srgbClr val="EE0033"/>
            </a:solidFill>
            <a:ln>
              <a:noFill/>
            </a:ln>
          </p:spPr>
          <p:txBody>
            <a:bodyPr/>
            <a:lstStyle/>
            <a:p>
              <a:endParaRPr lang="en-US"/>
            </a:p>
          </p:txBody>
        </p:sp>
        <p:sp>
          <p:nvSpPr>
            <p:cNvPr id="34" name="TextBox 34"/>
            <p:cNvSpPr txBox="1"/>
            <p:nvPr/>
          </p:nvSpPr>
          <p:spPr>
            <a:xfrm>
              <a:off x="896302" y="5465921"/>
              <a:ext cx="3325031" cy="289560"/>
            </a:xfrm>
            <a:prstGeom prst="rect">
              <a:avLst/>
            </a:prstGeom>
            <a:noFill/>
            <a:ln>
              <a:noFill/>
            </a:ln>
          </p:spPr>
          <p:txBody>
            <a:bodyPr wrap="none" lIns="0" tIns="0" rIns="0" bIns="0" anchor="t" anchorCtr="0">
              <a:spAutoFit/>
            </a:bodyPr>
            <a:lstStyle/>
            <a:p>
              <a:pPr algn="l"/>
              <a:r>
                <a:rPr lang="zh-CN" sz="1425" dirty="0">
                  <a:solidFill>
                    <a:srgbClr val="000000"/>
                  </a:solidFill>
                  <a:latin typeface="FS Magistral Bold"/>
                  <a:ea typeface="FS Magistral Bold"/>
                  <a:cs typeface="FS Magistral Bold"/>
                </a:rPr>
                <a:t>Tiêu chí quyết định tiếp tục H0</a:t>
              </a:r>
            </a:p>
          </p:txBody>
        </p:sp>
        <p:sp>
          <p:nvSpPr>
            <p:cNvPr id="35" name="TextBox 35"/>
            <p:cNvSpPr txBox="1"/>
            <p:nvPr/>
          </p:nvSpPr>
          <p:spPr>
            <a:xfrm>
              <a:off x="899160" y="5747385"/>
              <a:ext cx="7584186" cy="243840"/>
            </a:xfrm>
            <a:prstGeom prst="rect">
              <a:avLst/>
            </a:prstGeom>
            <a:noFill/>
            <a:ln>
              <a:noFill/>
            </a:ln>
          </p:spPr>
          <p:txBody>
            <a:bodyPr wrap="none" lIns="0" tIns="0" rIns="0" bIns="0" anchor="t" anchorCtr="0">
              <a:spAutoFit/>
            </a:bodyPr>
            <a:lstStyle/>
            <a:p>
              <a:pPr algn="l"/>
              <a:r>
                <a:rPr lang="zh-CN" sz="1200" dirty="0">
                  <a:solidFill>
                    <a:srgbClr val="44494D"/>
                  </a:solidFill>
                  <a:latin typeface="FS Magistral Book"/>
                  <a:ea typeface="FS Magistral Book"/>
                  <a:cs typeface="FS Magistral Book"/>
                </a:rPr>
                <a:t>Giá trị phát hiện hoặc kiểm soát bổ sung phải được chứng minh với chi phí chấp nhận được.</a:t>
              </a:r>
            </a:p>
          </p:txBody>
        </p:sp>
      </p:grpSp>
      <p:grpSp>
        <p:nvGrpSpPr>
          <p:cNvPr id="43" name="Group 43"/>
          <p:cNvGrpSpPr/>
          <p:nvPr/>
        </p:nvGrpSpPr>
        <p:grpSpPr>
          <a:xfrm>
            <a:off x="0" y="6419850"/>
            <a:ext cx="12192000" cy="438150"/>
            <a:chOff x="0" y="6419850"/>
            <a:chExt cx="12192000" cy="438150"/>
          </a:xfrm>
        </p:grpSpPr>
        <p:sp>
          <p:nvSpPr>
            <p:cNvPr id="37" name="Rectangle 37"/>
            <p:cNvSpPr/>
            <p:nvPr/>
          </p:nvSpPr>
          <p:spPr>
            <a:xfrm>
              <a:off x="0" y="6419850"/>
              <a:ext cx="12192000" cy="438150"/>
            </a:xfrm>
            <a:prstGeom prst="rect">
              <a:avLst/>
            </a:prstGeom>
            <a:solidFill>
              <a:srgbClr val="F2F2F2"/>
            </a:solidFill>
            <a:ln>
              <a:noFill/>
            </a:ln>
          </p:spPr>
          <p:txBody>
            <a:bodyPr/>
            <a:lstStyle/>
            <a:p>
              <a:endParaRPr lang="en-US"/>
            </a:p>
          </p:txBody>
        </p:sp>
        <p:sp>
          <p:nvSpPr>
            <p:cNvPr id="38" name="Rectangle 38"/>
            <p:cNvSpPr/>
            <p:nvPr/>
          </p:nvSpPr>
          <p:spPr>
            <a:xfrm>
              <a:off x="0" y="6419850"/>
              <a:ext cx="76200" cy="438150"/>
            </a:xfrm>
            <a:prstGeom prst="rect">
              <a:avLst/>
            </a:prstGeom>
            <a:solidFill>
              <a:srgbClr val="EE0033"/>
            </a:solidFill>
            <a:ln>
              <a:noFill/>
            </a:ln>
          </p:spPr>
          <p:txBody>
            <a:bodyPr/>
            <a:lstStyle/>
            <a:p>
              <a:endParaRPr lang="en-US"/>
            </a:p>
          </p:txBody>
        </p:sp>
        <p:sp>
          <p:nvSpPr>
            <p:cNvPr id="39" name="TextBox 39"/>
            <p:cNvSpPr txBox="1"/>
            <p:nvPr/>
          </p:nvSpPr>
          <p:spPr>
            <a:xfrm>
              <a:off x="597218" y="6590824"/>
              <a:ext cx="1334834" cy="198120"/>
            </a:xfrm>
            <a:prstGeom prst="rect">
              <a:avLst/>
            </a:prstGeom>
            <a:noFill/>
            <a:ln>
              <a:noFill/>
            </a:ln>
          </p:spPr>
          <p:txBody>
            <a:bodyPr wrap="none" lIns="0" tIns="0" rIns="0" bIns="0" anchor="t" anchorCtr="0">
              <a:spAutoFit/>
            </a:bodyPr>
            <a:lstStyle/>
            <a:p>
              <a:pPr algn="l"/>
              <a:r>
                <a:rPr lang="zh-CN" sz="975" dirty="0">
                  <a:solidFill>
                    <a:srgbClr val="44494D"/>
                  </a:solidFill>
                  <a:latin typeface="FS Magistral Medium"/>
                  <a:ea typeface="FS Magistral Medium"/>
                  <a:cs typeface="FS Magistral Medium"/>
                </a:rPr>
                <a:t>LỘ TRÌNH TRIỂN KHAI</a:t>
              </a:r>
            </a:p>
          </p:txBody>
        </p:sp>
        <p:sp>
          <p:nvSpPr>
            <p:cNvPr id="40" name="TextBox 40"/>
            <p:cNvSpPr txBox="1"/>
            <p:nvPr/>
          </p:nvSpPr>
          <p:spPr>
            <a:xfrm>
              <a:off x="4763548" y="6598920"/>
              <a:ext cx="2664904" cy="182880"/>
            </a:xfrm>
            <a:prstGeom prst="rect">
              <a:avLst/>
            </a:prstGeom>
            <a:noFill/>
            <a:ln>
              <a:noFill/>
            </a:ln>
          </p:spPr>
          <p:txBody>
            <a:bodyPr wrap="none" lIns="0" tIns="0" rIns="0" bIns="0" anchor="t" anchorCtr="0">
              <a:spAutoFit/>
            </a:bodyPr>
            <a:lstStyle/>
            <a:p>
              <a:pPr algn="ctr"/>
              <a:r>
                <a:rPr lang="zh-CN" sz="900" dirty="0">
                  <a:solidFill>
                    <a:srgbClr val="44494D"/>
                  </a:solidFill>
                  <a:latin typeface="FS Magistral Book"/>
                  <a:ea typeface="FS Magistral Book"/>
                  <a:cs typeface="FS Magistral Book"/>
                </a:rPr>
                <a:t>H0 chưa là điều kiện bắt buộc để nâng Ceph</a:t>
              </a:r>
            </a:p>
          </p:txBody>
        </p:sp>
        <p:sp>
          <p:nvSpPr>
            <p:cNvPr id="41" name="Rectangle 41"/>
            <p:cNvSpPr/>
            <p:nvPr/>
          </p:nvSpPr>
          <p:spPr>
            <a:xfrm>
              <a:off x="10896600" y="6515100"/>
              <a:ext cx="685800" cy="247650"/>
            </a:xfrm>
            <a:prstGeom prst="roundRect">
              <a:avLst>
                <a:gd name="adj" fmla="val 15385"/>
              </a:avLst>
            </a:prstGeom>
            <a:solidFill>
              <a:srgbClr val="EE0033"/>
            </a:solidFill>
            <a:ln>
              <a:noFill/>
            </a:ln>
          </p:spPr>
          <p:txBody>
            <a:bodyPr/>
            <a:lstStyle/>
            <a:p>
              <a:endParaRPr lang="en-US"/>
            </a:p>
          </p:txBody>
        </p:sp>
        <p:sp>
          <p:nvSpPr>
            <p:cNvPr id="42" name="TextBox 42"/>
            <p:cNvSpPr txBox="1"/>
            <p:nvPr/>
          </p:nvSpPr>
          <p:spPr>
            <a:xfrm>
              <a:off x="11045017" y="6582728"/>
              <a:ext cx="38896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FS Magistral Bold"/>
                  <a:ea typeface="FS Magistral Bold"/>
                  <a:cs typeface="FS Magistral Bold"/>
                </a:rPr>
                <a:t>13/13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edge">
                                      <p:cBhvr>
                                        <p:cTn id="11" dur="400"/>
                                        <p:tgtEl>
                                          <p:spTgt spid="31"/>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heel(4)">
                                      <p:cBhvr>
                                        <p:cTn id="15"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1" grpId="0"/>
      <p:bldP spid="3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FS Magistral Bold"/>
        <a:ea typeface="FS Magistral Bold"/>
        <a:cs typeface="FS Magistral Bold"/>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FS Magistral Bold"/>
        <a:font script="Uigh" typeface="Microsoft Uighur"/>
        <a:font script="Geor" typeface="Sylfaen"/>
      </a:majorFont>
      <a:minorFont>
        <a:latin typeface="FS Magistral Book"/>
        <a:ea typeface="FS Magistral Book"/>
        <a:cs typeface="FS Magistral Book"/>
        <a:font script="Jpan" typeface="ＭＳ Ｐゴシック"/>
        <a:font script="Hang" typeface="맑은 고딕"/>
        <a:font script="Hans" typeface="宋体"/>
        <a:font script="Hant" typeface="新細明體"/>
        <a:font script="Arab" typeface="FS Magistral Book"/>
        <a:font script="Hebr" typeface="FS Magistral Boo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FS Magistral Book"/>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7229</Words>
  <Application>Microsoft Office PowerPoint</Application>
  <PresentationFormat>Widescreen</PresentationFormat>
  <Paragraphs>349</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FS Magistral Book</vt:lpstr>
      <vt:lpstr>FS Magistral Medium</vt:lpstr>
      <vt:lpstr>FS Magistral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Tran Nguyen Hai Dang 20226020</cp:lastModifiedBy>
  <cp:revision>2</cp:revision>
  <dcterms:created xsi:type="dcterms:W3CDTF">2013-01-27T09:14:16Z</dcterms:created>
  <dcterms:modified xsi:type="dcterms:W3CDTF">2026-09-28T05:36:58Z</dcterms:modified>
  <cp:category/>
</cp:coreProperties>
</file>